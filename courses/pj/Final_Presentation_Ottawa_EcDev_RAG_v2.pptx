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8BDF8"/>
                </a:solidFill>
                <a:latin typeface="Segoe UI"/>
              </a:defRPr>
            </a:pPr>
            <a:r>
              <a:t>Ottawa EcDev RAG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GenAI-Based Internal Research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A RAG Platform for City of Ottawa Economic Development Quarterly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CST 8505 — AI Software Development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Final Project Presentation  |  April 7,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3657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Team &amp;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320040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Peng Wang (041107730)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Hye Ran Yoo (041145212)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Jiaxing Yi (041127158)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5029200" cy="13716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City of Ottawa — Economic Development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84632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Presentation 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1. Client Need &amp; Problem Statement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2. High-Level Architecture &amp; Tech Stack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3. Dataset: EcDev Quarterly Reports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4. RAG Pipeline Deep-Dive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5. Key Features Demo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 — Library Management &amp; Ingestion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 — RAG Chat with Citations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 — Question Generation &amp; Scoring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 — LLM-Based Evaluation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6. Evaluation Methods &amp; Results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7. Team Contributions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8. Future Work &amp;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Client Need &amp; 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City of Ottawa Economic Development Department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23C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EcDev staff produce quarterly reports (Q1 2022 – Q4 2024)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covering employment, GDP, building permits, and tourism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Analysts must manually search 12 PDF reports to find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specific economic indicators across multiple quarters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No automated way to compare trends across years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or extract insights from accumulated quarterly data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Standalone LLMs hallucinate economic statistics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without any source verification — unacceptable for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government decision-making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RAG system with hybrid BM25 + Vector retrieval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(RRF fusion) for accurate economic data search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Citation-aware answers with page-level references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so analysts can verify every data point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Payload CMS for report library management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— upload new quarterly report, auto-ingest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LLM-based question generation for internal auditing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5-dimensional evaluation framework ensures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response quality and factual grounding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Dual LLM: local Ollama + Azure OpenAI GPT-4o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Three-tier modular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200400" cy="41148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Next.js 15 SPA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Payload CMS Admin Panel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Report Library (CRUD)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RAG Chat with Citation Viewer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Question Generation UI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Evaluation Dashboard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LLM &amp; Prompt Settings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User Auth (JWT)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8BDF8"/>
                </a:solidFill>
                <a:latin typeface="Segoe UI"/>
              </a:defRPr>
            </a:pPr>
            <a:r>
              <a:t>REST</a:t>
            </a:r>
            <a:br/>
            <a:r>
              <a:t>GraphQL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41148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Engine Layer (FastAPI)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PDF Parsing (MinerU)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Chunk Builder + TOC Extractor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Ingestion Pipeline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HybridRetriever (BM25+Vector)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CitationSynthesizer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QuestionGenerator + Scorer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5-Dim Evaluator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LLM Resolver (Ollama/Azure)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Index</a:t>
            </a:r>
            <a:br/>
            <a:r>
              <a:t>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3291840" cy="41148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ChromaDB Vector Store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cosine similarity search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BM25 full-text index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PostgreSQL (Payload)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Books, Chapters, Chunks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Users, Sessions, Queries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Questions, Evaluations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Ollama / Azure 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Production-grade tooling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43891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Next.js 15 (App Router)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TypeScript + Tailwind CSS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Payload CMS 3.x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React PDF (@react-pdf/renderer)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43891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Python 3.12 + FastAPI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LlamaIndex (core framework)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MinerU (PDF parsing)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Loguru (structured logging)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651760" cy="43891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AI /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Ollama (local LLM)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Azure OpenAI (GPT-4o-mini)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HuggingFace (all-MiniLM-L6-v2)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ChromaDB (vector store)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651760" cy="43891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PostgreSQL 15+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Docker Compose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uv (Python package mgr)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CORS + JWT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Dataset: Ottawa EcDev Quarterly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City of Ottawa Economic Development Updates (2022-2024)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Economic Development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12 quarterly PDF reports (Q1 2022 – Q4 2024)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Total: ~7.4 MB across all reports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Report content covers: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Ottawa employment trends &amp; labour market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GDP growth and economic indicators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Building permits &amp; construction activity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Tourism statistics &amp; visitor spending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Business investment &amp; development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Quarterly comparisons &amp; year-over-year trends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Source: City of Ottawa open data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25603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MinerU parsed all 12 PDFs into structured Markdown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Sentence-level chunking (512-token, 64 overlap)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HuggingFace embeddings (all-MiniLM-L6-v2, 384-dim)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Text chunks with quarterly/page-level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5303520" cy="16459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754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Rich Metadata Per 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2120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book_id, report_title, quarter, year, page_idx, category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Enables quarter-scoped and topic-scoped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Parse  -&gt;  Ingest  -&gt;  Retrieve  -&gt;  Synthesise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743200" cy="43891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1. Parse (MinerU)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PDF -&gt; structured Markdown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Table/figure extraction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Page boundary detection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TOC extraction via regex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Chapter hierarchy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743200" cy="43891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2.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Sentence-level chunking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(512-token window, 64 overlap)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Rich metadata injection: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report_id, quarter, year,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page_idx, category, heading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HuggingFace embedding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(all-MiniLM-L6-v2, 384-dim)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ChromaDB upsert w/ dedup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2743200" cy="43891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3. Retrieve (Hybrid)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BM25 lexical retrieval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(rank_bm25 over docstore)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Vector cosine similarity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(ChromaDB HNSW index)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RRF fusion (k=60)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QueryFusionRetriever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MetadataFilter for report scope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Top-K result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923C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645920"/>
            <a:ext cx="2560320" cy="43891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4. Synthesize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CitationSynthesizer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(extends TreeSummarize)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Source attribution per claim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Page-level citation linking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Structured RAGResponse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answer + sources[]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+ trace 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Feature: Library Management &amp; Auto-Ingestion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Upload PDF -&gt; Auto parse -&gt; Auto vectorize -&gt; Ready to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Payload CMS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14 Payload Collections defined: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Books, Chapters, Chunks, IngestTasks,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ChatSessions, ChatMessages, Queries,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Questions, Evaluations, Llms, Prompts,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PdfUploads, Media, Users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Auto-generated REST + GraphQL API for all collections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Admin Panel: full CRUD for content management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Role-based access: admin / editor / reader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Ingestion Pipeline (afterChange hook):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1. Upload new quarterly report to Library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2. IngestTask auto-created (status: queued)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3. Engine picks up -&gt; MinerU parse -&gt; chunk -&gt; embed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4. Progress tracked: 0-100%, status updates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5. Report status: pending -&gt; processing -&gt; indexed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Ingestion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PDF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Admin uploads EcDev report via CMS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MinerU extracts text +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512-token windows with 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all-MiniLM-L6-v2 (384 dim)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7272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ChromaDB upsert with 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Feature: RAG Chat with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Query -&gt; Retrieve -&gt; Generate -&gt; Cite -&gt; Verify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Chat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Natural language question input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e.g. "What was Ottawa's GDP growth in Q3 2023?"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Report-scoped queries (filter by quarter/year)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Session-based chat history (stored in PostgreSQL)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CitationSynthesizer generates answer with inline citations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Each citation links to: report title, quarter, page number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Source Panel shows retrieved chunks with: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Relevance score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Original text excerpt from the quarterly report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Page reference for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Query Engine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User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"Ottawa employment trend Q1-Q4 2023"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HybridRetriever: BM25 + Vector -&gt; RRF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Rerank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Top-K selection (default K=5)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Synthesize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CitationSynthesizer with source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Answer + [1][2][3] inline citations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Segoe UI"/>
              </a:defRPr>
            </a:pPr>
            <a: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669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Full pipeline metadata for 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Feature: Question Generation &amp;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LLM-based question creation with auto-evaluation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Question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QuestionGenerator class (engine_v2/question_gen/)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Input filtering: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By report(s), quarter, page range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Multi-report support with $or filter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Section-level granularity via page_start/page_end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Process: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1. Sample random chunks from ChromaDB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2. Build context from sampled chunks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3. LLM generates N questions in JSON format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4. Parse structured response (question, difficulty, type)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Question types: factual / conceptual / analytical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Difficulty levels: easy / medium / hard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Auto-Scoring (LLM-as-Judge)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Each generated question is auto-scored on 3 dimensions: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Relevance (1-5): Answerable from source context?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Clarity (1-5): Clear and unambiguous?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Difficulty (1-5): Appropriate complexity?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Overall = avg(relevance, clarity)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5303520" cy="164592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Cognitive Depth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120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QuestionDepthEvaluator (extends CorrectnessEvaluator)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Levels: Surface (&lt;2.5) | Understanding (2.5-4) | Synthesis (&gt;=4)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Feature: 5-Dimensional RAG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Comprehensive response quality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148840" cy="27432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Faithfulness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Is the answer grounded</a:t>
            </a:r>
            <a:br/>
            <a:r>
              <a:t>in the retrieved context?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74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FaithfulnessEvaluator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45920"/>
            <a:ext cx="2148840" cy="27432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Relevancy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Is the retrieved context</a:t>
            </a:r>
            <a:br/>
            <a:r>
              <a:t>relevant to the query?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3474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RelevancyEvaluator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148840" cy="27432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Correctness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Does the answer match</a:t>
            </a:r>
            <a:br/>
            <a:r>
              <a:t>the reference answer?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474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CorrectnessEvaluator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645920"/>
            <a:ext cx="2148840" cy="27432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Context</a:t>
            </a:r>
            <a:br/>
            <a:r>
              <a:t>Relevancy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Quality score of</a:t>
            </a:r>
            <a:br/>
            <a:r>
              <a:t>the retrieved contexts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474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ContextRelevancyEvaluator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645920"/>
            <a:ext cx="2148840" cy="27432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F4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7272"/>
                </a:solidFill>
                <a:latin typeface="Segoe UI"/>
              </a:defRPr>
            </a:pPr>
            <a:r>
              <a:t>Answer</a:t>
            </a:r>
            <a:br/>
            <a:r>
              <a:t>Relevancy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How well does the</a:t>
            </a:r>
            <a:br/>
            <a:r>
              <a:t>answer address the query?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474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AnswerRelevancyEvaluator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Additional Evaluation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BatchEvalRunner for dataset-level evaluation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Semantic dedup (cosine similarity &gt;= 0.85 threshold)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All evaluators from llama_index.core.evaluation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Evaluation history stored in PostgreSQL via Payload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Evaluation Methods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Measuring RAG pipeline quality on EcDev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Evaluation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Method 1: Automated LLM-as-Judge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5-dimensional scoring per response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BatchEvalRunner for batch assessment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No manual labeling required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Method 2: Question Depth Analysis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Cognitive depth scoring (1-5 scale)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Bloom's taxonomy alignment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Surface / Understanding / Synthesis labels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Method 3: Question Quality Scoring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Relevance: source grounding check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Clarity: ambiguity detection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Difficulty: appropriateness rating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Retrieval Performance: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Hybrid (BM25+Vector) outperforms single-strategy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RRF fusion reduces noise from individual retrievers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Report-scoped queries improve precision significantly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Response Quality (sample of 50 queries):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Avg. Faithfulness: ~4.0/5.0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Avg. Relevancy: ~4.2/5.0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Citation accuracy: real page references verified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Question Generation Quality: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Avg. Relevance score: ~4.1/5.0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Avg. Clarity score: ~4.3/5.0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~70% questions at 'understanding' depth or above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System walkthrough with Ottawa EcDev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6858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Report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Browse, filter, and manage EcDev quarterly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10332720" cy="6858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PDF Upload &amp;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06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Upload new quarterly report — auto-parse, chunk, vectorize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40"/>
            <a:ext cx="10332720" cy="6858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83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RAG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29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Ask about Ottawa economic indicators, get cited answers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10332720" cy="6858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23C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Question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Generate review questions from selected report/quarter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937760"/>
            <a:ext cx="10332720" cy="6858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F4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72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074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Run 5-dimensional evaluation on responses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760720"/>
            <a:ext cx="10332720" cy="6858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852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897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Payload CMS: user management, content CRUD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Challenges &amp; Lessons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PDF parsing quality varies across report formats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Tables and charts in EcDev reports lose fidelity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MinerU handles most, but not all layouts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BM25 retriever crashes on empty corpus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Implemented fallback to vector-only mode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LLM evaluation consistency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LLM-as-Judge scores vary between runs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Mitigation: structured prompts + batch averaging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SQLite -&gt; PostgreSQL migration complexity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Schema differences in FTS5 vs pg_trgm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Lessons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LlamaIndex abstractions greatly simplify RAG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Retriever / Synthesizer / Evaluator pattern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Plug-and-play component swapping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Payload CMS eliminates boilerplate API code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Auto REST/GraphQL saves weeks of development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Admin Panel provides instant content management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Hybrid retrieval (BM25 + Vector) is significantly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better than pure semantic search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Metadata filtering critical for multi-report accuracy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— Without it, cross-report contamination degrades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Team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Peng Wang (041107730)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Engine v2 architecture &amp; implementation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RAG pipeline (retriever, synthesizer, query engine)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LLM resolver (Ollama + Azure OpenAI dual-mode)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Frontend (Next.js + Tailwind CSS)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Chat UI with citation viewer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Library management page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API design (FastAPI routes)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Hye Ran Yoo (041145212)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Payload CMS setup &amp; collections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Data migration (SQLite -&gt; PostgreSQL)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Ingestion task management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Question Generation + Auto-Scoring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5-Dimensional Evaluation framework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Data ingestion pipeline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Testing &amp; 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Jiaxing Yi (041127158)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Question generation UI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Evaluation dashboard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Documentation &amp; PRD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Presentation preparation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Demo scripting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User testing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Roadmap toward Ottawa GenAI Research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Short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Docker Compose deployment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for one-click full-stack startup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Streaming response generation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for better UX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Batch ingestion (directory scan)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auto-detect new quarterly reports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Enhanced PDF viewer integration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with bbox citation highlighting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47472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Medium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Azure AI Search as 6th strategy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+ Azure Blob Storage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Migration to Ottawa GenAI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Research Assistant (RAG-Project)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Entra ID authentication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for City of Ottawa deployment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Statistics Canada API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1622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Long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Multi-modal retrieval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(charts, infographics, maps)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Conversational memory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with context carryover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Fine-tuned embedding model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on government economic data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Cross-department expansion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  (Planning, Transit, Tourism)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Questions &amp;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931920"/>
            <a:ext cx="3017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Ottawa EcDev RAG v2.0  |  CST 8505  |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Client: City of Ottawa Economic Development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github.com/Teegee0/textbook-rag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
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410" r:id="rId4"/>
    <p:sldId id="484" r:id="rId5"/>
    <p:sldId id="509" r:id="rId6"/>
    <p:sldId id="449" r:id="rId7"/>
    <p:sldId id="485" r:id="rId8"/>
    <p:sldId id="486" r:id="rId9"/>
    <p:sldId id="487" r:id="rId10"/>
    <p:sldId id="488" r:id="rId11"/>
    <p:sldId id="489" r:id="rId12"/>
    <p:sldId id="490" r:id="rId13"/>
    <p:sldId id="491" r:id="rId14"/>
    <p:sldId id="492" r:id="rId15"/>
    <p:sldId id="493" r:id="rId16"/>
    <p:sldId id="494" r:id="rId17"/>
    <p:sldId id="495" r:id="rId18"/>
    <p:sldId id="508" r:id="rId19"/>
    <p:sldId id="496" r:id="rId20"/>
    <p:sldId id="497" r:id="rId21"/>
    <p:sldId id="498" r:id="rId22"/>
    <p:sldId id="499" r:id="rId23"/>
    <p:sldId id="500" r:id="rId24"/>
    <p:sldId id="501" r:id="rId25"/>
    <p:sldId id="502" r:id="rId26"/>
    <p:sldId id="503" r:id="rId27"/>
    <p:sldId id="504" r:id="rId28"/>
    <p:sldId id="505" r:id="rId29"/>
    <p:sldId id="506" r:id="rId30"/>
    <p:sldId id="507" r:id="rId31"/>
    <p:sldId id="411" r:id="rId32"/>
    <p:sldId id="42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A8547-3426-D4AF-1A1C-1876D2A934C5}" v="48" dt="2024-03-05T02:47:29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6D980-C24D-455D-9E0D-385E07B57D0E}" type="datetimeFigureOut">
              <a:t>3/4/2024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CCD5C-1C73-4C6C-A664-7278282E3C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5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Containers:</a:t>
            </a:r>
            <a:endParaRPr lang="en-US" dirty="0"/>
          </a:p>
          <a:p>
            <a:r>
              <a:rPr lang="en-US" b="1" dirty="0"/>
              <a:t>Basic Concept</a:t>
            </a:r>
            <a:r>
              <a:rPr lang="en-US" dirty="0"/>
              <a:t>: A container is a standard unit of software that packages up code and all its dependencies so the application runs quickly and reliably from one computing environment to another. It's a lightweight, standalone, executable package that includes everything needed to run a piece of software, including the code, runtime, system tools, system libraries, and settings.</a:t>
            </a:r>
            <a:endParaRPr lang="en-US" dirty="0">
              <a:cs typeface="Calibri"/>
            </a:endParaRPr>
          </a:p>
          <a:p>
            <a:r>
              <a:rPr lang="en-US" b="1" dirty="0"/>
              <a:t>Isolation</a:t>
            </a:r>
            <a:r>
              <a:rPr lang="en-US" dirty="0"/>
              <a:t>: Containers virtualize the operating system, meaning each container can have its own set of processes, filesystem, and network interfaces, but they share the same kernel of the host operating system.</a:t>
            </a:r>
            <a:endParaRPr lang="en-US" dirty="0">
              <a:cs typeface="Calibri"/>
            </a:endParaRPr>
          </a:p>
          <a:p>
            <a:r>
              <a:rPr lang="en-US" b="1" dirty="0"/>
              <a:t>Portability</a:t>
            </a:r>
            <a:r>
              <a:rPr lang="en-US" dirty="0"/>
              <a:t>: Because they contain everything needed to run an application, containers are highly portable. They can run on any system that supports containerization technology like Docker, regardless of the underlying infrastructure.</a:t>
            </a:r>
            <a:endParaRPr lang="en-US" dirty="0">
              <a:cs typeface="Calibri"/>
            </a:endParaRPr>
          </a:p>
          <a:p>
            <a:r>
              <a:rPr lang="en-US" b="1" dirty="0"/>
              <a:t>Use Case</a:t>
            </a:r>
            <a:r>
              <a:rPr lang="en-US" dirty="0"/>
              <a:t>: Containers are used to run individual applications or services in a modular way. This is ideal for microservices architectures, where each component of the application runs in its own container</a:t>
            </a: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CCD5C-1C73-4C6C-A664-7278282E3C8D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87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ontiersin.org/articles/10.3389/fncom.2020.00016/ful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ggingface/transformers.git" TargetMode="External"/><Relationship Id="rId2" Type="http://schemas.openxmlformats.org/officeDocument/2006/relationships/hyperlink" Target="https://github.com/NVIDIA/apex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/>
              <a:t>Artificial intelligence software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CST8510 Week 9 </a:t>
            </a:r>
          </a:p>
          <a:p>
            <a:r>
              <a:rPr lang="en-US" sz="2400" dirty="0"/>
              <a:t>Dr. Hari M </a:t>
            </a:r>
            <a:r>
              <a:rPr lang="en-US" sz="2400" dirty="0" err="1"/>
              <a:t>Koduvely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01082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3B91B61-BFCA-4647-957E-A8269BE46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F868D-D823-82CA-14A8-D7CBF5E3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en-US"/>
              <a:t>Agenda for Today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84E1B-0B90-F0B9-A03C-0461721328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931" r="31439" b="6250"/>
          <a:stretch/>
        </p:blipFill>
        <p:spPr>
          <a:xfrm>
            <a:off x="-1" y="10"/>
            <a:ext cx="437354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2D1D7C6-1C89-420C-8D35-483654167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1E6F5-6EDB-2436-6AF3-01FAC6F0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24" y="2286000"/>
            <a:ext cx="6176776" cy="35814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/>
              <a:t>Theory: 6:00PM – 8:00PM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/>
              <a:t>Right infrastructure for ML Systems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/>
              <a:t>Four layers of infrastructure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/>
              <a:t>ML Resource Management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/>
              <a:t>ML Platform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endParaRPr lang="en-US" sz="2400" i="0" dirty="0"/>
          </a:p>
          <a:p>
            <a:pPr marL="530860" lvl="1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/>
              <a:t>Lab: 8:00PM – 10:00PM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/>
              <a:t>Standup Meetings 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endParaRPr lang="en-US" sz="1900" i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690ED-D516-05B0-C906-2618EA51C31D}"/>
              </a:ext>
            </a:extLst>
          </p:cNvPr>
          <p:cNvSpPr txBox="1"/>
          <p:nvPr/>
        </p:nvSpPr>
        <p:spPr>
          <a:xfrm>
            <a:off x="1917624" y="6659608"/>
            <a:ext cx="2262158" cy="200055"/>
          </a:xfrm>
          <a:prstGeom prst="rect">
            <a:avLst/>
          </a:prstGeom>
          <a:solidFill>
            <a:srgbClr val="000000"/>
          </a:solidFill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r>
              <a:rPr lang="en-US" sz="700">
                <a:solidFill>
                  <a:srgbClr val="FFFFF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347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Infrastructure and Tooling for </a:t>
            </a:r>
            <a:r>
              <a:rPr lang="en-US" dirty="0" err="1"/>
              <a:t>MLOps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5108"/>
            <a:ext cx="8602133" cy="3833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Infrastructure requirement of different companies.</a:t>
            </a:r>
          </a:p>
          <a:p>
            <a:pPr marL="383540" indent="-383540"/>
            <a:endParaRPr lang="en-US" sz="2400" i="0" dirty="0"/>
          </a:p>
        </p:txBody>
      </p:sp>
      <p:pic>
        <p:nvPicPr>
          <p:cNvPr id="3" name="Picture 3" descr="Graphical user interface, diagram, text&#10;&#10;Description automatically generated">
            <a:extLst>
              <a:ext uri="{FF2B5EF4-FFF2-40B4-BE49-F238E27FC236}">
                <a16:creationId xmlns:a16="http://schemas.microsoft.com/office/drawing/2014/main" id="{CF2C9782-998B-5B79-041D-0678FAC3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509" y="2622795"/>
            <a:ext cx="6181645" cy="336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7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Four Layers of Infrastructure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5108"/>
            <a:ext cx="8602133" cy="3833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530860" lvl="1" indent="0">
              <a:buNone/>
            </a:pPr>
            <a:endParaRPr lang="en-US" sz="2400" i="0" dirty="0"/>
          </a:p>
          <a:p>
            <a:pPr marL="383540" indent="-383540"/>
            <a:endParaRPr lang="en-US" sz="2400" i="0" dirty="0"/>
          </a:p>
        </p:txBody>
      </p:sp>
      <p:pic>
        <p:nvPicPr>
          <p:cNvPr id="6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33923A34-87FF-42EF-AC82-9325EFFB3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107" y="1707987"/>
            <a:ext cx="7621520" cy="423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8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Four Layers of Infrastructure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5108"/>
            <a:ext cx="8602133" cy="3833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530860" lvl="1" indent="0">
              <a:buNone/>
            </a:pPr>
            <a:endParaRPr lang="en-US" sz="2400" i="0" dirty="0"/>
          </a:p>
          <a:p>
            <a:pPr marL="383540" indent="-383540"/>
            <a:endParaRPr lang="en-US" sz="2400" i="0" dirty="0"/>
          </a:p>
        </p:txBody>
      </p:sp>
      <p:sp>
        <p:nvSpPr>
          <p:cNvPr id="5" name="Content Placeholder 42">
            <a:extLst>
              <a:ext uri="{FF2B5EF4-FFF2-40B4-BE49-F238E27FC236}">
                <a16:creationId xmlns:a16="http://schemas.microsoft.com/office/drawing/2014/main" id="{CCB15924-CA76-D2A9-0F41-9A0228148EF2}"/>
              </a:ext>
            </a:extLst>
          </p:cNvPr>
          <p:cNvSpPr txBox="1">
            <a:spLocks/>
          </p:cNvSpPr>
          <p:nvPr/>
        </p:nvSpPr>
        <p:spPr>
          <a:xfrm>
            <a:off x="1524000" y="1178896"/>
            <a:ext cx="9194099" cy="45013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600" i="0" dirty="0"/>
              <a:t>Storage and Compute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600" dirty="0"/>
              <a:t>Layer where data is collected and stored</a:t>
            </a:r>
            <a:endParaRPr lang="en-US" sz="26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600" dirty="0"/>
              <a:t>ML workloads are run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600" i="0" dirty="0"/>
              <a:t>Resource Management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600" dirty="0"/>
              <a:t>Schedule and orchestrate ML workloads</a:t>
            </a:r>
            <a:endParaRPr lang="en-US" sz="26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600" dirty="0"/>
              <a:t>Airflow, Kubeflow etc.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600" i="0" dirty="0"/>
              <a:t>ML Platform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600" dirty="0"/>
              <a:t>Model stores, feature stores and monitoring tools</a:t>
            </a:r>
            <a:endParaRPr lang="en-US" sz="26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600" dirty="0"/>
              <a:t>SageMaker, </a:t>
            </a:r>
            <a:r>
              <a:rPr lang="en-US" sz="2600" dirty="0" err="1"/>
              <a:t>MLFlow</a:t>
            </a:r>
            <a:endParaRPr lang="en-US" sz="26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600" i="0" dirty="0"/>
              <a:t>Development Environment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600" dirty="0"/>
              <a:t>Layer where code is written and experiments are run</a:t>
            </a:r>
            <a:endParaRPr lang="en-US" sz="2600" i="0" dirty="0"/>
          </a:p>
          <a:p>
            <a:pPr marL="383540" indent="-383540"/>
            <a:endParaRPr lang="en-US" sz="2400" dirty="0"/>
          </a:p>
        </p:txBody>
      </p:sp>
      <p:pic>
        <p:nvPicPr>
          <p:cNvPr id="6" name="Picture 6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33923A34-87FF-42EF-AC82-9325EFFB3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164" y="1420440"/>
            <a:ext cx="3552728" cy="199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43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Storage and Compute Layer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345240" cy="3833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Storage layer is where data is stored and collected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At the basic level storage can be on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Hard Drive Disk (HDD)</a:t>
            </a: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Solid State Drive (SSD)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Storage layer is completely commoditized and moved to cloud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4489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Storage and Compute Layer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345240" cy="3833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Compute layer refers to all the compute resources available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Amount of compute resources available determines the scalability of ML workloads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The compute layer can usually be sliced into smaller compute units to be used concurrently</a:t>
            </a:r>
            <a:endParaRPr lang="en-US" sz="2400" i="0">
              <a:ea typeface="+mn-lt"/>
              <a:cs typeface="+mn-lt"/>
            </a:endParaRP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Threads</a:t>
            </a: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Containers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Pods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825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Storage and Compute Layer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Compute units are characterized by two metrics.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How much memory it has (GB units)</a:t>
            </a: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How fast it runs an operation (FLOPS)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Amount of compute resources available determines the scalability of ML workloads.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Compute Utilization – Ratio of the number of FLOPS a job can run to the number of FLOPs a compute unit is capable of handling.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Practically one can only achieve utilization ~ 50%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6797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sz="3700"/>
              <a:t>Storage and Compute Layer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4699636" cy="412298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80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800" i="0" dirty="0">
                <a:ea typeface="+mn-lt"/>
                <a:cs typeface="+mn-lt"/>
              </a:rPr>
              <a:t>Cloud spending accounts for approximately 50% cost of revenue of public software companies (analysis by a16z capital venture)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800" i="0" dirty="0"/>
              <a:t>Some companies are doing "cloud repatriation"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800" i="0"/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800" i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40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400"/>
          </a:p>
          <a:p>
            <a:pPr marL="383540" indent="-383540"/>
            <a:endParaRPr lang="en-US" sz="2800"/>
          </a:p>
        </p:txBody>
      </p:sp>
      <p:pic>
        <p:nvPicPr>
          <p:cNvPr id="3" name="Picture 3" descr="A picture containing chart&#10;&#10;Description automatically generated">
            <a:extLst>
              <a:ext uri="{FF2B5EF4-FFF2-40B4-BE49-F238E27FC236}">
                <a16:creationId xmlns:a16="http://schemas.microsoft.com/office/drawing/2014/main" id="{D2D14816-4443-FBAF-31E7-73925696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343" y="1934368"/>
            <a:ext cx="5440189" cy="333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37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Development Environment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Environment is where: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Code is written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Experiments are conducted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Interaction with production environment happens</a:t>
            </a: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Dev environment consists of the following components: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200" dirty="0"/>
              <a:t>IDE (</a:t>
            </a:r>
            <a:r>
              <a:rPr lang="en-US" sz="2200" dirty="0" err="1"/>
              <a:t>Jupyter</a:t>
            </a:r>
            <a:r>
              <a:rPr lang="en-US" sz="2200" dirty="0"/>
              <a:t> Notebook, VS Code, </a:t>
            </a:r>
            <a:r>
              <a:rPr lang="en-US" sz="2200" dirty="0" err="1"/>
              <a:t>Pycharm</a:t>
            </a:r>
            <a:r>
              <a:rPr lang="en-US" sz="2200" dirty="0"/>
              <a:t> etc.)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200"/>
              <a:t>Versioning software (Git, DVC, Weights and Biases etc.)</a:t>
            </a:r>
            <a:endParaRPr lang="en-US" sz="2200" i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200" dirty="0"/>
              <a:t>CI/CD (Jenkins etc.)</a:t>
            </a:r>
            <a:endParaRPr lang="en-US" sz="2200" i="0" dirty="0"/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0388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Notebooks 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Notebooks are more than just IDEs, one can include: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Images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Documentation in LaTeX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Other artifacts like tables</a:t>
            </a: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600" i="0" dirty="0"/>
              <a:t>Notebooks are Stateful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Retains state after run is completed</a:t>
            </a: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If program fails, one can restart from where it failed</a:t>
            </a: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dirty="0"/>
              <a:t>Ideal for doing experiments with large datasets</a:t>
            </a: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Order of execution of the cells is important to keep track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i="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5389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Notebooks 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Companies like Netflix used Notebooks in the production env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600" i="0" dirty="0"/>
              <a:t>Other tools are developed to run on top of Notebooks</a:t>
            </a:r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b="1" dirty="0"/>
              <a:t>Papermill</a:t>
            </a:r>
            <a:r>
              <a:rPr lang="en-US" sz="2400" dirty="0"/>
              <a:t> - </a:t>
            </a:r>
            <a:r>
              <a:rPr lang="en-US" sz="2400" dirty="0">
                <a:ea typeface="+mn-lt"/>
                <a:cs typeface="+mn-lt"/>
              </a:rPr>
              <a:t>for spawning multiple notebooks with different parameter sets</a:t>
            </a: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200" b="1" dirty="0"/>
              <a:t>Commuter</a:t>
            </a:r>
            <a:r>
              <a:rPr lang="en-US" sz="2200" dirty="0"/>
              <a:t> - </a:t>
            </a:r>
            <a:r>
              <a:rPr lang="en-US" sz="2200" dirty="0">
                <a:ea typeface="+mn-lt"/>
                <a:cs typeface="+mn-lt"/>
              </a:rPr>
              <a:t>A notebook hub for viewing, finding, and sharing notebooks within an organization.</a:t>
            </a:r>
            <a:endParaRPr lang="en-US" sz="2200" i="0" dirty="0"/>
          </a:p>
          <a:p>
            <a:pPr lvl="2" indent="-383540">
              <a:buFont typeface="Wingdings" panose="020B0503020102020204" pitchFamily="34" charset="0"/>
              <a:buChar char="§"/>
            </a:pPr>
            <a:r>
              <a:rPr lang="en-US" sz="2400" b="1" dirty="0" err="1"/>
              <a:t>nbdev</a:t>
            </a:r>
            <a:r>
              <a:rPr lang="en-US" sz="2400" dirty="0"/>
              <a:t> - </a:t>
            </a:r>
            <a:r>
              <a:rPr lang="en-US" sz="2400" dirty="0">
                <a:ea typeface="+mn-lt"/>
                <a:cs typeface="+mn-lt"/>
              </a:rPr>
              <a:t>a library to write documentation and tests in the same place</a:t>
            </a:r>
            <a:endParaRPr lang="en-US" sz="2400" i="0" dirty="0">
              <a:ea typeface="+mn-lt"/>
              <a:cs typeface="+mn-lt"/>
            </a:endParaRPr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i="0" dirty="0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i="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5088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Containers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10541156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Production workloads spread out on multiple instances.</a:t>
            </a:r>
            <a:br>
              <a:rPr lang="en-US" sz="2400" dirty="0"/>
            </a:br>
            <a:endParaRPr lang="en-US" sz="2400" i="0" dirty="0">
              <a:ea typeface="+mn-lt"/>
              <a:cs typeface="+mn-lt"/>
            </a:endParaRP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Number of instances dynamically changes upon demand for predictions.</a:t>
            </a:r>
            <a:br>
              <a:rPr lang="en-US" sz="2400" dirty="0"/>
            </a:br>
            <a:endParaRPr lang="en-US" sz="2400" i="0" dirty="0">
              <a:ea typeface="+mn-lt"/>
              <a:cs typeface="+mn-lt"/>
            </a:endParaRP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When a new instance is created, one needs to install dependencies using a list of predefined instructions.</a:t>
            </a:r>
            <a:br>
              <a:rPr lang="en-US" sz="2400" dirty="0"/>
            </a:b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Container technology is used for this purpose</a:t>
            </a:r>
          </a:p>
          <a:p>
            <a:pPr marL="383540" indent="-383540"/>
            <a:endParaRPr 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1891881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Docker Containers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A lightweight, stand-alone, and executable software package.</a:t>
            </a:r>
            <a:endParaRPr lang="en-US" sz="2400" dirty="0">
              <a:ea typeface="+mn-lt"/>
              <a:cs typeface="+mn-lt"/>
            </a:endParaRP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Includes everything needed to run a piece of software (code, runtime, system tools, libraries, and settings)</a:t>
            </a: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Containers isolate software from its environment, ensuring that it works consistently across different systems.</a:t>
            </a: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Docker containers are built from images. 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These are templates containing the application's code, runtime, and other dependencies.</a:t>
            </a:r>
            <a:endParaRPr lang="en-US" sz="2400" i="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8653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Benefits of Docker Containers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b="1" dirty="0">
                <a:ea typeface="+mn-lt"/>
                <a:cs typeface="+mn-lt"/>
              </a:rPr>
              <a:t>Portability:</a:t>
            </a:r>
            <a:r>
              <a:rPr lang="en-US" sz="2400" dirty="0">
                <a:ea typeface="+mn-lt"/>
                <a:cs typeface="+mn-lt"/>
              </a:rPr>
              <a:t> Containers can run on any system with Docker installed, regardless of the underlying infrastructure.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b="1" dirty="0">
                <a:ea typeface="+mn-lt"/>
                <a:cs typeface="+mn-lt"/>
              </a:rPr>
              <a:t>Consistency:</a:t>
            </a:r>
            <a:r>
              <a:rPr lang="en-US" sz="2400" dirty="0">
                <a:ea typeface="+mn-lt"/>
                <a:cs typeface="+mn-lt"/>
              </a:rPr>
              <a:t> Containers ensure that applications behave the same way in development, testing, and production environments.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b="1" dirty="0">
                <a:ea typeface="+mn-lt"/>
                <a:cs typeface="+mn-lt"/>
              </a:rPr>
              <a:t>Isolation:</a:t>
            </a:r>
            <a:r>
              <a:rPr lang="en-US" sz="2400" dirty="0">
                <a:ea typeface="+mn-lt"/>
                <a:cs typeface="+mn-lt"/>
              </a:rPr>
              <a:t> Containers run in their own environment, minimizing conflicts with other applications or system components.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b="1" dirty="0">
                <a:ea typeface="+mn-lt"/>
                <a:cs typeface="+mn-lt"/>
              </a:rPr>
              <a:t>Scalability:</a:t>
            </a:r>
            <a:r>
              <a:rPr lang="en-US" sz="2400" dirty="0">
                <a:ea typeface="+mn-lt"/>
                <a:cs typeface="+mn-lt"/>
              </a:rPr>
              <a:t> Containers can be easily scaled up or down, making it simpler to manage application loads and resources.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b="1" dirty="0">
                <a:ea typeface="+mn-lt"/>
                <a:cs typeface="+mn-lt"/>
              </a:rPr>
              <a:t>Version control and sharing:</a:t>
            </a:r>
            <a:r>
              <a:rPr lang="en-US" sz="2400" dirty="0">
                <a:ea typeface="+mn-lt"/>
                <a:cs typeface="+mn-lt"/>
              </a:rPr>
              <a:t> Docker images can be versioned and shared through repositories like Docker Hub, enabling collaboration and easy updates.</a:t>
            </a:r>
            <a:endParaRPr lang="en-US" dirty="0"/>
          </a:p>
          <a:p>
            <a:pPr marL="383540" indent="-383540"/>
            <a:endParaRPr 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766688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Example of a Docker Container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Download the latest </a:t>
            </a:r>
            <a:r>
              <a:rPr lang="en-US" sz="2400" dirty="0" err="1">
                <a:ea typeface="+mn-lt"/>
                <a:cs typeface="+mn-lt"/>
              </a:rPr>
              <a:t>PyTorch</a:t>
            </a:r>
            <a:r>
              <a:rPr lang="en-US" sz="2400" dirty="0">
                <a:ea typeface="+mn-lt"/>
                <a:cs typeface="+mn-lt"/>
              </a:rPr>
              <a:t> base image.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Clone NVIDIA’s apex repository on GitHub, navigate to the newly created </a:t>
            </a:r>
            <a:r>
              <a:rPr lang="en-US" sz="2400" i="1" dirty="0">
                <a:ea typeface="+mn-lt"/>
                <a:cs typeface="+mn-lt"/>
              </a:rPr>
              <a:t>apex</a:t>
            </a:r>
            <a:r>
              <a:rPr lang="en-US" sz="2400" dirty="0">
                <a:ea typeface="+mn-lt"/>
                <a:cs typeface="+mn-lt"/>
              </a:rPr>
              <a:t> folder, and install apex.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Set </a:t>
            </a:r>
            <a:r>
              <a:rPr lang="en-US" sz="2400" i="1" dirty="0">
                <a:ea typeface="+mn-lt"/>
                <a:cs typeface="+mn-lt"/>
              </a:rPr>
              <a:t>fancy-</a:t>
            </a:r>
            <a:r>
              <a:rPr lang="en-US" sz="2400" i="1" dirty="0" err="1">
                <a:ea typeface="+mn-lt"/>
                <a:cs typeface="+mn-lt"/>
              </a:rPr>
              <a:t>nlp</a:t>
            </a:r>
            <a:r>
              <a:rPr lang="en-US" sz="2400" i="1" dirty="0">
                <a:ea typeface="+mn-lt"/>
                <a:cs typeface="+mn-lt"/>
              </a:rPr>
              <a:t>-project</a:t>
            </a:r>
            <a:r>
              <a:rPr lang="en-US" sz="2400" dirty="0">
                <a:ea typeface="+mn-lt"/>
                <a:cs typeface="+mn-lt"/>
              </a:rPr>
              <a:t> to be the working directory.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Clone Hugging Face’s transformers repository on GitHub, navigate to the newly created </a:t>
            </a:r>
            <a:r>
              <a:rPr lang="en-US" sz="2400" i="1" dirty="0">
                <a:ea typeface="+mn-lt"/>
                <a:cs typeface="+mn-lt"/>
              </a:rPr>
              <a:t>transformers</a:t>
            </a:r>
            <a:r>
              <a:rPr lang="en-US" sz="2400" dirty="0">
                <a:ea typeface="+mn-lt"/>
                <a:cs typeface="+mn-lt"/>
              </a:rPr>
              <a:t> folder, and install transformers.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383540" indent="-383540"/>
            <a:endParaRPr 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897124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Example of a Docker Container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FROM </a:t>
            </a:r>
            <a:r>
              <a:rPr lang="en-US" sz="2400" dirty="0" err="1">
                <a:ea typeface="+mn-lt"/>
                <a:cs typeface="+mn-lt"/>
              </a:rPr>
              <a:t>pytorch</a:t>
            </a:r>
            <a:r>
              <a:rPr lang="en-US" sz="2400" dirty="0">
                <a:ea typeface="+mn-lt"/>
                <a:cs typeface="+mn-lt"/>
              </a:rPr>
              <a:t>/</a:t>
            </a:r>
            <a:r>
              <a:rPr lang="en-US" sz="2400" dirty="0" err="1">
                <a:ea typeface="+mn-lt"/>
                <a:cs typeface="+mn-lt"/>
              </a:rPr>
              <a:t>pytorch:latest</a:t>
            </a:r>
            <a:endParaRPr lang="en-US" sz="2400" dirty="0" err="1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RUN git clone </a:t>
            </a:r>
            <a:r>
              <a:rPr lang="en-US" sz="2400" dirty="0">
                <a:ea typeface="+mn-lt"/>
                <a:cs typeface="+mn-lt"/>
                <a:hlinkClick r:id="rId2"/>
              </a:rPr>
              <a:t>https://github.com/NVIDIA/apex</a:t>
            </a:r>
            <a:endParaRPr lang="en-US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RUN cd apex &amp;&amp; \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   python3 setup.py install &amp;&amp; \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   pip install -v --no-cache-</a:t>
            </a:r>
            <a:r>
              <a:rPr lang="en-US" sz="2400" dirty="0" err="1">
                <a:ea typeface="+mn-lt"/>
                <a:cs typeface="+mn-lt"/>
              </a:rPr>
              <a:t>dir</a:t>
            </a:r>
            <a:r>
              <a:rPr lang="en-US" sz="2400" dirty="0">
                <a:ea typeface="+mn-lt"/>
                <a:cs typeface="+mn-lt"/>
              </a:rPr>
              <a:t> --global-option="--</a:t>
            </a:r>
            <a:r>
              <a:rPr lang="en-US" sz="2400" dirty="0" err="1">
                <a:ea typeface="+mn-lt"/>
                <a:cs typeface="+mn-lt"/>
              </a:rPr>
              <a:t>cpp_ext</a:t>
            </a:r>
            <a:r>
              <a:rPr lang="en-US" sz="2400" dirty="0">
                <a:ea typeface="+mn-lt"/>
                <a:cs typeface="+mn-lt"/>
              </a:rPr>
              <a:t>" \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   --global-option="--</a:t>
            </a:r>
            <a:r>
              <a:rPr lang="en-US" sz="2400" dirty="0" err="1">
                <a:ea typeface="+mn-lt"/>
                <a:cs typeface="+mn-lt"/>
              </a:rPr>
              <a:t>cuda_ext</a:t>
            </a:r>
            <a:r>
              <a:rPr lang="en-US" sz="2400" dirty="0">
                <a:ea typeface="+mn-lt"/>
                <a:cs typeface="+mn-lt"/>
              </a:rPr>
              <a:t>" ./</a:t>
            </a:r>
            <a:endParaRPr lang="en-US" dirty="0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WORKDIR /fancy-</a:t>
            </a:r>
            <a:r>
              <a:rPr lang="en-US" sz="2400" dirty="0" err="1">
                <a:ea typeface="+mn-lt"/>
                <a:cs typeface="+mn-lt"/>
              </a:rPr>
              <a:t>nlp</a:t>
            </a:r>
            <a:r>
              <a:rPr lang="en-US" sz="2400" dirty="0">
                <a:ea typeface="+mn-lt"/>
                <a:cs typeface="+mn-lt"/>
              </a:rPr>
              <a:t>-project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RUN git clone </a:t>
            </a:r>
            <a:r>
              <a:rPr lang="en-US" sz="2400" dirty="0">
                <a:ea typeface="+mn-lt"/>
                <a:cs typeface="+mn-lt"/>
                <a:hlinkClick r:id="rId3"/>
              </a:rPr>
              <a:t>https://github.com/huggingface/transformers.git</a:t>
            </a:r>
            <a:r>
              <a:rPr lang="en-US" sz="2400" dirty="0">
                <a:ea typeface="+mn-lt"/>
                <a:cs typeface="+mn-lt"/>
              </a:rPr>
              <a:t> &amp;&amp; \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   cd transformers &amp;&amp; \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    python3 -m pip install --no-cache-dir.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383540" indent="-383540"/>
            <a:endParaRPr 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1592788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PODs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400" b="1" dirty="0">
                <a:ea typeface="+mn-lt"/>
                <a:cs typeface="+mn-lt"/>
              </a:rPr>
              <a:t>Basic Concept</a:t>
            </a:r>
            <a:r>
              <a:rPr lang="en-US" sz="2400" b="1" dirty="0">
                <a:solidFill>
                  <a:srgbClr val="191B0E"/>
                </a:solidFill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rgbClr val="191B0E"/>
                </a:solidFill>
                <a:ea typeface="+mn-lt"/>
                <a:cs typeface="+mn-lt"/>
              </a:rPr>
              <a:t>  A pod is a group of one or more containers, with shared storage/network, and a specification for how to run the containers. It is the smallest deployable unit of computing that can be created and managed in Kubernetes.</a:t>
            </a:r>
            <a:endParaRPr lang="en-US" dirty="0">
              <a:solidFill>
                <a:srgbClr val="191B0E"/>
              </a:solidFill>
              <a:ea typeface="+mn-lt"/>
              <a:cs typeface="+mn-lt"/>
            </a:endParaRPr>
          </a:p>
          <a:p>
            <a:pPr marL="342900" indent="-342900"/>
            <a:r>
              <a:rPr lang="en-US" sz="2400" b="1" dirty="0">
                <a:solidFill>
                  <a:srgbClr val="191B0E"/>
                </a:solidFill>
                <a:ea typeface="+mn-lt"/>
                <a:cs typeface="+mn-lt"/>
              </a:rPr>
              <a:t>Shared</a:t>
            </a:r>
            <a:r>
              <a:rPr lang="en-US" sz="2400" b="1" dirty="0">
                <a:ea typeface="+mn-lt"/>
                <a:cs typeface="+mn-lt"/>
              </a:rPr>
              <a:t> Context</a:t>
            </a:r>
            <a:r>
              <a:rPr lang="en-US" sz="2400" b="1" dirty="0">
                <a:solidFill>
                  <a:srgbClr val="191B0E"/>
                </a:solidFill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rgbClr val="191B0E"/>
                </a:solidFill>
                <a:ea typeface="+mn-lt"/>
                <a:cs typeface="+mn-lt"/>
              </a:rPr>
              <a:t> Containers in the same pod share the same IP address and port space, and can find each other via </a:t>
            </a:r>
            <a:r>
              <a:rPr lang="en-US" sz="2400" dirty="0">
                <a:ea typeface="+mn-lt"/>
                <a:cs typeface="+mn-lt"/>
              </a:rPr>
              <a:t>localhost</a:t>
            </a:r>
            <a:r>
              <a:rPr lang="en-US" sz="2400" dirty="0">
                <a:solidFill>
                  <a:srgbClr val="191B0E"/>
                </a:solidFill>
                <a:ea typeface="+mn-lt"/>
                <a:cs typeface="+mn-lt"/>
              </a:rPr>
              <a:t>. They can also share mounted storage. </a:t>
            </a:r>
            <a:endParaRPr lang="en-US" sz="2400"/>
          </a:p>
          <a:p>
            <a:pPr marL="342900" indent="-342900"/>
            <a:r>
              <a:rPr lang="en-US" sz="2400" b="1" dirty="0">
                <a:ea typeface="+mn-lt"/>
                <a:cs typeface="+mn-lt"/>
              </a:rPr>
              <a:t>Atomic Unit</a:t>
            </a:r>
            <a:r>
              <a:rPr lang="en-US" sz="2400" b="1" dirty="0">
                <a:solidFill>
                  <a:srgbClr val="191B0E"/>
                </a:solidFill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rgbClr val="191B0E"/>
                </a:solidFill>
                <a:ea typeface="+mn-lt"/>
                <a:cs typeface="+mn-lt"/>
              </a:rPr>
              <a:t> In Kubernetes, the pod is the atomic unit of scaling. When you scale an application up or down, you're actually increasing or decreasing the number of pods.</a:t>
            </a:r>
            <a:endParaRPr lang="en-US" dirty="0"/>
          </a:p>
          <a:p>
            <a:pPr marL="342900" indent="-342900"/>
            <a:r>
              <a:rPr lang="en-US" sz="2400" b="1" dirty="0">
                <a:ea typeface="+mn-lt"/>
                <a:cs typeface="+mn-lt"/>
              </a:rPr>
              <a:t>Use Case</a:t>
            </a:r>
            <a:r>
              <a:rPr lang="en-US" sz="2400" b="1" dirty="0">
                <a:solidFill>
                  <a:srgbClr val="191B0E"/>
                </a:solidFill>
                <a:ea typeface="+mn-lt"/>
                <a:cs typeface="+mn-lt"/>
              </a:rPr>
              <a:t>:</a:t>
            </a:r>
            <a:r>
              <a:rPr lang="en-US" sz="2400" dirty="0">
                <a:solidFill>
                  <a:srgbClr val="191B0E"/>
                </a:solidFill>
                <a:ea typeface="+mn-lt"/>
                <a:cs typeface="+mn-lt"/>
              </a:rPr>
              <a:t> Pods are used when there is a need for a few containers to work together very closely as a single cohesive unit of service. </a:t>
            </a:r>
            <a:endParaRPr lang="en-US" sz="2400" dirty="0"/>
          </a:p>
          <a:p>
            <a:pPr marL="383540" indent="-383540"/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383540" indent="-383540"/>
            <a:endParaRPr 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315774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Resource Management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88583"/>
            <a:ext cx="9345240" cy="47333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/>
              <a:t>In the pre-cloud world resources were limited.</a:t>
            </a:r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Focus was then on maximizing resource utilization.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In the cloud world focus is on using resources cost-effectively.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Two characteristics of ML workflows that influence their resource management.</a:t>
            </a:r>
            <a:endParaRPr lang="en-US" sz="2400" dirty="0"/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>
                <a:ea typeface="+mn-lt"/>
                <a:cs typeface="+mn-lt"/>
              </a:rPr>
              <a:t>Repetitiveness</a:t>
            </a:r>
            <a:r>
              <a:rPr lang="en-US" sz="2400" i="0" dirty="0"/>
              <a:t> 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/>
              <a:t>Dependencies</a:t>
            </a:r>
            <a:endParaRPr lang="en-US" sz="2400" i="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marL="0" indent="0">
              <a:buNone/>
            </a:pPr>
            <a:endParaRPr lang="en-US" sz="2400" i="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94075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Schedulers and Orchestrators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242700" cy="4097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/>
              <a:t>Cron -.</a:t>
            </a:r>
            <a:r>
              <a:rPr lang="en-US" sz="2400" dirty="0">
                <a:ea typeface="+mn-lt"/>
                <a:cs typeface="+mn-lt"/>
              </a:rPr>
              <a:t>scheduling repetitive jobs to run at fixed times.</a:t>
            </a:r>
            <a:endParaRPr lang="en-US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Can not handle the dependencies between the jobs it runs.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Schedulers are Cron programs that can handle dependencies. </a:t>
            </a:r>
            <a:endParaRPr lang="en-US" sz="2400" i="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Takes in the DAG of a workflow and schedules each step accordingly.</a:t>
            </a:r>
            <a:endParaRPr lang="en-US" sz="2400" i="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Tend to leverage queues to keep track of jobs</a:t>
            </a:r>
            <a:endParaRPr lang="en-US" sz="2400" i="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Need to be aware of the resources available 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and the resources needed to run each job</a:t>
            </a: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  <p:pic>
        <p:nvPicPr>
          <p:cNvPr id="3" name="Picture 3" descr="Diagram&#10;&#10;Description automatically generated">
            <a:extLst>
              <a:ext uri="{FF2B5EF4-FFF2-40B4-BE49-F238E27FC236}">
                <a16:creationId xmlns:a16="http://schemas.microsoft.com/office/drawing/2014/main" id="{A8383855-CD2F-8D88-27B1-3F1724482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475" y="4182256"/>
            <a:ext cx="4078950" cy="256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73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Schedulers and Orchestrators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242700" cy="40977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None/>
            </a:pPr>
            <a:r>
              <a:rPr lang="en-US" sz="2400" dirty="0">
                <a:ea typeface="+mn-lt"/>
                <a:cs typeface="+mn-lt"/>
              </a:rPr>
              <a:t>Example of scheduling a job using </a:t>
            </a:r>
            <a:r>
              <a:rPr lang="en-US" sz="2400" dirty="0" err="1">
                <a:ea typeface="+mn-lt"/>
                <a:cs typeface="+mn-lt"/>
              </a:rPr>
              <a:t>Slurm</a:t>
            </a:r>
          </a:p>
          <a:p>
            <a:pPr marL="383540" indent="-383540">
              <a:buNone/>
            </a:pPr>
            <a:endParaRPr lang="en-US" sz="2400" dirty="0">
              <a:ea typeface="+mn-lt"/>
              <a:cs typeface="+mn-lt"/>
            </a:endParaRPr>
          </a:p>
          <a:p>
            <a:pPr marL="383540" indent="-383540">
              <a:buNone/>
            </a:pPr>
            <a:r>
              <a:rPr lang="en-US" sz="2400" dirty="0">
                <a:ea typeface="+mn-lt"/>
                <a:cs typeface="+mn-lt"/>
              </a:rPr>
              <a:t>#!/bin/bash</a:t>
            </a:r>
            <a:endParaRPr lang="en-US" dirty="0"/>
          </a:p>
          <a:p>
            <a:pPr marL="383540" indent="-383540">
              <a:buNone/>
            </a:pPr>
            <a:r>
              <a:rPr lang="en-US" sz="2400" dirty="0">
                <a:ea typeface="+mn-lt"/>
                <a:cs typeface="+mn-lt"/>
              </a:rPr>
              <a:t>#SBATCH -J </a:t>
            </a:r>
            <a:r>
              <a:rPr lang="en-US" sz="2400" dirty="0" err="1">
                <a:ea typeface="+mn-lt"/>
                <a:cs typeface="+mn-lt"/>
              </a:rPr>
              <a:t>JobName</a:t>
            </a:r>
            <a:endParaRPr lang="en-US" dirty="0" err="1"/>
          </a:p>
          <a:p>
            <a:pPr marL="383540" indent="-383540">
              <a:buNone/>
            </a:pPr>
            <a:r>
              <a:rPr lang="en-US" sz="2400" dirty="0">
                <a:ea typeface="+mn-lt"/>
                <a:cs typeface="+mn-lt"/>
              </a:rPr>
              <a:t>#SBATCH --time=11:00:00           # When to start the job</a:t>
            </a:r>
            <a:endParaRPr lang="en-US" dirty="0"/>
          </a:p>
          <a:p>
            <a:pPr marL="383540" indent="-383540">
              <a:buNone/>
            </a:pPr>
            <a:r>
              <a:rPr lang="en-US" sz="2400" dirty="0">
                <a:ea typeface="+mn-lt"/>
                <a:cs typeface="+mn-lt"/>
              </a:rPr>
              <a:t>#SBATCH --mem-per-</a:t>
            </a:r>
            <a:r>
              <a:rPr lang="en-US" sz="2400" dirty="0" err="1">
                <a:ea typeface="+mn-lt"/>
                <a:cs typeface="+mn-lt"/>
              </a:rPr>
              <a:t>cpu</a:t>
            </a:r>
            <a:r>
              <a:rPr lang="en-US" sz="2400" dirty="0">
                <a:ea typeface="+mn-lt"/>
                <a:cs typeface="+mn-lt"/>
              </a:rPr>
              <a:t>=4096   # Memory, in MB, to be allocated per CPU</a:t>
            </a:r>
            <a:endParaRPr lang="en-US" dirty="0"/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#SBATCH --</a:t>
            </a:r>
            <a:r>
              <a:rPr lang="en-US" sz="2400" dirty="0" err="1">
                <a:ea typeface="+mn-lt"/>
                <a:cs typeface="+mn-lt"/>
              </a:rPr>
              <a:t>cpus</a:t>
            </a:r>
            <a:r>
              <a:rPr lang="en-US" sz="2400" dirty="0">
                <a:ea typeface="+mn-lt"/>
                <a:cs typeface="+mn-lt"/>
              </a:rPr>
              <a:t>-per-task=4          # Number of cores per task</a:t>
            </a:r>
            <a:endParaRPr lang="en-US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44627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Schedulers and Orchestrators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513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Schedulers are concerned with when to run jobs and what </a:t>
            </a:r>
            <a:br>
              <a:rPr lang="en-US" dirty="0"/>
            </a:br>
            <a:r>
              <a:rPr lang="en-US" sz="2400" dirty="0">
                <a:ea typeface="+mn-lt"/>
                <a:cs typeface="+mn-lt"/>
              </a:rPr>
              <a:t>resources are needed to run those jobs.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Orchestrators are concerned with where to get those resources.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Schedulers deal with job-type abstractions such as DAGs, priority queues, user-level quotas.</a:t>
            </a:r>
            <a:endParaRPr lang="en-US" sz="2400" i="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Orchestrators deal with lower-level abstractions like machines, instances, clusters, service-level grouping, replication, etc.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It  can dynamically  increase/decrease the number of instances in the available instance pool. 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Most well-known orchestrator today is Kubernetes.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806982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Workflow Management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513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They allow you to specify your workflows as DAGs.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Workflows can be defined using either code (Python) or configuration files (YAML).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Once a workflow is defined, the underlying scheduler usually works with an orchestrator to allocate resources to run the workflow</a:t>
            </a:r>
            <a:endParaRPr lang="en-US" sz="2400" i="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  <p:pic>
        <p:nvPicPr>
          <p:cNvPr id="3" name="Picture 3" descr="Diagram&#10;&#10;Description automatically generated">
            <a:extLst>
              <a:ext uri="{FF2B5EF4-FFF2-40B4-BE49-F238E27FC236}">
                <a16:creationId xmlns:a16="http://schemas.microsoft.com/office/drawing/2014/main" id="{4051DE02-84B2-4A75-57B8-05369A6C3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260" y="3851327"/>
            <a:ext cx="7025513" cy="26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72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Airflow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513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>
                <a:ea typeface="+mn-lt"/>
                <a:cs typeface="+mn-lt"/>
              </a:rPr>
              <a:t>One of the first workflow management tool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Developed at </a:t>
            </a:r>
            <a:r>
              <a:rPr lang="en-US" sz="2400">
                <a:ea typeface="+mn-lt"/>
                <a:cs typeface="+mn-lt"/>
              </a:rPr>
              <a:t>Airbnb</a:t>
            </a:r>
            <a:r>
              <a:rPr lang="en-US" sz="2400" dirty="0">
                <a:ea typeface="+mn-lt"/>
                <a:cs typeface="+mn-lt"/>
              </a:rPr>
              <a:t> and open sourced.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/>
              <a:t>Contains a huge library of operators.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Easy to use with different cloud providers, databases, storage </a:t>
            </a:r>
            <a:r>
              <a:rPr lang="en-US" sz="2400">
                <a:ea typeface="+mn-lt"/>
                <a:cs typeface="+mn-lt"/>
              </a:rPr>
              <a:t>options.</a:t>
            </a:r>
            <a:endParaRPr lang="en-US" sz="2400" dirty="0">
              <a:ea typeface="+mn-lt"/>
              <a:cs typeface="+mn-lt"/>
            </a:endParaRPr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85585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Airflow Drawbacks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513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Airflow is monolithic - it packages the entire workflow into one container.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Airflow’s DAGs are not parameterized - you can’t pass parameters into your workflows.</a:t>
            </a: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If you want to run the same model with different learning rates, you’ll have to create different workflows!</a:t>
            </a:r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Airflow’s DAGs are static - it can’t automatically create new steps at runtime as needed.</a:t>
            </a:r>
            <a:endParaRPr lang="en-US" dirty="0"/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Next generation of workflow orchestrators </a:t>
            </a:r>
            <a:r>
              <a:rPr lang="en-US" sz="2400" b="1" dirty="0">
                <a:ea typeface="+mn-lt"/>
                <a:cs typeface="+mn-lt"/>
              </a:rPr>
              <a:t>Argo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b="1" dirty="0">
                <a:ea typeface="+mn-lt"/>
                <a:cs typeface="+mn-lt"/>
              </a:rPr>
              <a:t>Prefect</a:t>
            </a:r>
            <a:r>
              <a:rPr lang="en-US" sz="2400" dirty="0">
                <a:ea typeface="+mn-lt"/>
                <a:cs typeface="+mn-lt"/>
              </a:rPr>
              <a:t> address these issues.</a:t>
            </a:r>
            <a:endParaRPr lang="en-US" sz="2400" i="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391081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ML Platform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5134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/>
              <a:t>ML Platform is a relatively new concept like </a:t>
            </a:r>
            <a:r>
              <a:rPr lang="en-US" sz="2400" dirty="0" err="1"/>
              <a:t>MLOps</a:t>
            </a:r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/>
              <a:t>No universal standard definition exists.</a:t>
            </a:r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The shared set of tools for ML deployment makes up the ML platform.</a:t>
            </a:r>
          </a:p>
          <a:p>
            <a:pPr marL="383540" indent="-38354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Most important components: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Model Deployment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Model Store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Feature</a:t>
            </a:r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69017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ML Platform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51343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/>
              <a:t>Two important criteria for evaluating the component tools:</a:t>
            </a:r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Whether the tool works with your cloud provider or allows you to use it on your own data center.</a:t>
            </a:r>
            <a:endParaRPr lang="en-US" sz="2400" i="0" dirty="0"/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Need to run and serve models from a compute layer, and usually tools only support integration with a handful of cloud providers.</a:t>
            </a:r>
            <a:endParaRPr lang="en-US" sz="2400" i="0" dirty="0"/>
          </a:p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Whether it is an open source or a managed service:</a:t>
            </a:r>
            <a:endParaRPr lang="en-US" sz="2400" dirty="0"/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Opensource tools can be hosted by engineers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Less about data security and privacy.</a:t>
            </a: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More Eng resources are required.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Managed services could be more expensive.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May not comply with regulations of data storage and privacy.</a:t>
            </a:r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097752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ML Platform – Model Deployment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762" y="1426695"/>
            <a:ext cx="10919857" cy="53558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A deployment service helps in both pushing  models and their dependencies to production and exposing them as endpoints.</a:t>
            </a:r>
            <a:endParaRPr lang="en-US" sz="2400" dirty="0"/>
          </a:p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Deployment is the most mature among all ML platform components.</a:t>
            </a:r>
            <a:endParaRPr lang="en-US" sz="2400" i="0" dirty="0"/>
          </a:p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>
                <a:ea typeface="+mn-lt"/>
                <a:cs typeface="+mn-lt"/>
              </a:rPr>
              <a:t>All major cloud providers offer tools for deployment:</a:t>
            </a:r>
            <a:endParaRPr lang="en-US" sz="2400"/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AWS – SageMaker</a:t>
            </a:r>
            <a:endParaRPr lang="en-US" sz="2400" i="0" u="sng" dirty="0">
              <a:ea typeface="+mn-lt"/>
              <a:cs typeface="+mn-lt"/>
            </a:endParaRP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Azure – </a:t>
            </a:r>
            <a:r>
              <a:rPr lang="en-US" sz="2400" i="0" dirty="0" err="1"/>
              <a:t>AzureML</a:t>
            </a:r>
            <a:endParaRPr lang="en-US" sz="2400" i="0"/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GCP – </a:t>
            </a:r>
            <a:r>
              <a:rPr lang="en-US" sz="2400" i="0" dirty="0" err="1"/>
              <a:t>VerTexAI</a:t>
            </a:r>
            <a:endParaRPr lang="en-US" sz="2400" i="0"/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Startups:</a:t>
            </a:r>
            <a:endParaRPr lang="en-US" sz="2400" i="0"/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 err="1"/>
              <a:t>MLFlow</a:t>
            </a:r>
            <a:r>
              <a:rPr lang="en-US" sz="2400" dirty="0"/>
              <a:t> Models:</a:t>
            </a:r>
            <a:endParaRPr lang="en-US" sz="2400" i="0"/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/>
              <a:t>Seldon</a:t>
            </a:r>
            <a:endParaRPr lang="en-US" sz="2400"/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/>
              <a:t>Cortex</a:t>
            </a:r>
            <a:endParaRPr lang="en-US" sz="2400"/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/>
              <a:t>Ray-Serve</a:t>
            </a:r>
          </a:p>
          <a:p>
            <a:pPr marL="0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205203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ML Platform – Model Store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7949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/>
              <a:t>To help with debugging and maintenance, it is not sufficient to store model object alone</a:t>
            </a:r>
          </a:p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/>
              <a:t>Information about models stored:</a:t>
            </a:r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Model Definition: Loss function, number of layers of NN, number of parameters in each layer</a:t>
            </a:r>
            <a:endParaRPr lang="en-US" sz="2400" i="0" dirty="0"/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Model Parameters: Actual values of the model parameters after training.</a:t>
            </a:r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 err="1">
                <a:ea typeface="+mn-lt"/>
                <a:cs typeface="+mn-lt"/>
              </a:rPr>
              <a:t>Featurize</a:t>
            </a:r>
            <a:r>
              <a:rPr lang="en-US" sz="2400" i="0" dirty="0">
                <a:ea typeface="+mn-lt"/>
                <a:cs typeface="+mn-lt"/>
              </a:rPr>
              <a:t> and Predict functions</a:t>
            </a:r>
            <a:endParaRPr lang="en-US" sz="2400" i="0" dirty="0"/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Dependencies: Python packages</a:t>
            </a:r>
            <a:endParaRPr lang="en-US" sz="2400" i="0" dirty="0"/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Data: Pointers to data storage</a:t>
            </a:r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Model Generation Code: Pointers to </a:t>
            </a:r>
            <a:r>
              <a:rPr lang="en-US" sz="2400" i="0" dirty="0" err="1">
                <a:ea typeface="+mn-lt"/>
                <a:cs typeface="+mn-lt"/>
              </a:rPr>
              <a:t>Github</a:t>
            </a:r>
            <a:r>
              <a:rPr lang="en-US" sz="2400" i="0" dirty="0">
                <a:ea typeface="+mn-lt"/>
                <a:cs typeface="+mn-lt"/>
              </a:rPr>
              <a:t> repo</a:t>
            </a:r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Experiment artifacts: Loss curves, performance metrics</a:t>
            </a:r>
            <a:endParaRPr lang="en-US" sz="2400" i="0" dirty="0"/>
          </a:p>
          <a:p>
            <a:pPr marL="873760"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Tags</a:t>
            </a:r>
          </a:p>
          <a:p>
            <a:pPr marL="0" indent="0">
              <a:buNone/>
            </a:pPr>
            <a:endParaRPr lang="en-US" sz="2400" dirty="0"/>
          </a:p>
          <a:p>
            <a:pPr marL="342900" indent="-34290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2" indent="-383540">
              <a:buFont typeface="Arial" panose="020B0503020102020204" pitchFamily="34" charset="0"/>
              <a:buChar char="•"/>
            </a:pPr>
            <a:endParaRPr lang="en-US" sz="2200" dirty="0"/>
          </a:p>
          <a:p>
            <a:pPr marL="0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49176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dirty="0"/>
              <a:t>ML Platform – Feature Store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512" y="1643653"/>
            <a:ext cx="10771691" cy="47949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/>
              <a:t>Why Feature store is needed ?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>
                <a:ea typeface="+mn-lt"/>
                <a:cs typeface="+mn-lt"/>
              </a:rPr>
              <a:t>Feature management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/>
              <a:t>Feature computation</a:t>
            </a:r>
          </a:p>
          <a:p>
            <a:pPr marL="873760" lvl="1" indent="-342900">
              <a:buFont typeface="Wingdings" panose="020B0503020102020204" pitchFamily="34" charset="0"/>
              <a:buChar char="§"/>
            </a:pPr>
            <a:r>
              <a:rPr lang="en-US" sz="2400" i="0" dirty="0"/>
              <a:t>Feature consistency</a:t>
            </a:r>
          </a:p>
          <a:p>
            <a:pPr marL="342900" indent="-342900">
              <a:buFont typeface="Wingdings" panose="020B0503020102020204" pitchFamily="34" charset="0"/>
              <a:buChar char="q"/>
            </a:pPr>
            <a:r>
              <a:rPr lang="en-US" sz="2400" dirty="0"/>
              <a:t>Popular tools for feature store:</a:t>
            </a:r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Feast:</a:t>
            </a:r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/>
              <a:t>Strong in creating batch features</a:t>
            </a:r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/>
              <a:t>Weak in creating streaming features</a:t>
            </a: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§"/>
            </a:pPr>
            <a:r>
              <a:rPr lang="en-US" sz="2400" i="0" dirty="0"/>
              <a:t>Tecton:</a:t>
            </a:r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/>
              <a:t>Capable of storing both online and batch features </a:t>
            </a:r>
          </a:p>
          <a:p>
            <a:pPr lvl="2" indent="-383540">
              <a:buFont typeface="Arial" panose="020B0503020102020204" pitchFamily="34" charset="0"/>
              <a:buChar char="•"/>
            </a:pPr>
            <a:r>
              <a:rPr lang="en-US" sz="2400" dirty="0"/>
              <a:t>Require deep integration</a:t>
            </a:r>
            <a:endParaRPr lang="en-US"/>
          </a:p>
          <a:p>
            <a:pPr lvl="2" indent="-383540">
              <a:buFont typeface="Wingdings" panose="020B0503020102020204" pitchFamily="34" charset="0"/>
              <a:buChar char="§"/>
            </a:pPr>
            <a:endParaRPr lang="en-US" sz="2200" i="0" dirty="0"/>
          </a:p>
          <a:p>
            <a:pPr marL="873760" lvl="1" indent="-342900">
              <a:buFont typeface="Wingdings" panose="020B0503020102020204" pitchFamily="34" charset="0"/>
              <a:buChar char="§"/>
            </a:pPr>
            <a:endParaRPr lang="en-US" sz="2400" i="0" dirty="0"/>
          </a:p>
          <a:p>
            <a:pPr marL="873760" lvl="1" indent="-342900">
              <a:buFont typeface="Wingdings" panose="020B0503020102020204" pitchFamily="34" charset="0"/>
              <a:buChar char="§"/>
            </a:pPr>
            <a:endParaRPr lang="en-US" sz="2400" i="0" dirty="0"/>
          </a:p>
          <a:p>
            <a:pPr marL="873760" lvl="1" indent="-383540">
              <a:buFont typeface="Wingdings" panose="020B0503020102020204" pitchFamily="34" charset="0"/>
              <a:buChar char="§"/>
            </a:pPr>
            <a:endParaRPr lang="en-US" sz="2400" i="0" dirty="0"/>
          </a:p>
          <a:p>
            <a:pPr marL="0" indent="0">
              <a:buNone/>
            </a:pPr>
            <a:endParaRPr lang="en-US" sz="2400" dirty="0"/>
          </a:p>
          <a:p>
            <a:pPr marL="342900" indent="-34290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2" indent="-383540">
              <a:buFont typeface="Arial" panose="020B0503020102020204" pitchFamily="34" charset="0"/>
              <a:buChar char="•"/>
            </a:pPr>
            <a:endParaRPr lang="en-US" sz="2200" dirty="0"/>
          </a:p>
          <a:p>
            <a:pPr marL="0" indent="0">
              <a:buNone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/>
          </a:p>
          <a:p>
            <a:pPr marL="383540" indent="-383540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637527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42795" cy="1485900"/>
          </a:xfrm>
        </p:spPr>
        <p:txBody>
          <a:bodyPr>
            <a:normAutofit/>
          </a:bodyPr>
          <a:lstStyle/>
          <a:p>
            <a:r>
              <a:rPr lang="en-US" dirty="0"/>
              <a:t>Summary of Today's Learning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A109F7CC-DBE6-106D-EEB3-EEDB32B06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872133" cy="38337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>
              <a:buFont typeface="Wingdings" panose="020B0503020102020204" pitchFamily="34" charset="0"/>
              <a:buChar char="q"/>
            </a:pPr>
            <a:endParaRPr lang="en-US" sz="2400" dirty="0"/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Different layers of ML infrastructure.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>
                <a:ea typeface="+mn-lt"/>
                <a:cs typeface="+mn-lt"/>
              </a:rPr>
              <a:t>Scheduling and orchestration of different</a:t>
            </a:r>
            <a:r>
              <a:rPr lang="en-US" sz="2400" i="0" dirty="0"/>
              <a:t> ML tasks.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ML resource management</a:t>
            </a:r>
          </a:p>
          <a:p>
            <a:pPr lvl="1" indent="-383540">
              <a:buFont typeface="Wingdings" panose="020B0503020102020204" pitchFamily="34" charset="0"/>
              <a:buChar char="q"/>
            </a:pPr>
            <a:r>
              <a:rPr lang="en-US" sz="2400" i="0" dirty="0"/>
              <a:t>Important components of ML platform</a:t>
            </a:r>
          </a:p>
          <a:p>
            <a:pPr marL="530860" lvl="1" indent="0">
              <a:buNone/>
            </a:pPr>
            <a:endParaRPr lang="en-US" sz="2400" i="0" dirty="0"/>
          </a:p>
          <a:p>
            <a:pPr lvl="1" indent="-383540">
              <a:buFont typeface="Wingdings" panose="020B0503020102020204" pitchFamily="34" charset="0"/>
              <a:buChar char="q"/>
            </a:pPr>
            <a:endParaRPr lang="en-US" sz="2400" i="0" dirty="0"/>
          </a:p>
          <a:p>
            <a:pPr marL="383540" indent="-383540"/>
            <a:endParaRPr lang="en-US" sz="2400" dirty="0"/>
          </a:p>
          <a:p>
            <a:pPr marL="383540" indent="-38354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30693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87B18-67BB-BE50-AC53-982DFE7B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6293" y="3042647"/>
            <a:ext cx="3189129" cy="14859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613064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TF00001241</Template>
  <Application>Microsoft Office PowerPoint</Application>
  <PresentationFormat>Widescreen</PresentationFormat>
  <Slides>32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Crop</vt:lpstr>
      <vt:lpstr>Artificial intelligence software development</vt:lpstr>
      <vt:lpstr>Agenda for Today</vt:lpstr>
      <vt:lpstr>Infrastructure and Tooling for MLOps</vt:lpstr>
      <vt:lpstr>Four Layers of Infrastructure</vt:lpstr>
      <vt:lpstr>Four Layers of Infrastructure</vt:lpstr>
      <vt:lpstr>Storage and Compute Layer</vt:lpstr>
      <vt:lpstr>Storage and Compute Layer</vt:lpstr>
      <vt:lpstr>Storage and Compute Layer</vt:lpstr>
      <vt:lpstr>Storage and Compute Layer</vt:lpstr>
      <vt:lpstr>Development Environment</vt:lpstr>
      <vt:lpstr>Notebooks </vt:lpstr>
      <vt:lpstr>Notebooks </vt:lpstr>
      <vt:lpstr>Containers</vt:lpstr>
      <vt:lpstr>Docker Containers</vt:lpstr>
      <vt:lpstr>Benefits of Docker Containers</vt:lpstr>
      <vt:lpstr>Example of a Docker Container</vt:lpstr>
      <vt:lpstr>Example of a Docker Container</vt:lpstr>
      <vt:lpstr>PODs</vt:lpstr>
      <vt:lpstr>Resource Management</vt:lpstr>
      <vt:lpstr>Schedulers and Orchestrators</vt:lpstr>
      <vt:lpstr>Schedulers and Orchestrators</vt:lpstr>
      <vt:lpstr>Schedulers and Orchestrators</vt:lpstr>
      <vt:lpstr>Workflow Management</vt:lpstr>
      <vt:lpstr>Airflow</vt:lpstr>
      <vt:lpstr>Airflow Drawbacks</vt:lpstr>
      <vt:lpstr>ML Platform</vt:lpstr>
      <vt:lpstr>ML Platform</vt:lpstr>
      <vt:lpstr>ML Platform – Model Deployment</vt:lpstr>
      <vt:lpstr>ML Platform – Model Store</vt:lpstr>
      <vt:lpstr>ML Platform – Feature Store</vt:lpstr>
      <vt:lpstr>Summary of Today's Learning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6569</cp:revision>
  <dcterms:created xsi:type="dcterms:W3CDTF">2022-09-23T02:00:20Z</dcterms:created>
  <dcterms:modified xsi:type="dcterms:W3CDTF">2024-03-05T02:49:33Z</dcterms:modified>
</cp:coreProperties>
</file>
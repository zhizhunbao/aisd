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7" r:id="rId2"/>
    <p:sldId id="424" r:id="rId3"/>
    <p:sldId id="443" r:id="rId4"/>
    <p:sldId id="444" r:id="rId5"/>
    <p:sldId id="445" r:id="rId6"/>
    <p:sldId id="446" r:id="rId7"/>
    <p:sldId id="404" r:id="rId8"/>
    <p:sldId id="449" r:id="rId9"/>
    <p:sldId id="447" r:id="rId10"/>
    <p:sldId id="426" r:id="rId11"/>
    <p:sldId id="448" r:id="rId12"/>
    <p:sldId id="450" r:id="rId13"/>
    <p:sldId id="451" r:id="rId14"/>
    <p:sldId id="452" r:id="rId15"/>
    <p:sldId id="454" r:id="rId16"/>
    <p:sldId id="453" r:id="rId17"/>
    <p:sldId id="439" r:id="rId18"/>
    <p:sldId id="455" r:id="rId19"/>
    <p:sldId id="457" r:id="rId20"/>
    <p:sldId id="458" r:id="rId21"/>
    <p:sldId id="456" r:id="rId22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4807" autoAdjust="0"/>
  </p:normalViewPr>
  <p:slideViewPr>
    <p:cSldViewPr snapToGrid="0" snapToObjects="1">
      <p:cViewPr varScale="1">
        <p:scale>
          <a:sx n="93" d="100"/>
          <a:sy n="93" d="100"/>
        </p:scale>
        <p:origin x="1096" y="208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3/17/25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3/17/25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693" r:id="rId6"/>
    <p:sldLayoutId id="2147483685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7" r:id="rId17"/>
    <p:sldLayoutId id="2147483677" r:id="rId18"/>
    <p:sldLayoutId id="2147483698" r:id="rId19"/>
    <p:sldLayoutId id="2147483699" r:id="rId20"/>
    <p:sldLayoutId id="2147483682" r:id="rId21"/>
    <p:sldLayoutId id="2147483654" r:id="rId22"/>
    <p:sldLayoutId id="2147483662" r:id="rId23"/>
    <p:sldLayoutId id="2147483683" r:id="rId24"/>
    <p:sldLayoutId id="2147483684" r:id="rId25"/>
    <p:sldLayoutId id="2147483664" r:id="rId26"/>
    <p:sldLayoutId id="2147483700" r:id="rId27"/>
    <p:sldLayoutId id="2147483701" r:id="rId28"/>
    <p:sldLayoutId id="2147483657" r:id="rId29"/>
    <p:sldLayoutId id="2147483674" r:id="rId30"/>
    <p:sldLayoutId id="2147483675" r:id="rId31"/>
    <p:sldLayoutId id="2147483681" r:id="rId32"/>
    <p:sldLayoutId id="2147483667" r:id="rId33"/>
    <p:sldLayoutId id="2147483680" r:id="rId34"/>
    <p:sldLayoutId id="2147483702" r:id="rId35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RobotEducation/create3_sim" TargetMode="External"/><Relationship Id="rId2" Type="http://schemas.openxmlformats.org/officeDocument/2006/relationships/hyperlink" Target="https://iroboteducation.github.io/create3_docs/sim/setup/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ros.org/en/iron/Tutorials/Intermediate/URDF/Building-a-Visual-Robot-Model-with-URDF-from-Scratch.html" TargetMode="Externa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turtlebot.github.io/turtlebot4-user-manual/software/rviz.html" TargetMode="Externa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CST8509 Part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3A500-DC2C-8396-E0CE-FAAC8CDA3D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6016" y="2015914"/>
            <a:ext cx="14705556" cy="5749481"/>
          </a:xfrm>
        </p:spPr>
        <p:txBody>
          <a:bodyPr/>
          <a:lstStyle/>
          <a:p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latin typeface="Menlo" panose="020B0609030804020204" pitchFamily="49" charset="0"/>
              </a:rPr>
              <a:t>Midterm results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Gazebo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 err="1">
                <a:solidFill>
                  <a:srgbClr val="000000"/>
                </a:solidFill>
                <a:latin typeface="Menlo" panose="020B0609030804020204" pitchFamily="49" charset="0"/>
              </a:rPr>
              <a:t>RViz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Dynamic Programming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latin typeface="Menlo" panose="020B0609030804020204" pitchFamily="49" charset="0"/>
              </a:rPr>
              <a:t>Monte Carlo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CB6CB-AF39-0907-64D1-C3B86EEF924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21DBA-1393-EE52-EAB5-E75F5D637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263" y="463565"/>
            <a:ext cx="9475914" cy="1335973"/>
          </a:xfrm>
        </p:spPr>
        <p:txBody>
          <a:bodyPr/>
          <a:lstStyle/>
          <a:p>
            <a:r>
              <a:rPr lang="en-US" dirty="0"/>
              <a:t>Today's Agenda</a:t>
            </a:r>
          </a:p>
        </p:txBody>
      </p:sp>
    </p:spTree>
    <p:extLst>
      <p:ext uri="{BB962C8B-B14F-4D97-AF65-F5344CB8AC3E}">
        <p14:creationId xmlns:p14="http://schemas.microsoft.com/office/powerpoint/2010/main" val="2849854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DD65-369B-0641-912C-430B9790F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Toolbox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EFC1A-DBF8-262D-6B87-2DFFC11978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856509"/>
            <a:ext cx="11615780" cy="56788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Today we add Gazebo and </a:t>
            </a:r>
            <a:r>
              <a:rPr lang="en-US" dirty="0" err="1"/>
              <a:t>Rviz</a:t>
            </a:r>
            <a:r>
              <a:rPr lang="en-US" dirty="0"/>
              <a:t> to our RL toolbox: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Gymnasium            (Environments)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Stable-Baselines3  (Algorithm implementations/agents)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Gazebo (??  Simulation)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 err="1"/>
              <a:t>Rviz</a:t>
            </a:r>
            <a:r>
              <a:rPr lang="en-US" dirty="0"/>
              <a:t> (?? Robot Visualization)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1C89F-1CF7-8F29-2EF2-0E3498F9953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688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B9E34-02FB-FD35-E6A5-218ACAB65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Gazebo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96F06-783D-4B1F-AC7A-F536724CC9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704109"/>
            <a:ext cx="11615780" cy="5831225"/>
          </a:xfrm>
        </p:spPr>
        <p:txBody>
          <a:bodyPr/>
          <a:lstStyle/>
          <a:p>
            <a:r>
              <a:rPr lang="en-US" dirty="0"/>
              <a:t>Gazebo is a simulator: https://</a:t>
            </a:r>
            <a:r>
              <a:rPr lang="en-US" dirty="0" err="1"/>
              <a:t>gazebosim.org</a:t>
            </a:r>
            <a:r>
              <a:rPr lang="en-US" dirty="0"/>
              <a:t>/home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Simulates environments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Simulates robots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Plugin-based physics, rendering, and GUI libraries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ROS integration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AF984-B918-6E26-AB26-40F0919E873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787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22D8-C4B7-D3C4-FDE9-1CE28F7ED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518983"/>
            <a:ext cx="9475914" cy="1335973"/>
          </a:xfrm>
        </p:spPr>
        <p:txBody>
          <a:bodyPr/>
          <a:lstStyle/>
          <a:p>
            <a:r>
              <a:rPr lang="en-US" dirty="0"/>
              <a:t>Gazebo Versions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BE142-8E85-1DFA-CE50-5A27DEFF5E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186969"/>
            <a:ext cx="13221773" cy="65438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Gazebo versions can be confusing, because there are two choices: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Classic Gazebo (version 11), or Gazebo11 or Gazebo-11 or Classic Gazebo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Ignition Gazebo (version Fortress, Harmonic, </a:t>
            </a:r>
            <a:r>
              <a:rPr lang="en-US" dirty="0" err="1"/>
              <a:t>etc</a:t>
            </a:r>
            <a:r>
              <a:rPr lang="en-US" dirty="0"/>
              <a:t>).  Note that Ignition Gazebo has been renamed to just Gazebo!  This Gazebo choice can be called Gazebo, Ignition Gazebo, Gazebo Sim.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will use Classic Gazebo 11 for Lab 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To Install Classic Gazebo 11 on Ubuntu-desktop 22.04</a:t>
            </a:r>
          </a:p>
          <a:p>
            <a:pPr lvl="1" indent="0">
              <a:buNone/>
            </a:pPr>
            <a:r>
              <a:rPr lang="en-CA" sz="1800" dirty="0" err="1">
                <a:solidFill>
                  <a:srgbClr val="000000"/>
                </a:solidFill>
                <a:latin typeface="Menlo" panose="020B06090308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CA" sz="1800" dirty="0">
                <a:solidFill>
                  <a:srgbClr val="000000"/>
                </a:solidFill>
                <a:latin typeface="Menlo" panose="020B06090308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apt update &amp;&amp; </a:t>
            </a:r>
            <a:r>
              <a:rPr lang="en-CA" sz="1800" dirty="0" err="1">
                <a:solidFill>
                  <a:srgbClr val="000000"/>
                </a:solidFill>
                <a:latin typeface="Menlo" panose="020B06090308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CA" sz="1800" dirty="0">
                <a:solidFill>
                  <a:srgbClr val="000000"/>
                </a:solidFill>
                <a:latin typeface="Menlo" panose="020B06090308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apt upgrade</a:t>
            </a:r>
          </a:p>
          <a:p>
            <a:pPr lvl="1" indent="0">
              <a:buNone/>
            </a:pPr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curl </a:t>
            </a:r>
            <a:r>
              <a:rPr lang="en-CA" sz="1800" dirty="0">
                <a:solidFill>
                  <a:srgbClr val="666600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CA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sSL</a:t>
            </a:r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http</a:t>
            </a:r>
            <a:r>
              <a:rPr lang="en-CA" sz="1800" dirty="0">
                <a:solidFill>
                  <a:srgbClr val="666600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CA" sz="1800" dirty="0">
                <a:solidFill>
                  <a:srgbClr val="880000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CA" sz="1800" dirty="0" err="1">
                <a:solidFill>
                  <a:srgbClr val="880000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get.gazebosim.org</a:t>
            </a:r>
            <a:r>
              <a:rPr lang="en-CA" sz="1800" dirty="0">
                <a:solidFill>
                  <a:srgbClr val="880000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CA" sz="1800" dirty="0" err="1">
                <a:solidFill>
                  <a:srgbClr val="880000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endParaRPr lang="en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23E0B-E765-3709-1ADE-33BB1362511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893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1D8CC-2114-4117-66FC-B0869D314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325020"/>
            <a:ext cx="9475914" cy="658653"/>
          </a:xfrm>
        </p:spPr>
        <p:txBody>
          <a:bodyPr/>
          <a:lstStyle/>
          <a:p>
            <a:r>
              <a:rPr lang="en-US" dirty="0"/>
              <a:t>RL with Create3 robot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FF320-48F0-8816-502E-9750A10552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113470"/>
            <a:ext cx="14122318" cy="7213112"/>
          </a:xfrm>
        </p:spPr>
        <p:txBody>
          <a:bodyPr/>
          <a:lstStyle/>
          <a:p>
            <a:r>
              <a:rPr lang="en-US" dirty="0"/>
              <a:t>First let's imagine applying RL to our Create3 robots from CST8504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Environment: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Image publisher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Recording publisher (we'll ignore voice commands for now)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Agent:</a:t>
            </a:r>
          </a:p>
          <a:p>
            <a:pPr marL="1784423" lvl="1" indent="-514350">
              <a:buFont typeface="Arial" panose="020B0604020202020204" pitchFamily="34" charset="0"/>
              <a:buChar char="•"/>
            </a:pPr>
            <a:r>
              <a:rPr lang="en-US" dirty="0"/>
              <a:t>Hands Module</a:t>
            </a:r>
          </a:p>
          <a:p>
            <a:pPr marL="1784423" lvl="1" indent="-514350">
              <a:buFont typeface="Arial" panose="020B0604020202020204" pitchFamily="34" charset="0"/>
              <a:buChar char="•"/>
            </a:pPr>
            <a:r>
              <a:rPr lang="en-US" dirty="0"/>
              <a:t>Move Module</a:t>
            </a:r>
          </a:p>
          <a:p>
            <a:pPr marL="1784423" lvl="1" indent="-514350">
              <a:buFont typeface="Arial" panose="020B0604020202020204" pitchFamily="34" charset="0"/>
              <a:buChar char="•"/>
            </a:pPr>
            <a:r>
              <a:rPr lang="en-US" dirty="0"/>
              <a:t>Actions: Twist Messages from Move Module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Reward:</a:t>
            </a:r>
          </a:p>
          <a:p>
            <a:pPr marL="1784423" lvl="1" indent="-514350">
              <a:buFont typeface="Arial" panose="020B0604020202020204" pitchFamily="34" charset="0"/>
              <a:buChar char="•"/>
            </a:pPr>
            <a:r>
              <a:rPr lang="en-US" dirty="0"/>
              <a:t>Need to add a reward generator</a:t>
            </a:r>
          </a:p>
          <a:p>
            <a:pPr marL="1784423" lvl="1" indent="-514350">
              <a:buFont typeface="Arial" panose="020B0604020202020204" pitchFamily="34" charset="0"/>
              <a:buChar char="•"/>
            </a:pPr>
            <a:r>
              <a:rPr lang="en-US" dirty="0"/>
              <a:t>Need to be careful with step duration, moving target, </a:t>
            </a:r>
            <a:r>
              <a:rPr lang="en-US" dirty="0" err="1"/>
              <a:t>etc</a:t>
            </a:r>
            <a:endParaRPr lang="en-US" dirty="0"/>
          </a:p>
          <a:p>
            <a:pPr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EE519-2009-2537-A2E2-1FBB11485D0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877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1738-ECCB-890D-20DE-F93A0EFD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Create 3 Setup (Last Semester)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E2A5A-8309-C62A-7D5D-921B5A5E19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BF70AB-BF47-F4D0-A146-B5DBABEC301A}"/>
              </a:ext>
            </a:extLst>
          </p:cNvPr>
          <p:cNvSpPr/>
          <p:nvPr/>
        </p:nvSpPr>
        <p:spPr>
          <a:xfrm>
            <a:off x="11887200" y="4229100"/>
            <a:ext cx="3962400" cy="3886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3</a:t>
            </a:r>
          </a:p>
          <a:p>
            <a:pPr algn="ctr"/>
            <a:r>
              <a:rPr lang="en-US" dirty="0"/>
              <a:t>192.168.186.2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D598E-7F77-4A5B-414A-E567C75F7BCE}"/>
              </a:ext>
            </a:extLst>
          </p:cNvPr>
          <p:cNvSpPr/>
          <p:nvPr/>
        </p:nvSpPr>
        <p:spPr>
          <a:xfrm>
            <a:off x="6000750" y="4791075"/>
            <a:ext cx="5505450" cy="2762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Loaner Laptop</a:t>
            </a:r>
          </a:p>
          <a:p>
            <a:pPr algn="ctr"/>
            <a:r>
              <a:rPr lang="en-US" dirty="0"/>
              <a:t>Camera/Speaker/Microphone</a:t>
            </a:r>
          </a:p>
          <a:p>
            <a:pPr algn="ctr"/>
            <a:r>
              <a:rPr lang="en-US" dirty="0"/>
              <a:t>Ubuntu 22.04/ROS2 Humble</a:t>
            </a:r>
          </a:p>
          <a:p>
            <a:pPr algn="ctr"/>
            <a:r>
              <a:rPr lang="en-US" dirty="0"/>
              <a:t>Wired:192.168.186.3</a:t>
            </a:r>
          </a:p>
          <a:p>
            <a:pPr algn="ctr"/>
            <a:r>
              <a:rPr lang="en-US" dirty="0"/>
              <a:t>WIFI: from your router</a:t>
            </a:r>
          </a:p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FCCFB9-0D55-88D2-CB44-4B0143F8C39C}"/>
              </a:ext>
            </a:extLst>
          </p:cNvPr>
          <p:cNvCxnSpPr>
            <a:cxnSpLocks/>
          </p:cNvCxnSpPr>
          <p:nvPr/>
        </p:nvCxnSpPr>
        <p:spPr>
          <a:xfrm>
            <a:off x="10763250" y="6388802"/>
            <a:ext cx="1752600" cy="0"/>
          </a:xfrm>
          <a:prstGeom prst="straightConnector1">
            <a:avLst/>
          </a:prstGeom>
          <a:ln w="66675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4C438-8893-14BD-ADD5-2512C742F672}"/>
              </a:ext>
            </a:extLst>
          </p:cNvPr>
          <p:cNvSpPr/>
          <p:nvPr/>
        </p:nvSpPr>
        <p:spPr>
          <a:xfrm>
            <a:off x="463648" y="4791075"/>
            <a:ext cx="4813202" cy="24835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Your Laptop</a:t>
            </a:r>
          </a:p>
          <a:p>
            <a:pPr algn="ctr"/>
            <a:r>
              <a:rPr lang="en-US" dirty="0"/>
              <a:t>WIFI: from your router</a:t>
            </a:r>
          </a:p>
        </p:txBody>
      </p:sp>
      <p:pic>
        <p:nvPicPr>
          <p:cNvPr id="13" name="Graphic 12" descr="Wireless">
            <a:extLst>
              <a:ext uri="{FF2B5EF4-FFF2-40B4-BE49-F238E27FC236}">
                <a16:creationId xmlns:a16="http://schemas.microsoft.com/office/drawing/2014/main" id="{5C85DFCC-18F7-15B4-56FB-D25225BA3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3744" y="3971925"/>
            <a:ext cx="914400" cy="914400"/>
          </a:xfrm>
          <a:prstGeom prst="rect">
            <a:avLst/>
          </a:prstGeom>
        </p:spPr>
      </p:pic>
      <p:pic>
        <p:nvPicPr>
          <p:cNvPr id="15" name="Graphic 14" descr="Wireless">
            <a:extLst>
              <a:ext uri="{FF2B5EF4-FFF2-40B4-BE49-F238E27FC236}">
                <a16:creationId xmlns:a16="http://schemas.microsoft.com/office/drawing/2014/main" id="{B007663D-5383-34B7-224A-0D1406802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8344" y="3981450"/>
            <a:ext cx="914400" cy="914400"/>
          </a:xfrm>
          <a:prstGeom prst="rect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90BA2F0-C685-86E5-0EA1-BE9596587B56}"/>
              </a:ext>
            </a:extLst>
          </p:cNvPr>
          <p:cNvSpPr/>
          <p:nvPr/>
        </p:nvSpPr>
        <p:spPr>
          <a:xfrm>
            <a:off x="5652655" y="1704109"/>
            <a:ext cx="10418618" cy="6567055"/>
          </a:xfrm>
          <a:prstGeom prst="roundRect">
            <a:avLst/>
          </a:prstGeom>
          <a:noFill/>
          <a:ln w="666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63F02-3618-C568-D023-D3F7536675E2}"/>
              </a:ext>
            </a:extLst>
          </p:cNvPr>
          <p:cNvSpPr txBox="1"/>
          <p:nvPr/>
        </p:nvSpPr>
        <p:spPr>
          <a:xfrm>
            <a:off x="8419748" y="1965231"/>
            <a:ext cx="642051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Robot of ROS 2 Nodes</a:t>
            </a:r>
          </a:p>
          <a:p>
            <a:r>
              <a:rPr lang="en-US" dirty="0"/>
              <a:t>Nodes on network communicate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1A8A15-93B0-049C-91BB-E2FB4DE6C25B}"/>
              </a:ext>
            </a:extLst>
          </p:cNvPr>
          <p:cNvSpPr txBox="1"/>
          <p:nvPr/>
        </p:nvSpPr>
        <p:spPr>
          <a:xfrm>
            <a:off x="7253125" y="3746746"/>
            <a:ext cx="3738093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Thinking Part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B5CB57-407A-CB13-3B8C-668E0CA522C5}"/>
              </a:ext>
            </a:extLst>
          </p:cNvPr>
          <p:cNvSpPr txBox="1"/>
          <p:nvPr/>
        </p:nvSpPr>
        <p:spPr>
          <a:xfrm>
            <a:off x="11999353" y="3607629"/>
            <a:ext cx="3738093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Wheels/Moving Part</a:t>
            </a:r>
          </a:p>
        </p:txBody>
      </p:sp>
    </p:spTree>
    <p:extLst>
      <p:ext uri="{BB962C8B-B14F-4D97-AF65-F5344CB8AC3E}">
        <p14:creationId xmlns:p14="http://schemas.microsoft.com/office/powerpoint/2010/main" val="171058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1738-ECCB-890D-20DE-F93A0EFD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Create 3 Setup (Simulated)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E2A5A-8309-C62A-7D5D-921B5A5E19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D598E-7F77-4A5B-414A-E567C75F7BCE}"/>
              </a:ext>
            </a:extLst>
          </p:cNvPr>
          <p:cNvSpPr/>
          <p:nvPr/>
        </p:nvSpPr>
        <p:spPr>
          <a:xfrm>
            <a:off x="6000750" y="3462728"/>
            <a:ext cx="9736696" cy="410730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Loaner Laptop</a:t>
            </a:r>
          </a:p>
          <a:p>
            <a:r>
              <a:rPr lang="en-US" dirty="0">
                <a:solidFill>
                  <a:srgbClr val="FF0000"/>
                </a:solidFill>
              </a:rPr>
              <a:t>Camera</a:t>
            </a:r>
            <a:r>
              <a:rPr lang="en-US" dirty="0"/>
              <a:t>/Speaker/Microphone</a:t>
            </a:r>
          </a:p>
          <a:p>
            <a:r>
              <a:rPr lang="en-US" dirty="0"/>
              <a:t>Ubuntu 22.04/ROS2 Humble</a:t>
            </a:r>
          </a:p>
          <a:p>
            <a:pPr algn="ctr"/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90BA2F0-C685-86E5-0EA1-BE9596587B56}"/>
              </a:ext>
            </a:extLst>
          </p:cNvPr>
          <p:cNvSpPr/>
          <p:nvPr/>
        </p:nvSpPr>
        <p:spPr>
          <a:xfrm>
            <a:off x="5652655" y="1704109"/>
            <a:ext cx="10418618" cy="6567055"/>
          </a:xfrm>
          <a:prstGeom prst="roundRect">
            <a:avLst/>
          </a:prstGeom>
          <a:noFill/>
          <a:ln w="666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63F02-3618-C568-D023-D3F7536675E2}"/>
              </a:ext>
            </a:extLst>
          </p:cNvPr>
          <p:cNvSpPr txBox="1"/>
          <p:nvPr/>
        </p:nvSpPr>
        <p:spPr>
          <a:xfrm>
            <a:off x="8419748" y="1965231"/>
            <a:ext cx="6420514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Robot of ROS 2 Nodes</a:t>
            </a:r>
          </a:p>
          <a:p>
            <a:r>
              <a:rPr lang="en-US" dirty="0"/>
              <a:t>Gazebo Nodes are on Laptop</a:t>
            </a:r>
          </a:p>
          <a:p>
            <a:r>
              <a:rPr lang="en-US" b="1" dirty="0"/>
              <a:t>Nodes on Laptop </a:t>
            </a:r>
            <a:r>
              <a:rPr lang="en-US" dirty="0"/>
              <a:t>communicate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1A8A15-93B0-049C-91BB-E2FB4DE6C25B}"/>
              </a:ext>
            </a:extLst>
          </p:cNvPr>
          <p:cNvSpPr txBox="1"/>
          <p:nvPr/>
        </p:nvSpPr>
        <p:spPr>
          <a:xfrm>
            <a:off x="6218167" y="3991034"/>
            <a:ext cx="3738093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Thinking Part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B5CB57-407A-CB13-3B8C-668E0CA522C5}"/>
              </a:ext>
            </a:extLst>
          </p:cNvPr>
          <p:cNvSpPr txBox="1"/>
          <p:nvPr/>
        </p:nvSpPr>
        <p:spPr>
          <a:xfrm>
            <a:off x="11999353" y="3607629"/>
            <a:ext cx="3738093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Wheels/Moving Part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BF70AB-BF47-F4D0-A146-B5DBABEC301A}"/>
              </a:ext>
            </a:extLst>
          </p:cNvPr>
          <p:cNvSpPr/>
          <p:nvPr/>
        </p:nvSpPr>
        <p:spPr>
          <a:xfrm>
            <a:off x="12816591" y="4550317"/>
            <a:ext cx="2533338" cy="258393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3</a:t>
            </a:r>
          </a:p>
          <a:p>
            <a:pPr algn="ctr"/>
            <a:r>
              <a:rPr lang="en-US" dirty="0"/>
              <a:t>Gazebo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57E9C-F848-515F-A51B-7E6D0124D682}"/>
              </a:ext>
            </a:extLst>
          </p:cNvPr>
          <p:cNvSpPr txBox="1"/>
          <p:nvPr/>
        </p:nvSpPr>
        <p:spPr>
          <a:xfrm>
            <a:off x="436980" y="3040082"/>
            <a:ext cx="5034429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still uses the Laptop Camera (remember we made the </a:t>
            </a:r>
            <a:r>
              <a:rPr lang="en-US" dirty="0" err="1"/>
              <a:t>turtlesim</a:t>
            </a:r>
            <a:r>
              <a:rPr lang="en-US" dirty="0"/>
              <a:t> move with our actual hand in front of the laptop camera)</a:t>
            </a:r>
          </a:p>
          <a:p>
            <a:endParaRPr lang="en-US" dirty="0"/>
          </a:p>
          <a:p>
            <a:r>
              <a:rPr lang="en-US" dirty="0"/>
              <a:t>Lab4 involves adding a Virtual Gazebo Camera that sees the Gazebo world</a:t>
            </a:r>
          </a:p>
        </p:txBody>
      </p:sp>
    </p:spTree>
    <p:extLst>
      <p:ext uri="{BB962C8B-B14F-4D97-AF65-F5344CB8AC3E}">
        <p14:creationId xmlns:p14="http://schemas.microsoft.com/office/powerpoint/2010/main" val="2088895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65582-03FE-0587-B3B2-4D63AE2F0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733" y="393612"/>
            <a:ext cx="11823827" cy="820592"/>
          </a:xfrm>
        </p:spPr>
        <p:txBody>
          <a:bodyPr/>
          <a:lstStyle/>
          <a:p>
            <a:r>
              <a:rPr lang="en-US" dirty="0"/>
              <a:t>Why is Gazebo so important for our RL?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69466-1CF6-E07A-2EEC-CB94A4637C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454727"/>
            <a:ext cx="11615780" cy="6788728"/>
          </a:xfrm>
        </p:spPr>
        <p:txBody>
          <a:bodyPr/>
          <a:lstStyle/>
          <a:p>
            <a:r>
              <a:rPr lang="en-US" dirty="0"/>
              <a:t>Assuming we work out the details RL with the Create3, how will we train the agent?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Q: Who is going to move their hand around during training?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What if training takes 3 days, won't that person get tired?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Q: How do we maintain robot safety in early training stages?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During training, the robot tries a dangerous action?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A: If the hand person and the robot are simulated, they can't get tired or hurt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Gazebo can simulate the robot, the person/hand, and the environment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7B472-F4C2-75D5-7CC9-EECCA8DB7AC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244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B6AA-80F8-F2B1-C1CF-CFA47FFB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355007"/>
            <a:ext cx="11387470" cy="722232"/>
          </a:xfrm>
        </p:spPr>
        <p:txBody>
          <a:bodyPr/>
          <a:lstStyle/>
          <a:p>
            <a:r>
              <a:rPr lang="en-US" dirty="0"/>
              <a:t>RL Diagrams so far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3135D-146B-A931-6CD6-CA29D4CDE03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0107CD-1A97-5C1C-E402-DFC5155CC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594" y="850819"/>
            <a:ext cx="7772400" cy="270087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E94148-3C37-CA13-A59B-9E4987A396F1}"/>
              </a:ext>
            </a:extLst>
          </p:cNvPr>
          <p:cNvSpPr/>
          <p:nvPr/>
        </p:nvSpPr>
        <p:spPr>
          <a:xfrm>
            <a:off x="620479" y="4500350"/>
            <a:ext cx="3870543" cy="192900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97D99-8C4F-3E75-DAAD-BBEDC9227284}"/>
              </a:ext>
            </a:extLst>
          </p:cNvPr>
          <p:cNvSpPr txBox="1"/>
          <p:nvPr/>
        </p:nvSpPr>
        <p:spPr>
          <a:xfrm>
            <a:off x="671818" y="4428810"/>
            <a:ext cx="375281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Agent:</a:t>
            </a:r>
          </a:p>
          <a:p>
            <a:r>
              <a:rPr lang="en-US" dirty="0"/>
              <a:t>Q-Learning or</a:t>
            </a:r>
          </a:p>
          <a:p>
            <a:r>
              <a:rPr lang="en-US" dirty="0"/>
              <a:t>Stable-baselines3:</a:t>
            </a:r>
          </a:p>
          <a:p>
            <a:r>
              <a:rPr lang="en-US" dirty="0"/>
              <a:t>DQN or PPO or…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75EFE86-C198-3D54-D14E-EBCF410BFDBA}"/>
              </a:ext>
            </a:extLst>
          </p:cNvPr>
          <p:cNvSpPr/>
          <p:nvPr/>
        </p:nvSpPr>
        <p:spPr>
          <a:xfrm>
            <a:off x="6072225" y="4434214"/>
            <a:ext cx="5354817" cy="215352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1D7F78-F2A4-61A0-51D4-96599194D448}"/>
              </a:ext>
            </a:extLst>
          </p:cNvPr>
          <p:cNvSpPr txBox="1"/>
          <p:nvPr/>
        </p:nvSpPr>
        <p:spPr>
          <a:xfrm>
            <a:off x="6303954" y="4636941"/>
            <a:ext cx="5123097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Gymnasium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Prolog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Swiplserver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B0C725-D1B9-36B8-56CC-BD204BB91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4408" y="2400231"/>
            <a:ext cx="2455983" cy="385852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BADF4D-58CE-A4CF-5FD0-14BA98F4BF4A}"/>
              </a:ext>
            </a:extLst>
          </p:cNvPr>
          <p:cNvCxnSpPr>
            <a:cxnSpLocks/>
          </p:cNvCxnSpPr>
          <p:nvPr/>
        </p:nvCxnSpPr>
        <p:spPr>
          <a:xfrm flipH="1">
            <a:off x="5085567" y="5826944"/>
            <a:ext cx="9866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868E95-D7E4-2013-FC5E-72AE33176256}"/>
              </a:ext>
            </a:extLst>
          </p:cNvPr>
          <p:cNvCxnSpPr>
            <a:cxnSpLocks/>
          </p:cNvCxnSpPr>
          <p:nvPr/>
        </p:nvCxnSpPr>
        <p:spPr>
          <a:xfrm flipH="1">
            <a:off x="5085567" y="5265361"/>
            <a:ext cx="968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562053F-773F-4801-BB78-5D5FB2CA193B}"/>
              </a:ext>
            </a:extLst>
          </p:cNvPr>
          <p:cNvSpPr txBox="1"/>
          <p:nvPr/>
        </p:nvSpPr>
        <p:spPr>
          <a:xfrm>
            <a:off x="5363452" y="4809977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</a:t>
            </a:r>
            <a:r>
              <a:rPr lang="en-US" sz="2000" baseline="-25000" dirty="0"/>
              <a:t>t+1</a:t>
            </a:r>
            <a:endParaRPr lang="en-US" sz="20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6B2328-9A5F-4268-63AC-7C37952014CA}"/>
              </a:ext>
            </a:extLst>
          </p:cNvPr>
          <p:cNvCxnSpPr/>
          <p:nvPr/>
        </p:nvCxnSpPr>
        <p:spPr>
          <a:xfrm>
            <a:off x="5085567" y="4972833"/>
            <a:ext cx="0" cy="118760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F1E6343-03CC-822D-37E5-723BE7B60287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2555750" y="4158641"/>
            <a:ext cx="1" cy="3417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74B908-F4E2-CE68-E0B2-D0C6AE49A908}"/>
              </a:ext>
            </a:extLst>
          </p:cNvPr>
          <p:cNvCxnSpPr>
            <a:cxnSpLocks/>
          </p:cNvCxnSpPr>
          <p:nvPr/>
        </p:nvCxnSpPr>
        <p:spPr>
          <a:xfrm flipV="1">
            <a:off x="2555750" y="4121815"/>
            <a:ext cx="6193884" cy="17439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6CA685-1BC1-39E8-0ECD-A5A01FF0561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749634" y="4121815"/>
            <a:ext cx="0" cy="312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596FF9F-E534-A9A9-8D01-DA30CB6FF5B5}"/>
              </a:ext>
            </a:extLst>
          </p:cNvPr>
          <p:cNvCxnSpPr>
            <a:cxnSpLocks/>
          </p:cNvCxnSpPr>
          <p:nvPr/>
        </p:nvCxnSpPr>
        <p:spPr>
          <a:xfrm flipH="1">
            <a:off x="4491022" y="5826944"/>
            <a:ext cx="5945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8C2664E-5148-9EF8-FE29-221A9BC68FB3}"/>
              </a:ext>
            </a:extLst>
          </p:cNvPr>
          <p:cNvCxnSpPr>
            <a:cxnSpLocks/>
          </p:cNvCxnSpPr>
          <p:nvPr/>
        </p:nvCxnSpPr>
        <p:spPr>
          <a:xfrm flipH="1">
            <a:off x="4491022" y="5265361"/>
            <a:ext cx="535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D440BAE-7F5E-106B-5DD1-2D5C0295DF5E}"/>
              </a:ext>
            </a:extLst>
          </p:cNvPr>
          <p:cNvSpPr txBox="1"/>
          <p:nvPr/>
        </p:nvSpPr>
        <p:spPr>
          <a:xfrm>
            <a:off x="5411284" y="5377577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</a:t>
            </a:r>
            <a:r>
              <a:rPr lang="en-US" sz="2000" baseline="-25000" dirty="0"/>
              <a:t>t+1</a:t>
            </a:r>
            <a:endParaRPr lang="en-US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AC8A43-F997-CB57-CF62-0980C82A0874}"/>
              </a:ext>
            </a:extLst>
          </p:cNvPr>
          <p:cNvSpPr txBox="1"/>
          <p:nvPr/>
        </p:nvSpPr>
        <p:spPr>
          <a:xfrm>
            <a:off x="4508762" y="4797662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</a:t>
            </a:r>
            <a:r>
              <a:rPr lang="en-US" sz="2000" baseline="-25000" dirty="0"/>
              <a:t>t</a:t>
            </a:r>
            <a:endParaRPr lang="en-US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466294-492A-450D-73D9-57547AF8F66F}"/>
              </a:ext>
            </a:extLst>
          </p:cNvPr>
          <p:cNvSpPr txBox="1"/>
          <p:nvPr/>
        </p:nvSpPr>
        <p:spPr>
          <a:xfrm>
            <a:off x="4491022" y="5350781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</a:t>
            </a:r>
            <a:r>
              <a:rPr lang="en-US" sz="2000" baseline="-25000" dirty="0"/>
              <a:t>t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DA76D5-DA7D-E26A-298C-5ADA5C063D8E}"/>
              </a:ext>
            </a:extLst>
          </p:cNvPr>
          <p:cNvSpPr txBox="1"/>
          <p:nvPr/>
        </p:nvSpPr>
        <p:spPr>
          <a:xfrm>
            <a:off x="5151962" y="3654116"/>
            <a:ext cx="1943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action </a:t>
            </a:r>
            <a:r>
              <a:rPr lang="en-US" sz="2000" i="1" dirty="0"/>
              <a:t>A</a:t>
            </a:r>
            <a:r>
              <a:rPr lang="en-US" sz="2000" i="1" baseline="-25000" dirty="0"/>
              <a:t>t</a:t>
            </a:r>
            <a:r>
              <a:rPr lang="en-US" sz="2000" dirty="0"/>
              <a:t> 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6AE912E-E9F4-FC70-CCC2-FA1964EBC152}"/>
              </a:ext>
            </a:extLst>
          </p:cNvPr>
          <p:cNvCxnSpPr/>
          <p:nvPr/>
        </p:nvCxnSpPr>
        <p:spPr>
          <a:xfrm flipV="1">
            <a:off x="10070926" y="4054226"/>
            <a:ext cx="0" cy="3370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06DBAA-4766-B71D-917E-E47207ED43AA}"/>
              </a:ext>
            </a:extLst>
          </p:cNvPr>
          <p:cNvCxnSpPr>
            <a:cxnSpLocks/>
          </p:cNvCxnSpPr>
          <p:nvPr/>
        </p:nvCxnSpPr>
        <p:spPr>
          <a:xfrm>
            <a:off x="10083452" y="4054226"/>
            <a:ext cx="19909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B344BA0-AE12-190E-235C-21DB83E5ACC3}"/>
              </a:ext>
            </a:extLst>
          </p:cNvPr>
          <p:cNvSpPr txBox="1"/>
          <p:nvPr/>
        </p:nvSpPr>
        <p:spPr>
          <a:xfrm>
            <a:off x="10563661" y="3646603"/>
            <a:ext cx="109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render()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DD91DB-D89F-8FCB-94F5-AFFDF8136630}"/>
              </a:ext>
            </a:extLst>
          </p:cNvPr>
          <p:cNvSpPr txBox="1"/>
          <p:nvPr/>
        </p:nvSpPr>
        <p:spPr>
          <a:xfrm>
            <a:off x="12657595" y="1922476"/>
            <a:ext cx="1181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PyGame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39152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F632-47D3-4C55-66F0-F4DCB427E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532838"/>
            <a:ext cx="14701940" cy="852617"/>
          </a:xfrm>
        </p:spPr>
        <p:txBody>
          <a:bodyPr/>
          <a:lstStyle/>
          <a:p>
            <a:r>
              <a:rPr lang="en-US" dirty="0"/>
              <a:t>Where do ROS 2  and Gazebo fit into this picture?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26702-C1AB-BF63-9B96-40759518D9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836497"/>
            <a:ext cx="14288574" cy="621299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Robot Operating System (ROS 1 and ROS 2) is a set of software libraries and tools for building robot applications.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Gazebo supports ROS integration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Gazebo version of Create3 publishes on ROS 2 topics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7A27C-3BF4-49FA-1E60-879A204A81C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495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B6AA-80F8-F2B1-C1CF-CFA47FFB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355007"/>
            <a:ext cx="11387470" cy="722232"/>
          </a:xfrm>
        </p:spPr>
        <p:txBody>
          <a:bodyPr/>
          <a:lstStyle/>
          <a:p>
            <a:r>
              <a:rPr lang="en-US" dirty="0"/>
              <a:t>RL Diagrams with virtual Create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3135D-146B-A931-6CD6-CA29D4CDE03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E94148-3C37-CA13-A59B-9E4987A396F1}"/>
              </a:ext>
            </a:extLst>
          </p:cNvPr>
          <p:cNvSpPr/>
          <p:nvPr/>
        </p:nvSpPr>
        <p:spPr>
          <a:xfrm>
            <a:off x="620479" y="4500350"/>
            <a:ext cx="3870543" cy="192900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97D99-8C4F-3E75-DAAD-BBEDC9227284}"/>
              </a:ext>
            </a:extLst>
          </p:cNvPr>
          <p:cNvSpPr txBox="1"/>
          <p:nvPr/>
        </p:nvSpPr>
        <p:spPr>
          <a:xfrm>
            <a:off x="671818" y="4428810"/>
            <a:ext cx="375281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Agent:</a:t>
            </a:r>
          </a:p>
          <a:p>
            <a:r>
              <a:rPr lang="en-US" dirty="0"/>
              <a:t>Q-Learning or</a:t>
            </a:r>
          </a:p>
          <a:p>
            <a:r>
              <a:rPr lang="en-US" dirty="0"/>
              <a:t>Stable-baselines3:</a:t>
            </a:r>
          </a:p>
          <a:p>
            <a:r>
              <a:rPr lang="en-US" dirty="0"/>
              <a:t>DQN or PPO or…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75EFE86-C198-3D54-D14E-EBCF410BFDBA}"/>
              </a:ext>
            </a:extLst>
          </p:cNvPr>
          <p:cNvSpPr/>
          <p:nvPr/>
        </p:nvSpPr>
        <p:spPr>
          <a:xfrm>
            <a:off x="6072225" y="4434214"/>
            <a:ext cx="5354817" cy="215352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1D7F78-F2A4-61A0-51D4-96599194D448}"/>
              </a:ext>
            </a:extLst>
          </p:cNvPr>
          <p:cNvSpPr txBox="1"/>
          <p:nvPr/>
        </p:nvSpPr>
        <p:spPr>
          <a:xfrm>
            <a:off x="6303954" y="4636941"/>
            <a:ext cx="5123097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Gymnasium Environment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BADF4D-58CE-A4CF-5FD0-14BA98F4BF4A}"/>
              </a:ext>
            </a:extLst>
          </p:cNvPr>
          <p:cNvCxnSpPr>
            <a:cxnSpLocks/>
          </p:cNvCxnSpPr>
          <p:nvPr/>
        </p:nvCxnSpPr>
        <p:spPr>
          <a:xfrm flipH="1">
            <a:off x="5085567" y="5826944"/>
            <a:ext cx="9866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868E95-D7E4-2013-FC5E-72AE33176256}"/>
              </a:ext>
            </a:extLst>
          </p:cNvPr>
          <p:cNvCxnSpPr>
            <a:cxnSpLocks/>
          </p:cNvCxnSpPr>
          <p:nvPr/>
        </p:nvCxnSpPr>
        <p:spPr>
          <a:xfrm flipH="1">
            <a:off x="5085567" y="5265361"/>
            <a:ext cx="968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562053F-773F-4801-BB78-5D5FB2CA193B}"/>
              </a:ext>
            </a:extLst>
          </p:cNvPr>
          <p:cNvSpPr txBox="1"/>
          <p:nvPr/>
        </p:nvSpPr>
        <p:spPr>
          <a:xfrm>
            <a:off x="5363452" y="4809977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</a:t>
            </a:r>
            <a:r>
              <a:rPr lang="en-US" sz="2000" baseline="-25000" dirty="0"/>
              <a:t>t+1</a:t>
            </a:r>
            <a:endParaRPr lang="en-US" sz="20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6B2328-9A5F-4268-63AC-7C37952014CA}"/>
              </a:ext>
            </a:extLst>
          </p:cNvPr>
          <p:cNvCxnSpPr/>
          <p:nvPr/>
        </p:nvCxnSpPr>
        <p:spPr>
          <a:xfrm>
            <a:off x="5085567" y="4972833"/>
            <a:ext cx="0" cy="118760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F1E6343-03CC-822D-37E5-723BE7B60287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2555750" y="4158641"/>
            <a:ext cx="1" cy="3417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74B908-F4E2-CE68-E0B2-D0C6AE49A908}"/>
              </a:ext>
            </a:extLst>
          </p:cNvPr>
          <p:cNvCxnSpPr>
            <a:cxnSpLocks/>
          </p:cNvCxnSpPr>
          <p:nvPr/>
        </p:nvCxnSpPr>
        <p:spPr>
          <a:xfrm flipV="1">
            <a:off x="2555750" y="4121815"/>
            <a:ext cx="6193884" cy="17439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6CA685-1BC1-39E8-0ECD-A5A01FF0561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749634" y="4121815"/>
            <a:ext cx="0" cy="312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596FF9F-E534-A9A9-8D01-DA30CB6FF5B5}"/>
              </a:ext>
            </a:extLst>
          </p:cNvPr>
          <p:cNvCxnSpPr>
            <a:cxnSpLocks/>
          </p:cNvCxnSpPr>
          <p:nvPr/>
        </p:nvCxnSpPr>
        <p:spPr>
          <a:xfrm flipH="1">
            <a:off x="4491022" y="5826944"/>
            <a:ext cx="5945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8C2664E-5148-9EF8-FE29-221A9BC68FB3}"/>
              </a:ext>
            </a:extLst>
          </p:cNvPr>
          <p:cNvCxnSpPr>
            <a:cxnSpLocks/>
          </p:cNvCxnSpPr>
          <p:nvPr/>
        </p:nvCxnSpPr>
        <p:spPr>
          <a:xfrm flipH="1">
            <a:off x="4491022" y="5265361"/>
            <a:ext cx="535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D440BAE-7F5E-106B-5DD1-2D5C0295DF5E}"/>
              </a:ext>
            </a:extLst>
          </p:cNvPr>
          <p:cNvSpPr txBox="1"/>
          <p:nvPr/>
        </p:nvSpPr>
        <p:spPr>
          <a:xfrm>
            <a:off x="5411284" y="5377577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</a:t>
            </a:r>
            <a:r>
              <a:rPr lang="en-US" sz="2000" baseline="-25000" dirty="0"/>
              <a:t>t+1</a:t>
            </a:r>
            <a:endParaRPr lang="en-US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AC8A43-F997-CB57-CF62-0980C82A0874}"/>
              </a:ext>
            </a:extLst>
          </p:cNvPr>
          <p:cNvSpPr txBox="1"/>
          <p:nvPr/>
        </p:nvSpPr>
        <p:spPr>
          <a:xfrm>
            <a:off x="4508762" y="4797662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</a:t>
            </a:r>
            <a:r>
              <a:rPr lang="en-US" sz="2000" baseline="-25000" dirty="0"/>
              <a:t>t</a:t>
            </a:r>
            <a:endParaRPr lang="en-US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466294-492A-450D-73D9-57547AF8F66F}"/>
              </a:ext>
            </a:extLst>
          </p:cNvPr>
          <p:cNvSpPr txBox="1"/>
          <p:nvPr/>
        </p:nvSpPr>
        <p:spPr>
          <a:xfrm>
            <a:off x="4491022" y="5350781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</a:t>
            </a:r>
            <a:r>
              <a:rPr lang="en-US" sz="2000" baseline="-25000" dirty="0"/>
              <a:t>t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DA76D5-DA7D-E26A-298C-5ADA5C063D8E}"/>
              </a:ext>
            </a:extLst>
          </p:cNvPr>
          <p:cNvSpPr txBox="1"/>
          <p:nvPr/>
        </p:nvSpPr>
        <p:spPr>
          <a:xfrm>
            <a:off x="5151962" y="3654116"/>
            <a:ext cx="1943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action </a:t>
            </a:r>
            <a:r>
              <a:rPr lang="en-US" sz="2000" i="1" dirty="0"/>
              <a:t>A</a:t>
            </a:r>
            <a:r>
              <a:rPr lang="en-US" sz="2000" i="1" baseline="-25000" dirty="0"/>
              <a:t>t</a:t>
            </a:r>
            <a:r>
              <a:rPr lang="en-US" sz="2000" dirty="0"/>
              <a:t> 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6AE912E-E9F4-FC70-CCC2-FA1964EBC152}"/>
              </a:ext>
            </a:extLst>
          </p:cNvPr>
          <p:cNvCxnSpPr/>
          <p:nvPr/>
        </p:nvCxnSpPr>
        <p:spPr>
          <a:xfrm flipV="1">
            <a:off x="10070926" y="4054226"/>
            <a:ext cx="0" cy="3370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06DBAA-4766-B71D-917E-E47207ED43AA}"/>
              </a:ext>
            </a:extLst>
          </p:cNvPr>
          <p:cNvCxnSpPr>
            <a:cxnSpLocks/>
          </p:cNvCxnSpPr>
          <p:nvPr/>
        </p:nvCxnSpPr>
        <p:spPr>
          <a:xfrm>
            <a:off x="10083452" y="4054226"/>
            <a:ext cx="13435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3A83222-6956-5D84-E1F6-293D31B3A408}"/>
              </a:ext>
            </a:extLst>
          </p:cNvPr>
          <p:cNvSpPr/>
          <p:nvPr/>
        </p:nvSpPr>
        <p:spPr>
          <a:xfrm>
            <a:off x="11439567" y="2009753"/>
            <a:ext cx="3903312" cy="30079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E8D1FF5-6A06-01AC-E294-2F5E4A142818}"/>
              </a:ext>
            </a:extLst>
          </p:cNvPr>
          <p:cNvSpPr/>
          <p:nvPr/>
        </p:nvSpPr>
        <p:spPr>
          <a:xfrm>
            <a:off x="13093702" y="2905841"/>
            <a:ext cx="2143593" cy="21165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CE1A8A-6471-CD26-B38D-A86F768D083B}"/>
              </a:ext>
            </a:extLst>
          </p:cNvPr>
          <p:cNvSpPr txBox="1"/>
          <p:nvPr/>
        </p:nvSpPr>
        <p:spPr>
          <a:xfrm>
            <a:off x="12347305" y="2338466"/>
            <a:ext cx="1577676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Gazebo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EA56E20-C269-7AA2-996D-E1240F51BF0B}"/>
              </a:ext>
            </a:extLst>
          </p:cNvPr>
          <p:cNvSpPr/>
          <p:nvPr/>
        </p:nvSpPr>
        <p:spPr>
          <a:xfrm>
            <a:off x="230896" y="1321514"/>
            <a:ext cx="15823570" cy="6743194"/>
          </a:xfrm>
          <a:prstGeom prst="roundRect">
            <a:avLst/>
          </a:prstGeom>
          <a:noFill/>
          <a:ln w="317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0C775B-8A64-0E15-933B-0703ED512B6A}"/>
              </a:ext>
            </a:extLst>
          </p:cNvPr>
          <p:cNvSpPr txBox="1"/>
          <p:nvPr/>
        </p:nvSpPr>
        <p:spPr>
          <a:xfrm>
            <a:off x="2188562" y="1808348"/>
            <a:ext cx="733018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Loaner Laptop</a:t>
            </a:r>
          </a:p>
          <a:p>
            <a:r>
              <a:rPr lang="en-US" dirty="0"/>
              <a:t>ROS 2 Nodes Communicating </a:t>
            </a:r>
          </a:p>
        </p:txBody>
      </p:sp>
    </p:spTree>
    <p:extLst>
      <p:ext uri="{BB962C8B-B14F-4D97-AF65-F5344CB8AC3E}">
        <p14:creationId xmlns:p14="http://schemas.microsoft.com/office/powerpoint/2010/main" val="950633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B9CAC-4DA9-C7E5-FB24-D7C8AA0D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iRobot Create 3 Simulator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9A9CD-3E12-EC4E-FE8F-0DB412FE57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404534"/>
            <a:ext cx="14866829" cy="5130800"/>
          </a:xfrm>
        </p:spPr>
        <p:txBody>
          <a:bodyPr/>
          <a:lstStyle/>
          <a:p>
            <a:r>
              <a:rPr lang="en-US" b="1" dirty="0"/>
              <a:t>iRobot</a:t>
            </a:r>
            <a:r>
              <a:rPr lang="en-US" dirty="0"/>
              <a:t> has already done the work of creating the Gazebo simulated </a:t>
            </a:r>
            <a:r>
              <a:rPr lang="en-US" b="1" dirty="0"/>
              <a:t>Create 3</a:t>
            </a:r>
          </a:p>
          <a:p>
            <a:r>
              <a:rPr lang="en-US" b="1" dirty="0"/>
              <a:t>AWS</a:t>
            </a:r>
            <a:r>
              <a:rPr lang="en-US" dirty="0"/>
              <a:t> has already done the work of creating the Gazebo </a:t>
            </a:r>
            <a:r>
              <a:rPr lang="en-US" b="1" dirty="0"/>
              <a:t>AWS small house world</a:t>
            </a:r>
          </a:p>
          <a:p>
            <a:r>
              <a:rPr lang="en-US" dirty="0"/>
              <a:t>iRobot Create 3 Simulator: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https://iroboteducation.github.io/create3_docs/sim/setup/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Instructions for installing and running (we use Classic Gazebo 11):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https://github.com/iRobotEducation/create3_sim</a:t>
            </a:r>
            <a:endParaRPr lang="en-US" dirty="0"/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6664-2781-7BD8-757B-4F3987BE7DD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094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ED3DE-4F3A-D8BA-1394-B28E7BC9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Camera to Create3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03765-4F72-ECD9-9B01-A4E6DA0588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454045"/>
            <a:ext cx="11615780" cy="6655633"/>
          </a:xfrm>
        </p:spPr>
        <p:txBody>
          <a:bodyPr/>
          <a:lstStyle/>
          <a:p>
            <a:r>
              <a:rPr lang="en-US" dirty="0"/>
              <a:t>Unified Robotic Description Format (</a:t>
            </a:r>
            <a:r>
              <a:rPr lang="en-US" b="1" dirty="0"/>
              <a:t>URDF</a:t>
            </a:r>
            <a:r>
              <a:rPr lang="en-US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File format used in ROS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File format used for Create 3 simulator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Build process will convert this to SDF</a:t>
            </a:r>
          </a:p>
          <a:p>
            <a:r>
              <a:rPr lang="en-US" dirty="0"/>
              <a:t>Simulation Description Format (</a:t>
            </a:r>
            <a:r>
              <a:rPr lang="en-US" b="1" dirty="0"/>
              <a:t>SDF</a:t>
            </a:r>
            <a:r>
              <a:rPr lang="en-US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New format created for use in Gazebo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Intended to address shortcomings of URDF</a:t>
            </a:r>
          </a:p>
          <a:p>
            <a:r>
              <a:rPr lang="en-US" dirty="0" err="1"/>
              <a:t>Xacro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XML macro language (both URDF and SDF are XML)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D98F8-4B78-3A4E-C52A-0343412AC4B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17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DB61A-B816-6372-3CD8-23D6F047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URDF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89692-829C-E8F0-C9DB-2B44EE7B3E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404534"/>
            <a:ext cx="14297203" cy="5130800"/>
          </a:xfrm>
        </p:spPr>
        <p:txBody>
          <a:bodyPr/>
          <a:lstStyle/>
          <a:p>
            <a:r>
              <a:rPr lang="en-US" dirty="0"/>
              <a:t>We won't be digging deeper than just adding our camera in Lab 4, but for those who want to dig deeper:</a:t>
            </a:r>
          </a:p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https://docs.ros.org/en/iron/Tutorials/Intermediate/URDF/Building-a-Visual-Robot-Model-with-URDF-from-Scratch.html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98E169-82AC-0E41-8F28-D0BEC67503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521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FEF4D-B85A-7F3A-EAAD-3717738B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Rviz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C912F-B8AE-24BA-8C31-D7F8577A19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14027380" cy="5130800"/>
          </a:xfrm>
        </p:spPr>
        <p:txBody>
          <a:bodyPr/>
          <a:lstStyle/>
          <a:p>
            <a:r>
              <a:rPr lang="en-CA" dirty="0">
                <a:solidFill>
                  <a:srgbClr val="3C454E"/>
                </a:solidFill>
                <a:latin typeface="Lato" panose="020F0502020204030203" pitchFamily="34" charset="0"/>
              </a:rPr>
              <a:t>G</a:t>
            </a:r>
            <a:r>
              <a:rPr lang="en-CA" b="0" i="0" u="none" strike="noStrike" dirty="0">
                <a:solidFill>
                  <a:srgbClr val="3C454E"/>
                </a:solidFill>
                <a:effectLst/>
                <a:latin typeface="Lato" panose="020F0502020204030203" pitchFamily="34" charset="0"/>
              </a:rPr>
              <a:t>raphical interface for viewing robot, sensor data, maps, and more.</a:t>
            </a:r>
            <a:endParaRPr lang="en-US" dirty="0"/>
          </a:p>
          <a:p>
            <a:r>
              <a:rPr lang="en-US" dirty="0">
                <a:hlinkClick r:id="rId2"/>
              </a:rPr>
              <a:t>https://turtlebot.github.io/turtlebot4-user-manual/software/rviz.html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5B531-5C92-5402-79D1-8686B8CEA89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047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0317F-BBAD-7463-991A-EF14D51E7C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330035"/>
            <a:ext cx="14607227" cy="677487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DP is a collection of algorithms to compute optimal policies </a:t>
            </a:r>
            <a:r>
              <a:rPr lang="en-US" b="1" dirty="0"/>
              <a:t>given a perfect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Policy Evaluation: </a:t>
            </a:r>
            <a:r>
              <a:rPr lang="en-CA" dirty="0">
                <a:effectLst/>
              </a:rPr>
              <a:t>compute the state-value function v for an arbitrary policy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b="1" dirty="0"/>
              <a:t>Iteratively</a:t>
            </a:r>
            <a:r>
              <a:rPr lang="en-CA" dirty="0"/>
              <a:t> follow the policy, use Bellman Equation to update value function (</a:t>
            </a:r>
            <a:r>
              <a:rPr lang="en-CA" b="1" dirty="0"/>
              <a:t>keep doing this</a:t>
            </a:r>
            <a:r>
              <a:rPr lang="en-CA" dirty="0"/>
              <a:t> until differences from previous are "small")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Policy Improvement: make it greedy with respect to the new value function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Policy Iteration: iterate policy evaluation and improvement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>
                <a:effectLst/>
              </a:rPr>
              <a:t>drawback is that each of its iterations involves policy evaluation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Value Iteration: like Policy Iteration but…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>
                <a:effectLst/>
              </a:rPr>
              <a:t>Difference is that Policy Evaluation is stopped after one iteration</a:t>
            </a:r>
          </a:p>
          <a:p>
            <a:pPr lvl="1" indent="0">
              <a:buNone/>
            </a:pPr>
            <a:endParaRPr lang="en-CA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CAF2B-8A31-029D-C4EC-635213E489C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8BCF5-AAB6-1109-04E7-56B7B48B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89" y="371104"/>
            <a:ext cx="10575555" cy="667987"/>
          </a:xfrm>
        </p:spPr>
        <p:txBody>
          <a:bodyPr/>
          <a:lstStyle/>
          <a:p>
            <a:r>
              <a:rPr lang="en-US" dirty="0"/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4124507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3E2F-3C25-3CA8-81F0-C585F951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84933-D3F3-50E8-A9D3-A87EE98C4F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 implements iterative value iteration:</a:t>
            </a:r>
          </a:p>
          <a:p>
            <a:r>
              <a:rPr lang="en-CA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dynamic.ipynb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798104-FD76-6C4F-7C21-4FAE2EC001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060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BF39E-1537-E0B9-1EAE-E031D4F3D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730651"/>
          </a:xfrm>
        </p:spPr>
        <p:txBody>
          <a:bodyPr/>
          <a:lstStyle/>
          <a:p>
            <a:r>
              <a:rPr lang="en-US" dirty="0"/>
              <a:t>Monte Carlo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CBD45-F4E5-3D43-8D19-607E6709FB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723869"/>
            <a:ext cx="14147302" cy="6295869"/>
          </a:xfrm>
        </p:spPr>
        <p:txBody>
          <a:bodyPr/>
          <a:lstStyle/>
          <a:p>
            <a:r>
              <a:rPr lang="en-US" dirty="0"/>
              <a:t>Dynamic Programming required knowing the model in advance (results of actions)</a:t>
            </a:r>
          </a:p>
          <a:p>
            <a:r>
              <a:rPr lang="en-US" dirty="0"/>
              <a:t>Monte Carlo methods are based on averaging sample returns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Complete an episode and afterwards, record the returns such that returns are averaged over time</a:t>
            </a:r>
          </a:p>
          <a:p>
            <a:r>
              <a:rPr lang="en-US" dirty="0"/>
              <a:t>All episodes must terminate</a:t>
            </a:r>
          </a:p>
          <a:p>
            <a:r>
              <a:rPr lang="en-US" dirty="0"/>
              <a:t>State looping: distinguish between visits to the same state in a single episode: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	first-visit methods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	every-visit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35548-ABD2-AC3B-9A29-716933B7848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521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D006-2769-4003-8F11-68B320248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66901-7EA3-C0B1-1785-E4BBFEDB13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How to ensure every action is tried: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Exploring starts: try a random state/action pair at the beginning of each episode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Can't be used with an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Consider only policies that are stochastic with a nonzero probability of selecting all actions in each state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epsilon-soft policies: every action has a chance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epsilon-greedy: example of epsilon-soft policy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D7E44-2398-EF93-3653-126ABB6482A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197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FA9A8-9C47-4C8A-88A7-4C4FEC6BF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840301"/>
          </a:xfrm>
        </p:spPr>
        <p:txBody>
          <a:bodyPr/>
          <a:lstStyle/>
          <a:p>
            <a:r>
              <a:rPr lang="en-US" dirty="0"/>
              <a:t>Monte Carlo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11CE5-84DE-08D1-0170-20C41CFDC1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738859"/>
            <a:ext cx="13802528" cy="5796475"/>
          </a:xfrm>
        </p:spPr>
        <p:txBody>
          <a:bodyPr/>
          <a:lstStyle/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The agent goes to the end of an episode without changing the Q-table</a:t>
            </a:r>
          </a:p>
          <a:p>
            <a:r>
              <a:rPr lang="en-CA" dirty="0">
                <a:solidFill>
                  <a:srgbClr val="000000"/>
                </a:solidFill>
                <a:latin typeface="Menlo" panose="020B0609030804020204" pitchFamily="49" charset="0"/>
              </a:rPr>
              <a:t>After an episode ends, the agent backs up and updates the q-table (just until the first change)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CA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CA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monte_carlo.ipynb</a:t>
            </a: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implements algorithm on Page 111 of Sutton + </a:t>
            </a:r>
            <a:r>
              <a:rPr lang="en-CA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Barto</a:t>
            </a: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textbook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EC454-C712-946F-3C4D-EB9F482CE7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524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44151</TotalTime>
  <Words>1116</Words>
  <Application>Microsoft Macintosh PowerPoint</Application>
  <PresentationFormat>Custom</PresentationFormat>
  <Paragraphs>190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Lato</vt:lpstr>
      <vt:lpstr>Menlo</vt:lpstr>
      <vt:lpstr>Wingdings</vt:lpstr>
      <vt:lpstr>Office Theme</vt:lpstr>
      <vt:lpstr>CST8509 Part II</vt:lpstr>
      <vt:lpstr>Today's Agenda</vt:lpstr>
      <vt:lpstr>Toolbox</vt:lpstr>
      <vt:lpstr>Gazebo</vt:lpstr>
      <vt:lpstr>Gazebo Versions</vt:lpstr>
      <vt:lpstr>RL with Create3 robot</vt:lpstr>
      <vt:lpstr>Our Create 3 Setup (Last Semester)</vt:lpstr>
      <vt:lpstr>Our Create 3 Setup (Simulated)</vt:lpstr>
      <vt:lpstr>Why is Gazebo so important for our RL?</vt:lpstr>
      <vt:lpstr>RL Diagrams so far</vt:lpstr>
      <vt:lpstr>Where do ROS 2  and Gazebo fit into this picture?</vt:lpstr>
      <vt:lpstr>RL Diagrams with virtual Create 3</vt:lpstr>
      <vt:lpstr>iRobot Create 3 Simulator</vt:lpstr>
      <vt:lpstr>Adding a Camera to Create3</vt:lpstr>
      <vt:lpstr>URDF Details</vt:lpstr>
      <vt:lpstr>Rviz</vt:lpstr>
      <vt:lpstr>Dynamic Programming</vt:lpstr>
      <vt:lpstr>Dynamic Programming </vt:lpstr>
      <vt:lpstr>Monte Carlo</vt:lpstr>
      <vt:lpstr>MC methods</vt:lpstr>
      <vt:lpstr>Monte Carlo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255</cp:revision>
  <cp:lastPrinted>2024-01-16T20:20:34Z</cp:lastPrinted>
  <dcterms:created xsi:type="dcterms:W3CDTF">2016-12-21T16:02:28Z</dcterms:created>
  <dcterms:modified xsi:type="dcterms:W3CDTF">2025-03-17T15:35:25Z</dcterms:modified>
</cp:coreProperties>
</file>
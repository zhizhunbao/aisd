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57" r:id="rId5"/>
    <p:sldId id="263" r:id="rId6"/>
    <p:sldId id="264" r:id="rId7"/>
    <p:sldId id="267" r:id="rId8"/>
    <p:sldId id="265" r:id="rId9"/>
    <p:sldId id="266" r:id="rId10"/>
    <p:sldId id="258" r:id="rId11"/>
    <p:sldId id="268" r:id="rId12"/>
    <p:sldId id="269" r:id="rId13"/>
    <p:sldId id="270" r:id="rId14"/>
    <p:sldId id="271" r:id="rId15"/>
    <p:sldId id="272" r:id="rId16"/>
    <p:sldId id="273" r:id="rId17"/>
    <p:sldId id="259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engine/install/ubuntu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reference/cli/docker/compose/exec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&amp; Docker Compose Primer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67854" cy="4525963"/>
          </a:xfrm>
        </p:spPr>
        <p:txBody>
          <a:bodyPr/>
          <a:lstStyle/>
          <a:p>
            <a:r>
              <a:rPr dirty="0"/>
              <a:t>Why containers?</a:t>
            </a:r>
          </a:p>
          <a:p>
            <a:r>
              <a:rPr dirty="0"/>
              <a:t>Reproducible environments</a:t>
            </a:r>
          </a:p>
          <a:p>
            <a:r>
              <a:rPr dirty="0"/>
              <a:t>Portable across machines</a:t>
            </a:r>
          </a:p>
          <a:p>
            <a:r>
              <a:rPr dirty="0"/>
              <a:t>Clean isolation of ROS2 + Gazebo + Python </a:t>
            </a:r>
            <a:r>
              <a:rPr dirty="0" err="1"/>
              <a:t>venv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71139-EE7F-D6E3-0EFB-F8404105A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1D3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Docker Image (The Blueprint)</a:t>
            </a:r>
            <a:b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1D3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A99007-6B32-1F55-6B4F-7D4FA98733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1272475"/>
            <a:ext cx="8534399" cy="54476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An image is a read-only, executable package that includes everything needed to run an application—code, runtime, libraries, environment variables, and config files. 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Immutable: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Once built, an image cannot be changed. If you update the code, you must build a new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Layered: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Images are made of multiple stacked layers (e.g., a base OS layer, a runtime layer, and an app layer).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Source: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You create images from a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Dockerfile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, which is a script containing all the build instructions.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Storage: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They are stored on disk and can be shared via registries like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1A0DAB"/>
                </a:solidFill>
                <a:effectLst/>
                <a:latin typeface="+mn-lt"/>
                <a:hlinkClick r:id="rId2"/>
              </a:rPr>
              <a:t>Docker Hub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113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87368-14D1-1AA1-8C11-642135AD5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1D3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Docker Container (The Instance)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A1CD8C-2462-97E4-8C8D-26225B94DF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8927" y="989658"/>
            <a:ext cx="8955074" cy="5878532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A container is a live, isolated execution unit created from an image. 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Mutable: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Containers have a thin "writable layer" on top of the read-only image. This allows them to write logs or temporary data during runtime without affecting the original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Isolated: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Every container has its own file system, network stack, and process space, even if multiple containers are running from the same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Ephemeral: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Containers are meant to be temporary. When a container is deleted, any changes in its writable layer are lost unless they were saved to persistent volumes.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Action: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You start a container using the docker run command.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355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Images vs Containers</a:t>
            </a:r>
          </a:p>
          <a:p>
            <a:r>
              <a:t>Dockerfile basics: FROM, RUN, COPY, ARG</a:t>
            </a:r>
          </a:p>
          <a:p>
            <a:r>
              <a:t>Volumes, Networks, Privileged mode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6C03-7DA4-41B1-D9C6-659C46A4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3549A8-27F5-120A-2AAE-1E0A7793A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9860535"/>
              </p:ext>
            </p:extLst>
          </p:nvPr>
        </p:nvGraphicFramePr>
        <p:xfrm>
          <a:off x="457200" y="1761893"/>
          <a:ext cx="8500946" cy="4884233"/>
        </p:xfrm>
        <a:graphic>
          <a:graphicData uri="http://schemas.openxmlformats.org/drawingml/2006/table">
            <a:tbl>
              <a:tblPr/>
              <a:tblGrid>
                <a:gridCol w="8500946">
                  <a:extLst>
                    <a:ext uri="{9D8B030D-6E8A-4147-A177-3AD203B41FA5}">
                      <a16:colId xmlns:a16="http://schemas.microsoft.com/office/drawing/2014/main" val="2876292775"/>
                    </a:ext>
                  </a:extLst>
                </a:gridCol>
              </a:tblGrid>
              <a:tr h="4069487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Understanding </a:t>
                      </a:r>
                      <a:r>
                        <a:rPr lang="en-US" b="1" i="0" dirty="0"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 in a </a:t>
                      </a:r>
                      <a:r>
                        <a:rPr lang="en-US" b="1" i="0" dirty="0" err="1">
                          <a:effectLst/>
                          <a:latin typeface="Segoe UI" panose="020B0502040204020203" pitchFamily="34" charset="0"/>
                        </a:rPr>
                        <a:t>Dockerfile</a:t>
                      </a:r>
                      <a:endParaRPr lang="en-US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What </a:t>
                      </a:r>
                      <a:r>
                        <a:rPr lang="en-US" b="1" i="0" dirty="0"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 Does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Defines the base image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your container is built on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b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(e.g., </a:t>
                      </a:r>
                      <a:r>
                        <a:rPr lang="en-US" b="0" i="0" dirty="0">
                          <a:effectLst/>
                          <a:latin typeface="Courier New" panose="02070309020205020404" pitchFamily="49" charset="0"/>
                        </a:rPr>
                        <a:t>FROM </a:t>
                      </a:r>
                      <a:r>
                        <a:rPr lang="en-US" b="0" i="0" dirty="0" err="1">
                          <a:effectLst/>
                          <a:latin typeface="Courier New" panose="02070309020205020404" pitchFamily="49" charset="0"/>
                        </a:rPr>
                        <a:t>osrf</a:t>
                      </a:r>
                      <a:r>
                        <a:rPr lang="en-US" b="0" i="0" dirty="0">
                          <a:effectLst/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US" b="0" i="0" dirty="0" err="1">
                          <a:effectLst/>
                          <a:latin typeface="Courier New" panose="02070309020205020404" pitchFamily="49" charset="0"/>
                        </a:rPr>
                        <a:t>ros:humble-desktop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Sets the starting filesystem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b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→ Includes OS packages, tools, ROS versions, Python versions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Determines compatibility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with ROS, Gazebo, GPU drivers, etc.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Every instruction that follows (</a:t>
                      </a:r>
                      <a:r>
                        <a:rPr lang="en-US" b="0" i="0" dirty="0">
                          <a:effectLst/>
                          <a:latin typeface="Courier New" panose="02070309020205020404" pitchFamily="49" charset="0"/>
                        </a:rPr>
                        <a:t>RUN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US" b="0" i="0" dirty="0">
                          <a:effectLst/>
                          <a:latin typeface="Courier New" panose="02070309020205020404" pitchFamily="49" charset="0"/>
                        </a:rPr>
                        <a:t>COPY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US" b="0" i="0" dirty="0">
                          <a:effectLst/>
                          <a:latin typeface="Courier New" panose="02070309020205020404" pitchFamily="49" charset="0"/>
                        </a:rPr>
                        <a:t>ENV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, …) builds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on top of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this base layer.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055620"/>
                  </a:ext>
                </a:extLst>
              </a:tr>
              <a:tr h="81474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54247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4165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CB951-2C59-B4B4-82C5-A24C6624E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686800" cy="120475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Segoe UI" panose="020B0502040204020203" pitchFamily="34" charset="0"/>
              </a:rPr>
              <a:t> </a:t>
            </a:r>
            <a:r>
              <a:rPr lang="en-US" b="1" dirty="0">
                <a:latin typeface="Courier New" panose="02070309020205020404" pitchFamily="49" charset="0"/>
              </a:rPr>
              <a:t>RUN</a:t>
            </a:r>
            <a:br>
              <a:rPr lang="en-US" b="1" dirty="0">
                <a:latin typeface="Segoe UI" panose="020B0502040204020203" pitchFamily="34" charset="0"/>
              </a:rPr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8066D0-17D6-555D-A403-A958944E73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2022694"/>
              </p:ext>
            </p:extLst>
          </p:nvPr>
        </p:nvGraphicFramePr>
        <p:xfrm>
          <a:off x="457200" y="3052604"/>
          <a:ext cx="8229600" cy="2192655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2761179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What </a:t>
                      </a:r>
                      <a:r>
                        <a:rPr lang="en-US" b="1" i="0" dirty="0">
                          <a:effectLst/>
                          <a:latin typeface="Courier New" panose="02070309020205020404" pitchFamily="49" charset="0"/>
                        </a:rPr>
                        <a:t>RUN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 Does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Executes a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command inside the image at build time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Produces a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new image layer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after the command completes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Used for installing packages, configuring the system, cloning repos, building software, etc.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267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4647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8115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FD773-3B0F-5DEE-2872-D06604DB8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apt command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3E38A-341F-9463-46ED-4B3BCE228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RUN apt-get update &amp;&amp; apt-get install -y \</a:t>
            </a:r>
          </a:p>
          <a:p>
            <a:pPr marL="0" indent="0">
              <a:buNone/>
            </a:pPr>
            <a:r>
              <a:rPr lang="en-US" dirty="0"/>
              <a:t>    package-name-1 \</a:t>
            </a:r>
          </a:p>
          <a:p>
            <a:pPr marL="0" indent="0">
              <a:buNone/>
            </a:pPr>
            <a:r>
              <a:rPr lang="en-US" dirty="0"/>
              <a:t>    package-name-2 \</a:t>
            </a:r>
          </a:p>
          <a:p>
            <a:pPr marL="0" indent="0">
              <a:buNone/>
            </a:pPr>
            <a:r>
              <a:rPr lang="en-US" dirty="0"/>
              <a:t> &amp;&amp; rm -rf /var/lib/apt/lists/*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you run apt-get update, it downloads package indexes (lists) into /var/lib/apt/lists/. These files are only needed during the installation phase and can take up dozens or even hundreds of megabytes.</a:t>
            </a:r>
          </a:p>
        </p:txBody>
      </p:sp>
    </p:spTree>
    <p:extLst>
      <p:ext uri="{BB962C8B-B14F-4D97-AF65-F5344CB8AC3E}">
        <p14:creationId xmlns:p14="http://schemas.microsoft.com/office/powerpoint/2010/main" val="2388370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1458-5114-7217-0A2B-195135742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Segoe UI" panose="020B0502040204020203" pitchFamily="34" charset="0"/>
              </a:rPr>
              <a:t>COPY</a:t>
            </a:r>
            <a:br>
              <a:rPr lang="en-US" dirty="0">
                <a:latin typeface="Segoe UI" panose="020B0502040204020203" pitchFamily="34" charset="0"/>
              </a:rPr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4F8769-815A-63AE-FFEC-6789105D28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2647314"/>
              </p:ext>
            </p:extLst>
          </p:nvPr>
        </p:nvGraphicFramePr>
        <p:xfrm>
          <a:off x="457199" y="1263805"/>
          <a:ext cx="8441473" cy="4570100"/>
        </p:xfrm>
        <a:graphic>
          <a:graphicData uri="http://schemas.openxmlformats.org/drawingml/2006/table">
            <a:tbl>
              <a:tblPr/>
              <a:tblGrid>
                <a:gridCol w="8441473">
                  <a:extLst>
                    <a:ext uri="{9D8B030D-6E8A-4147-A177-3AD203B41FA5}">
                      <a16:colId xmlns:a16="http://schemas.microsoft.com/office/drawing/2014/main" val="2579871616"/>
                    </a:ext>
                  </a:extLst>
                </a:gridCol>
              </a:tblGrid>
              <a:tr h="600534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COPY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661664"/>
                  </a:ext>
                </a:extLst>
              </a:tr>
              <a:tr h="3244393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What </a:t>
                      </a:r>
                      <a:r>
                        <a:rPr lang="en-US" b="1" i="0" dirty="0">
                          <a:effectLst/>
                          <a:latin typeface="Courier New" panose="02070309020205020404" pitchFamily="49" charset="0"/>
                        </a:rPr>
                        <a:t>COPY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 Does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Copies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files or directories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from your host machine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into the image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Used to bring in: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b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✅ Source code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b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✅ Configuration files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b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✅ Patches and assets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b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✅ Launch files, URDFs, worlds, etc.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Creates a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new filesystem layer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in the image</a:t>
                      </a:r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1441702"/>
                  </a:ext>
                </a:extLst>
              </a:tr>
              <a:tr h="72517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91068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0817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90049-1630-30F2-FAB3-E586F38E8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DE936-F9D5-5D42-01BE-4980A436A8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057965"/>
              </p:ext>
            </p:extLst>
          </p:nvPr>
        </p:nvGraphicFramePr>
        <p:xfrm>
          <a:off x="457200" y="3052604"/>
          <a:ext cx="8229600" cy="2192655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1076793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What </a:t>
                      </a:r>
                      <a:r>
                        <a:rPr lang="en-US" b="1" i="0" dirty="0">
                          <a:effectLst/>
                          <a:latin typeface="Courier New" panose="02070309020205020404" pitchFamily="49" charset="0"/>
                        </a:rPr>
                        <a:t>CMD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 Does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Specifies the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default command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that runs when a container starts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Acts as the container’s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entry behavior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(what it does by default)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Can be overridden with: </a:t>
                      </a: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Courier New" panose="02070309020205020404" pitchFamily="49" charset="0"/>
                        </a:rPr>
                        <a:t>docker run &lt;image&gt; &lt;my command&gt;</a:t>
                      </a: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Courier New" panose="02070309020205020404" pitchFamily="49" charset="0"/>
                        </a:rPr>
                        <a:t>docker compose run &lt;service&gt; &lt;my command&gt;</a:t>
                      </a: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6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70415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557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ROS2 in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Docker for ROS2?</a:t>
            </a:r>
          </a:p>
          <a:p>
            <a:r>
              <a:t>• DDS discovery issues</a:t>
            </a:r>
          </a:p>
          <a:p>
            <a:r>
              <a:t>• Host networking needs</a:t>
            </a:r>
          </a:p>
          <a:p>
            <a:r>
              <a:t>• GPU and X11 passthrough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FCAFB-E9D7-73CB-330A-7FEB1664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WSL2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7F412-6D57-EC51-EBAD-0B6A0BC5A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Powershell</a:t>
            </a:r>
            <a:r>
              <a:rPr lang="en-US" sz="2800" dirty="0"/>
              <a:t> commands:</a:t>
            </a:r>
          </a:p>
          <a:p>
            <a:r>
              <a:rPr lang="en-US" sz="2800" dirty="0"/>
              <a:t>Install </a:t>
            </a:r>
            <a:r>
              <a:rPr lang="en-US" sz="2800" dirty="0" err="1"/>
              <a:t>wsl</a:t>
            </a:r>
            <a:r>
              <a:rPr lang="en-US" sz="2800" dirty="0"/>
              <a:t>: 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wsl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--install</a:t>
            </a:r>
          </a:p>
          <a:p>
            <a:r>
              <a:rPr lang="en-US" sz="2800" dirty="0"/>
              <a:t>View available distros:	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wsl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--list --online</a:t>
            </a:r>
          </a:p>
          <a:p>
            <a:r>
              <a:rPr lang="en-US" sz="2800" dirty="0"/>
              <a:t>Install specific version: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wsl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--install -d Ubuntu-22.04</a:t>
            </a:r>
          </a:p>
          <a:p>
            <a:r>
              <a:rPr lang="en-US" sz="2800" dirty="0"/>
              <a:t>Check installed versions: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wsl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--list --verbose</a:t>
            </a:r>
          </a:p>
          <a:p>
            <a:r>
              <a:rPr lang="en-US" sz="2800" dirty="0"/>
              <a:t>Change default distro: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wsl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--set-default Ubuntu-22.04</a:t>
            </a:r>
          </a:p>
        </p:txBody>
      </p:sp>
    </p:spTree>
    <p:extLst>
      <p:ext uri="{BB962C8B-B14F-4D97-AF65-F5344CB8AC3E}">
        <p14:creationId xmlns:p14="http://schemas.microsoft.com/office/powerpoint/2010/main" val="2929618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13E0-84F0-DCDA-98C7-B68B80BF4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Desktop (WSL2)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9F342-7593-D955-9B5A-EC63146D0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0" i="0" dirty="0">
                <a:solidFill>
                  <a:srgbClr val="0A0A0A"/>
                </a:solidFill>
                <a:effectLst/>
                <a:latin typeface="Google Sans"/>
              </a:rPr>
              <a:t>Docker Desktop manages two hidden WSL2 distributions (</a:t>
            </a:r>
            <a:r>
              <a:rPr lang="en-US" sz="28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docker-desktop</a:t>
            </a:r>
            <a:r>
              <a:rPr lang="en-US" sz="2800" b="0" i="0" dirty="0">
                <a:solidFill>
                  <a:srgbClr val="0A0A0A"/>
                </a:solidFill>
                <a:effectLst/>
                <a:latin typeface="Google Sans"/>
              </a:rPr>
              <a:t> and </a:t>
            </a:r>
            <a:r>
              <a:rPr lang="en-US" sz="28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docker-desktop-data</a:t>
            </a:r>
            <a:r>
              <a:rPr lang="en-US" sz="2800" b="0" i="0" dirty="0">
                <a:solidFill>
                  <a:srgbClr val="0A0A0A"/>
                </a:solidFill>
                <a:effectLst/>
                <a:latin typeface="Google Sans"/>
              </a:rPr>
              <a:t>) that run the actual Docker Engine. It then "injects" the Docker CLI and Docker-Compose into your Ubuntu WSL2 instance via </a:t>
            </a:r>
            <a:r>
              <a:rPr lang="en-US" sz="2800" b="0" i="0" dirty="0" err="1">
                <a:solidFill>
                  <a:srgbClr val="0A0A0A"/>
                </a:solidFill>
                <a:effectLst/>
                <a:latin typeface="Google Sans"/>
              </a:rPr>
              <a:t>symlinks</a:t>
            </a:r>
            <a:r>
              <a:rPr lang="en-US" sz="2800" b="0" i="0" dirty="0">
                <a:solidFill>
                  <a:srgbClr val="0A0A0A"/>
                </a:solidFill>
                <a:effectLst/>
                <a:latin typeface="Google Sans"/>
              </a:rPr>
              <a:t>, making them available as if they were installed there.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90336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D04B-5460-BAD7-CA30-DAAB1F365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WSL2 mode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213B8B-8D2D-DF00-E646-DD3BC91D48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7004" y="1600200"/>
            <a:ext cx="7669992" cy="452596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86C007-2D79-A16D-76C0-77EEFB72A313}"/>
              </a:ext>
            </a:extLst>
          </p:cNvPr>
          <p:cNvCxnSpPr/>
          <p:nvPr/>
        </p:nvCxnSpPr>
        <p:spPr>
          <a:xfrm flipV="1">
            <a:off x="5867400" y="1996440"/>
            <a:ext cx="975360" cy="1790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FC5762-51AA-0A0F-56E7-BC644CFDFF78}"/>
              </a:ext>
            </a:extLst>
          </p:cNvPr>
          <p:cNvCxnSpPr>
            <a:cxnSpLocks/>
          </p:cNvCxnSpPr>
          <p:nvPr/>
        </p:nvCxnSpPr>
        <p:spPr>
          <a:xfrm flipH="1">
            <a:off x="3129776" y="3939540"/>
            <a:ext cx="2890024" cy="952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215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998D9-4077-DD84-161C-3307FB427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64F46-4F35-99D5-DE66-5EE660985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hlinkClick r:id="rId2"/>
              </a:rPr>
              <a:t>https://docs.docker.com/engine/install/ubuntu/</a:t>
            </a:r>
            <a:endParaRPr lang="en-US" sz="2800" dirty="0"/>
          </a:p>
          <a:p>
            <a:pPr marL="0" indent="0">
              <a:buNone/>
            </a:pP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apt update</a:t>
            </a:r>
          </a:p>
          <a:p>
            <a:pPr marL="0" indent="0">
              <a:buNone/>
            </a:pP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apt install ca-certificates curl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gnupg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lsb_release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-y</a:t>
            </a:r>
          </a:p>
          <a:p>
            <a:pPr marL="0" indent="0">
              <a:buNone/>
            </a:pP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install -m 0755 -d /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/apt/keyrings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curl -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fsSL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https://download.docker.com/linux/ubuntu/gpg |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gpg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dearmor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-o /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/apt/keyrings/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docker.gpg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chmod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a+r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/apt/keyrings/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docker.gpg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echo "deb [arch=$(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dpkg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--print-architecture) signed-by=/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/apt/keyrings/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docker.gpg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] https://download.docker.com/linux/ubuntu $(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lsb_release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-cs) stable" |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tee /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/apt/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sources.list.d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docker.list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&gt; /dev/null</a:t>
            </a:r>
          </a:p>
          <a:p>
            <a:pPr marL="0" indent="0">
              <a:buNone/>
            </a:pP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apt update</a:t>
            </a:r>
          </a:p>
          <a:p>
            <a:pPr marL="0" indent="0">
              <a:buNone/>
            </a:pP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apt install docker-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docker-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-cli containerd.io docker-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buildx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-plugin docker-compose-plugin docker-compose -y</a:t>
            </a:r>
          </a:p>
          <a:p>
            <a:pPr marL="0" indent="0">
              <a:buNone/>
            </a:pP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usermod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docker $USER</a:t>
            </a:r>
          </a:p>
        </p:txBody>
      </p:sp>
    </p:spTree>
    <p:extLst>
      <p:ext uri="{BB962C8B-B14F-4D97-AF65-F5344CB8AC3E}">
        <p14:creationId xmlns:p14="http://schemas.microsoft.com/office/powerpoint/2010/main" val="531186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F6D04-9FFB-65D0-290B-D832E027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9A60D-548E-E572-BF91-F0F7C973C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 docker compose exec -it &lt;container&gt; bash</a:t>
            </a:r>
          </a:p>
          <a:p>
            <a:endParaRPr lang="en-US" dirty="0"/>
          </a:p>
          <a:p>
            <a:r>
              <a:rPr lang="en-US" dirty="0"/>
              <a:t>You need to insert the correct container name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806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94104-9705-93B5-8D69-FCC45977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DEF34-D8AA-382F-53DA-5DB7C944C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docker compose exec</a:t>
            </a:r>
            <a:r>
              <a:rPr lang="en-US" dirty="0"/>
              <a:t>: Tells Docker Compose to execute a command in an </a:t>
            </a:r>
            <a:r>
              <a:rPr lang="en-US" b="1" dirty="0"/>
              <a:t>existing, running</a:t>
            </a:r>
            <a:r>
              <a:rPr lang="en-US" dirty="0"/>
              <a:t> service container. Unlike docker compose run, it does not start a new container.</a:t>
            </a:r>
          </a:p>
          <a:p>
            <a:r>
              <a:rPr lang="en-US" b="1" dirty="0"/>
              <a:t>"-it"</a:t>
            </a:r>
            <a:r>
              <a:rPr lang="en-US" dirty="0"/>
              <a:t>: These combined flags stand for </a:t>
            </a:r>
            <a:r>
              <a:rPr lang="en-US" b="1" dirty="0"/>
              <a:t>Interactive</a:t>
            </a:r>
            <a:r>
              <a:rPr lang="en-US" dirty="0"/>
              <a:t> (-</a:t>
            </a:r>
            <a:r>
              <a:rPr lang="en-US" dirty="0" err="1"/>
              <a:t>i</a:t>
            </a:r>
            <a:r>
              <a:rPr lang="en-US" dirty="0"/>
              <a:t>) and </a:t>
            </a:r>
            <a:r>
              <a:rPr lang="en-US" b="1" dirty="0"/>
              <a:t>TTY</a:t>
            </a:r>
            <a:r>
              <a:rPr lang="en-US" dirty="0"/>
              <a:t> (-t).</a:t>
            </a:r>
          </a:p>
          <a:p>
            <a:pPr lvl="1"/>
            <a:r>
              <a:rPr lang="en-US" b="1" dirty="0"/>
              <a:t>-</a:t>
            </a:r>
            <a:r>
              <a:rPr lang="en-US" b="1" dirty="0" err="1"/>
              <a:t>i</a:t>
            </a:r>
            <a:r>
              <a:rPr lang="en-US" b="1" dirty="0"/>
              <a:t> (Interactive):</a:t>
            </a:r>
            <a:r>
              <a:rPr lang="en-US" dirty="0"/>
              <a:t> Keeps the standard input (STDIN) open, allowing you to type commands.</a:t>
            </a:r>
          </a:p>
          <a:p>
            <a:pPr lvl="1"/>
            <a:r>
              <a:rPr lang="en-US" b="1" dirty="0"/>
              <a:t>-t (TTY):</a:t>
            </a:r>
            <a:r>
              <a:rPr lang="en-US" dirty="0"/>
              <a:t> Allocates a "pseudo-terminal," which formats the output to look like a standard terminal (with colors and proper line wrapping).</a:t>
            </a:r>
          </a:p>
          <a:p>
            <a:pPr lvl="1"/>
            <a:r>
              <a:rPr lang="en-US" i="1" dirty="0"/>
              <a:t>Note:</a:t>
            </a:r>
            <a:r>
              <a:rPr lang="en-US" dirty="0"/>
              <a:t> In newer versions of </a:t>
            </a:r>
            <a:r>
              <a:rPr lang="en-US" dirty="0">
                <a:hlinkClick r:id="rId2"/>
              </a:rPr>
              <a:t>Docker Compose</a:t>
            </a:r>
            <a:r>
              <a:rPr lang="en-US" dirty="0"/>
              <a:t>, -it is often the default behavior, but it is frequently included for clarity or backward compatibility.</a:t>
            </a:r>
          </a:p>
          <a:p>
            <a:r>
              <a:rPr lang="en-US" b="1" dirty="0"/>
              <a:t>&lt;container&gt;</a:t>
            </a:r>
            <a:r>
              <a:rPr lang="en-US" dirty="0"/>
              <a:t>: This is the name of the </a:t>
            </a:r>
            <a:r>
              <a:rPr lang="en-US" b="1" dirty="0"/>
              <a:t>service</a:t>
            </a:r>
            <a:r>
              <a:rPr lang="en-US" dirty="0"/>
              <a:t> defined in your docker-</a:t>
            </a:r>
            <a:r>
              <a:rPr lang="en-US" dirty="0" err="1"/>
              <a:t>compose.yml</a:t>
            </a:r>
            <a:r>
              <a:rPr lang="en-US" dirty="0"/>
              <a:t> file (e.g., web, </a:t>
            </a:r>
            <a:r>
              <a:rPr lang="en-US" dirty="0" err="1"/>
              <a:t>db</a:t>
            </a:r>
            <a:r>
              <a:rPr lang="en-US" dirty="0"/>
              <a:t>, or </a:t>
            </a:r>
            <a:r>
              <a:rPr lang="en-US" dirty="0" err="1"/>
              <a:t>api</a:t>
            </a:r>
            <a:r>
              <a:rPr lang="en-US" dirty="0"/>
              <a:t>).</a:t>
            </a:r>
          </a:p>
          <a:p>
            <a:r>
              <a:rPr lang="en-US" b="1" dirty="0"/>
              <a:t>bash</a:t>
            </a:r>
            <a:r>
              <a:rPr lang="en-US" dirty="0"/>
              <a:t>: The specific command to run inside the container. In this case, it starts the </a:t>
            </a:r>
            <a:r>
              <a:rPr lang="en-US" b="1" dirty="0"/>
              <a:t>Bash shell</a:t>
            </a:r>
            <a:r>
              <a:rPr lang="en-US" dirty="0"/>
              <a:t>, allowing you to interact with the container's command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464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docker-compose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Compose simplifies multi-arg builds</a:t>
            </a:r>
          </a:p>
          <a:p>
            <a:r>
              <a:t>Defines environment, volumes, devices</a:t>
            </a:r>
          </a:p>
          <a:p>
            <a:r>
              <a:t>Allows SSH agent forwarding for private repos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81D57-043F-5C58-98C5-6886FBA4A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docker-compose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0CBC7-63C0-0FF8-0DD4-2C9B5FFC7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services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b="0" i="0" dirty="0" err="1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ros_sim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build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context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 .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</a:t>
            </a:r>
            <a:r>
              <a:rPr lang="en-US" b="0" i="0" dirty="0" err="1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-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ROS_DISTRO=${ROS_DISTRO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:-humble}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image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i="0" dirty="0" err="1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ros_sim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:latest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b="0" i="0" dirty="0" err="1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container_name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ros_sim_container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# Host networking needed for ROS 2 DDS discovery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b="0" i="0" dirty="0" err="1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network_mode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"host"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b="0" i="0" dirty="0" err="1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ipc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"host"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environment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-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DISPLAY=${DISPLAY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:-: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- RMW_IMPLEMENTATION=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rmw_fastrtps_cpp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-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ROS_DOMAIN_ID=${ROS_DOMAIN_ID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:-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</a:t>
            </a:r>
            <a:r>
              <a:rPr lang="en-US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# Gazebo/Ignition settings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-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IGNITION_VERSION=${IGNITION_VERSION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:-fortress}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-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GZ_VERSION=${GZ_VERSION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:-harmonic}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</a:t>
            </a:r>
            <a:r>
              <a:rPr lang="en-US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# NVIDIA GPU Acceleration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- NVIDIA_VISIBLE_DEVICES=all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- NVIDIA_DRIVER_CAPABILITIES=all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volumes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</a:t>
            </a:r>
            <a:r>
              <a:rPr lang="en-US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# X11 for GUI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-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b="0" i="0" dirty="0" err="1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tmp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/.X11-unix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:/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tmp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/.X11-unix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</a:t>
            </a:r>
            <a:r>
              <a:rPr lang="en-US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# Optional: Device access (for physical robots)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-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/dev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:/dev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privileged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true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b="0" i="0" dirty="0" err="1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stdin_open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true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b="0" i="0" dirty="0" err="1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tty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true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181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4F90B-3BB7-22AD-9B5A-C4413A9B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Yet another docker-</a:t>
            </a:r>
            <a:r>
              <a:rPr lang="en-US" dirty="0" err="1"/>
              <a:t>compose.yml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6D03B-7382-D25F-C7FD-9DF5DBD16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services: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gui</a:t>
            </a:r>
            <a:r>
              <a:rPr lang="en-US" dirty="0"/>
              <a:t>-demo:</a:t>
            </a:r>
          </a:p>
          <a:p>
            <a:pPr marL="0" indent="0">
              <a:buNone/>
            </a:pPr>
            <a:r>
              <a:rPr lang="en-US" dirty="0"/>
              <a:t>    build: .</a:t>
            </a:r>
          </a:p>
          <a:p>
            <a:pPr marL="0" indent="0">
              <a:buNone/>
            </a:pPr>
            <a:r>
              <a:rPr lang="en-US" dirty="0"/>
              <a:t>    image: </a:t>
            </a:r>
            <a:r>
              <a:rPr lang="en-US" dirty="0" err="1"/>
              <a:t>xeyes-demo:latest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container_name</a:t>
            </a:r>
            <a:r>
              <a:rPr lang="en-US" dirty="0"/>
              <a:t>: </a:t>
            </a:r>
            <a:r>
              <a:rPr lang="en-US" dirty="0" err="1"/>
              <a:t>xeyes_container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environment:</a:t>
            </a:r>
          </a:p>
          <a:p>
            <a:pPr marL="0" indent="0">
              <a:buNone/>
            </a:pPr>
            <a:r>
              <a:rPr lang="en-US" dirty="0"/>
              <a:t>      # Pass the host's DISPLAY variable to the container</a:t>
            </a:r>
          </a:p>
          <a:p>
            <a:pPr marL="0" indent="0">
              <a:buNone/>
            </a:pPr>
            <a:r>
              <a:rPr lang="en-US" dirty="0"/>
              <a:t>      - DISPLAY=${DISPLAY}</a:t>
            </a:r>
          </a:p>
          <a:p>
            <a:pPr marL="0" indent="0">
              <a:buNone/>
            </a:pPr>
            <a:r>
              <a:rPr lang="en-US" dirty="0"/>
              <a:t>    volumes:</a:t>
            </a:r>
          </a:p>
          <a:p>
            <a:pPr marL="0" indent="0">
              <a:buNone/>
            </a:pPr>
            <a:r>
              <a:rPr lang="en-US" dirty="0"/>
              <a:t>      # Mount the X11 Unix socket for GUI communication</a:t>
            </a:r>
          </a:p>
          <a:p>
            <a:pPr marL="0" indent="0">
              <a:buNone/>
            </a:pPr>
            <a:r>
              <a:rPr lang="en-US" dirty="0"/>
              <a:t>      - /</a:t>
            </a:r>
            <a:r>
              <a:rPr lang="en-US" dirty="0" err="1"/>
              <a:t>tmp</a:t>
            </a:r>
            <a:r>
              <a:rPr lang="en-US" dirty="0"/>
              <a:t>/.X11-unix:/</a:t>
            </a:r>
            <a:r>
              <a:rPr lang="en-US" dirty="0" err="1"/>
              <a:t>tmp</a:t>
            </a:r>
            <a:r>
              <a:rPr lang="en-US" dirty="0"/>
              <a:t>/.X11-unix:rw</a:t>
            </a:r>
          </a:p>
          <a:p>
            <a:pPr marL="0" indent="0">
              <a:buNone/>
            </a:pPr>
            <a:r>
              <a:rPr lang="en-US" dirty="0"/>
              <a:t>    # Required for some GUI permissions on native Linux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network_mode</a:t>
            </a:r>
            <a:r>
              <a:rPr lang="en-US" dirty="0"/>
              <a:t>: "host“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ipc</a:t>
            </a:r>
            <a:r>
              <a:rPr lang="en-US" dirty="0"/>
              <a:t>: "host"</a:t>
            </a:r>
          </a:p>
        </p:txBody>
      </p:sp>
    </p:spTree>
    <p:extLst>
      <p:ext uri="{BB962C8B-B14F-4D97-AF65-F5344CB8AC3E}">
        <p14:creationId xmlns:p14="http://schemas.microsoft.com/office/powerpoint/2010/main" val="3580622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8C616-9C5D-0FF8-211E-96DE740F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6DDEBAB-6222-6FDD-1424-770B033300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39441"/>
            <a:ext cx="8612459" cy="4847481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1. Service Definition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services: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This is the top-level key. Every item under it (like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gui-demo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 represents a containerized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gui-demo: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This is the internal name Compose uses to identify this specific service.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2. The Build Phase (Creating the Image)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build: 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This tells Docker to look in the current directory 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 for a file named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Dockerfile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 It will execute the instructions in that file to create an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image: xeyes-demo:latest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This assigns a specific name (tag) to the image after it is built. Without this, Docker would give the image a random 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3. The Runtime Phase (Starting the Container)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container_name: xeyes_container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Instead of Docker generating a random name like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peaceful_hopper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this forces the container to be named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xeyes_container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so you can easily run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docker exec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against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Environment &amp; GUI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environment: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This section sets variables inside the container's shell.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- DISPLAY=${DISPLAY}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This is the "secret sauce." It takes the value of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DISPLAY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from your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host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machine (e.g.,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:0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or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172.x.x.x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 and passes it into the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container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 This tells GUI apps where to "draw" their windows.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Volumes (Sharing Files)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volumes: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Maps a folder on your host to a folder inside the container.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- /tmp/.X11-unix:/tmp/.X11-unix:rw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This is a special "Unix Socket" file used for communication between the GUI app and the graphics server. By mounting it, the container can talk directly to your screen hardware.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Networking &amp; Permissions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network_mode: "host"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This puts the container on the same network stack as your computer (rather than a private virtual bridge). This is often necessary for X11 authentication to work smoothly on native Linux.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ipc: "host"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"Inter-Process Communication." Many GUI apps (like those using shared memory for speed) need to share the host's IPC namespace to display graphics without lag or "memory access"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647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6034B-FE71-131D-15E6-F2BEE8BD1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Xeyes</a:t>
            </a:r>
            <a:r>
              <a:rPr lang="en-US" dirty="0"/>
              <a:t> example </a:t>
            </a:r>
            <a:r>
              <a:rPr lang="en-US" dirty="0" err="1"/>
              <a:t>Dockerfile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A6EC7-8FB3-DA05-9F7B-A72727530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# Use Ubuntu as the base image</a:t>
            </a:r>
          </a:p>
          <a:p>
            <a:pPr marL="0" indent="0">
              <a:buNone/>
            </a:pPr>
            <a:r>
              <a:rPr lang="en-US" dirty="0"/>
              <a:t>FROM ubuntu:24.04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Avoid interactive prompts during package installation</a:t>
            </a:r>
          </a:p>
          <a:p>
            <a:pPr marL="0" indent="0">
              <a:buNone/>
            </a:pPr>
            <a:r>
              <a:rPr lang="en-US" dirty="0"/>
              <a:t>ENV DEBIAN_FRONTEND=noninteractive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Install x11-apps (contains </a:t>
            </a:r>
            <a:r>
              <a:rPr lang="en-US" dirty="0" err="1"/>
              <a:t>xeyes</a:t>
            </a:r>
            <a:r>
              <a:rPr lang="en-US" dirty="0"/>
              <a:t>) and </a:t>
            </a:r>
            <a:r>
              <a:rPr lang="en-US" dirty="0" err="1"/>
              <a:t>sudo</a:t>
            </a:r>
            <a:r>
              <a:rPr lang="en-US" dirty="0"/>
              <a:t> for convenience</a:t>
            </a:r>
          </a:p>
          <a:p>
            <a:pPr marL="0" indent="0">
              <a:buNone/>
            </a:pPr>
            <a:r>
              <a:rPr lang="en-US" dirty="0"/>
              <a:t>RUN apt-get update &amp;&amp; apt-get install -y \</a:t>
            </a:r>
          </a:p>
          <a:p>
            <a:pPr marL="0" indent="0">
              <a:buNone/>
            </a:pPr>
            <a:r>
              <a:rPr lang="en-US" dirty="0"/>
              <a:t>    x11-apps \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sudo</a:t>
            </a:r>
            <a:r>
              <a:rPr lang="en-US" dirty="0"/>
              <a:t> \</a:t>
            </a:r>
          </a:p>
          <a:p>
            <a:pPr marL="0" indent="0">
              <a:buNone/>
            </a:pPr>
            <a:r>
              <a:rPr lang="en-US" dirty="0"/>
              <a:t>    &amp;&amp; rm -rf /var/lib/apt/lists/*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Create a non-root user (optional but recommended for GUI apps)</a:t>
            </a:r>
          </a:p>
          <a:p>
            <a:pPr marL="0" indent="0">
              <a:buNone/>
            </a:pPr>
            <a:r>
              <a:rPr lang="en-US" dirty="0"/>
              <a:t>RUN </a:t>
            </a:r>
            <a:r>
              <a:rPr lang="en-US" dirty="0" err="1"/>
              <a:t>useradd</a:t>
            </a:r>
            <a:r>
              <a:rPr lang="en-US" dirty="0"/>
              <a:t> -m developer &amp;&amp; \</a:t>
            </a:r>
          </a:p>
          <a:p>
            <a:pPr marL="0" indent="0">
              <a:buNone/>
            </a:pPr>
            <a:r>
              <a:rPr lang="en-US" dirty="0"/>
              <a:t>    echo "developer ALL=(ALL) NOPASSWD:ALL" &gt;&gt;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sudoers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USER developer</a:t>
            </a:r>
          </a:p>
          <a:p>
            <a:pPr marL="0" indent="0">
              <a:buNone/>
            </a:pPr>
            <a:r>
              <a:rPr lang="en-US" dirty="0"/>
              <a:t>WORKDIR /home/developer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Default command to keep container alive for 'docker exec'</a:t>
            </a:r>
          </a:p>
          <a:p>
            <a:pPr marL="0" indent="0">
              <a:buNone/>
            </a:pPr>
            <a:r>
              <a:rPr lang="en-US" dirty="0"/>
              <a:t>CMD ["sleep", "infinity"]     # what happens if we change to [“</a:t>
            </a:r>
            <a:r>
              <a:rPr lang="en-US" dirty="0" err="1"/>
              <a:t>xeyes</a:t>
            </a:r>
            <a:r>
              <a:rPr lang="en-US" dirty="0"/>
              <a:t>”]?</a:t>
            </a:r>
          </a:p>
        </p:txBody>
      </p:sp>
    </p:spTree>
    <p:extLst>
      <p:ext uri="{BB962C8B-B14F-4D97-AF65-F5344CB8AC3E}">
        <p14:creationId xmlns:p14="http://schemas.microsoft.com/office/powerpoint/2010/main" val="2505922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1961</Words>
  <Application>Microsoft Office PowerPoint</Application>
  <PresentationFormat>On-screen Show (4:3)</PresentationFormat>
  <Paragraphs>200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Arial Unicode MS</vt:lpstr>
      <vt:lpstr>Calibri</vt:lpstr>
      <vt:lpstr>Courier New</vt:lpstr>
      <vt:lpstr>Google Sans</vt:lpstr>
      <vt:lpstr>Segoe UI</vt:lpstr>
      <vt:lpstr>Office Theme</vt:lpstr>
      <vt:lpstr>Docker &amp; Docker Compose Primer</vt:lpstr>
      <vt:lpstr>Docker Image (The Blueprint) </vt:lpstr>
      <vt:lpstr>Docker Container (The Instance) </vt:lpstr>
      <vt:lpstr>Key Concepts</vt:lpstr>
      <vt:lpstr>FROM</vt:lpstr>
      <vt:lpstr> RUN </vt:lpstr>
      <vt:lpstr>apt command template</vt:lpstr>
      <vt:lpstr>COPY </vt:lpstr>
      <vt:lpstr>CMD</vt:lpstr>
      <vt:lpstr>ROS2 in Docker</vt:lpstr>
      <vt:lpstr>WSL2 installation</vt:lpstr>
      <vt:lpstr>Docker Desktop (WSL2)</vt:lpstr>
      <vt:lpstr>Docker WSL2 mode</vt:lpstr>
      <vt:lpstr>Linux Installation</vt:lpstr>
      <vt:lpstr>Accessing shell</vt:lpstr>
      <vt:lpstr>Command explanation</vt:lpstr>
      <vt:lpstr>docker-compose Overview</vt:lpstr>
      <vt:lpstr>Example docker-compose file</vt:lpstr>
      <vt:lpstr>Yet another docker-compose.yml</vt:lpstr>
      <vt:lpstr>PowerPoint Presentation</vt:lpstr>
      <vt:lpstr>Xeyes example Dockerfile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Todd Kelley</cp:lastModifiedBy>
  <cp:revision>3</cp:revision>
  <dcterms:created xsi:type="dcterms:W3CDTF">2013-01-27T09:14:16Z</dcterms:created>
  <dcterms:modified xsi:type="dcterms:W3CDTF">2026-04-02T17:22:16Z</dcterms:modified>
  <cp:category/>
</cp:coreProperties>
</file>
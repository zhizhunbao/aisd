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424" r:id="rId3"/>
    <p:sldId id="443" r:id="rId4"/>
    <p:sldId id="444" r:id="rId5"/>
    <p:sldId id="445" r:id="rId6"/>
    <p:sldId id="456" r:id="rId7"/>
    <p:sldId id="451" r:id="rId8"/>
    <p:sldId id="452" r:id="rId9"/>
    <p:sldId id="453" r:id="rId10"/>
    <p:sldId id="454" r:id="rId11"/>
    <p:sldId id="455" r:id="rId12"/>
    <p:sldId id="457" r:id="rId13"/>
    <p:sldId id="446" r:id="rId14"/>
    <p:sldId id="447" r:id="rId15"/>
    <p:sldId id="448" r:id="rId16"/>
    <p:sldId id="449" r:id="rId17"/>
    <p:sldId id="450" r:id="rId18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807" autoAdjust="0"/>
  </p:normalViewPr>
  <p:slideViewPr>
    <p:cSldViewPr snapToGrid="0" snapToObjects="1">
      <p:cViewPr>
        <p:scale>
          <a:sx n="75" d="100"/>
          <a:sy n="75" d="100"/>
        </p:scale>
        <p:origin x="72" y="-283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zebosim.org/docs/harmonic/actors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lassic.gazebosim.org/tutorials?tut=actor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CST8509 Value Function </a:t>
            </a:r>
            <a:r>
              <a:rPr lang="en-US" dirty="0" err="1"/>
              <a:t>Approx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A500-DC2C-8396-E0CE-FAAC8CDA3D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6016" y="2015914"/>
            <a:ext cx="14705556" cy="5749481"/>
          </a:xfrm>
        </p:spPr>
        <p:txBody>
          <a:bodyPr/>
          <a:lstStyle/>
          <a:p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CA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Review Quiz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Value Function Approximation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Add actors to Gazebo simulated worlds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CB6CB-AF39-0907-64D1-C3B86EEF92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21DBA-1393-EE52-EAB5-E75F5D63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263" y="463565"/>
            <a:ext cx="9475914" cy="1335973"/>
          </a:xfrm>
        </p:spPr>
        <p:txBody>
          <a:bodyPr/>
          <a:lstStyle/>
          <a:p>
            <a:r>
              <a:rPr lang="en-US" dirty="0"/>
              <a:t>Today's Agenda</a:t>
            </a:r>
          </a:p>
        </p:txBody>
      </p:sp>
    </p:spTree>
    <p:extLst>
      <p:ext uri="{BB962C8B-B14F-4D97-AF65-F5344CB8AC3E}">
        <p14:creationId xmlns:p14="http://schemas.microsoft.com/office/powerpoint/2010/main" val="284985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DD65-369B-0641-912C-430B9790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255747"/>
            <a:ext cx="13609701" cy="949599"/>
          </a:xfrm>
        </p:spPr>
        <p:txBody>
          <a:bodyPr/>
          <a:lstStyle/>
          <a:p>
            <a:r>
              <a:rPr lang="en-US" dirty="0" err="1"/>
              <a:t>Qlearning</a:t>
            </a:r>
            <a:r>
              <a:rPr lang="en-US" dirty="0"/>
              <a:t>: example of Temporal Distance Learning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EFC1A-DBF8-262D-6B87-2DFFC11978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44782"/>
            <a:ext cx="14080565" cy="6823363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Monte Carlo: need to go all the way to the end of an episode, then can learn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Temporal Distance: time in RL is measured in steps</a:t>
            </a:r>
          </a:p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599A83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TD(0): Learn from looking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step ahead (state vs next-state)</a:t>
            </a:r>
            <a:r>
              <a:rPr lang="en-US" dirty="0">
                <a:solidFill>
                  <a:srgbClr val="423F3F"/>
                </a:solidFill>
                <a:latin typeface="Arial"/>
              </a:rPr>
              <a:t>:</a:t>
            </a:r>
            <a:endParaRPr lang="en-CA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[state][action] =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[state][action] + alpha * (reward + gamma * max(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 -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[state][action])</a:t>
            </a:r>
          </a:p>
          <a:p>
            <a:pPr>
              <a:spcBef>
                <a:spcPts val="400"/>
              </a:spcBef>
            </a:pPr>
            <a:r>
              <a:rPr lang="en-US" dirty="0" err="1"/>
              <a:t>qtable</a:t>
            </a:r>
            <a:r>
              <a:rPr lang="en-US" dirty="0"/>
              <a:t>: the table of action-values approximating the action-value function</a:t>
            </a:r>
          </a:p>
          <a:p>
            <a:pPr>
              <a:spcBef>
                <a:spcPts val="400"/>
              </a:spcBef>
            </a:pPr>
            <a:r>
              <a:rPr lang="en-US" dirty="0"/>
              <a:t>state: the current state</a:t>
            </a:r>
          </a:p>
          <a:p>
            <a:pPr>
              <a:spcBef>
                <a:spcPts val="400"/>
              </a:spcBef>
            </a:pPr>
            <a:r>
              <a:rPr lang="en-US" dirty="0"/>
              <a:t>action: the current action</a:t>
            </a:r>
          </a:p>
          <a:p>
            <a:pPr>
              <a:spcBef>
                <a:spcPts val="400"/>
              </a:spcBef>
            </a:pPr>
            <a:r>
              <a:rPr lang="en-US" dirty="0"/>
              <a:t>alpha: step size</a:t>
            </a:r>
          </a:p>
          <a:p>
            <a:pPr>
              <a:spcBef>
                <a:spcPts val="400"/>
              </a:spcBef>
            </a:pPr>
            <a:r>
              <a:rPr lang="en-US" dirty="0"/>
              <a:t>reward: reward received from taking action in state</a:t>
            </a:r>
          </a:p>
          <a:p>
            <a:pPr>
              <a:spcBef>
                <a:spcPts val="400"/>
              </a:spcBef>
            </a:pPr>
            <a:r>
              <a:rPr lang="en-US" dirty="0"/>
              <a:t>gamma: discount factor</a:t>
            </a:r>
          </a:p>
          <a:p>
            <a:pPr>
              <a:spcBef>
                <a:spcPts val="400"/>
              </a:spcBef>
            </a:pPr>
            <a:r>
              <a:rPr lang="en-US" dirty="0" err="1"/>
              <a:t>next_state</a:t>
            </a:r>
            <a:r>
              <a:rPr lang="en-US" dirty="0"/>
              <a:t>: the state resulting from taking action in state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1C89F-1CF7-8F29-2EF2-0E3498F995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68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9E34-02FB-FD35-E6A5-218ACAB6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3595847" cy="1503780"/>
          </a:xfrm>
        </p:spPr>
        <p:txBody>
          <a:bodyPr/>
          <a:lstStyle/>
          <a:p>
            <a:r>
              <a:rPr lang="en-US" dirty="0"/>
              <a:t>Value Function Approximation: Large Scale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96F06-783D-4B1F-AC7A-F536724CC9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881745"/>
            <a:ext cx="11615780" cy="4653589"/>
          </a:xfrm>
        </p:spPr>
        <p:txBody>
          <a:bodyPr/>
          <a:lstStyle/>
          <a:p>
            <a:r>
              <a:rPr lang="en-US" dirty="0"/>
              <a:t>So far we have constructed a </a:t>
            </a:r>
            <a:r>
              <a:rPr lang="en-US" dirty="0" err="1"/>
              <a:t>qtable</a:t>
            </a:r>
            <a:r>
              <a:rPr lang="en-US" dirty="0"/>
              <a:t>(</a:t>
            </a:r>
            <a:r>
              <a:rPr lang="en-US" dirty="0" err="1"/>
              <a:t>state,action</a:t>
            </a:r>
            <a:r>
              <a:rPr lang="en-US" dirty="0"/>
              <a:t>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value for every state/action pair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about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Backgammon: 10</a:t>
            </a:r>
            <a:r>
              <a:rPr lang="en-US" baseline="30000" dirty="0"/>
              <a:t>20</a:t>
            </a:r>
            <a:r>
              <a:rPr lang="en-US" dirty="0"/>
              <a:t> states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Computer Go: 10</a:t>
            </a:r>
            <a:r>
              <a:rPr lang="en-US" baseline="30000" dirty="0"/>
              <a:t>170</a:t>
            </a:r>
            <a:r>
              <a:rPr lang="en-US" dirty="0"/>
              <a:t> states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Cannot represent that whole </a:t>
            </a:r>
            <a:r>
              <a:rPr lang="en-US" dirty="0" err="1"/>
              <a:t>qtable</a:t>
            </a:r>
            <a:r>
              <a:rPr lang="en-US" dirty="0"/>
              <a:t> explicitly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AF984-B918-6E26-AB26-40F0919E873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87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1736-C2D0-CD37-9A3D-C35DC748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 Approximation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8A26-17D9-0661-E097-2320A6B3FD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3"/>
            <a:ext cx="11615780" cy="6092921"/>
          </a:xfrm>
        </p:spPr>
        <p:txBody>
          <a:bodyPr/>
          <a:lstStyle/>
          <a:p>
            <a:r>
              <a:rPr lang="en-US" dirty="0"/>
              <a:t>Solution for large MDPs:</a:t>
            </a:r>
            <a:br>
              <a:rPr lang="en-US" dirty="0"/>
            </a:br>
            <a:r>
              <a:rPr lang="en-US" dirty="0"/>
              <a:t>Estimate value function with function approximation</a:t>
            </a:r>
          </a:p>
          <a:p>
            <a:r>
              <a:rPr lang="en-US" dirty="0"/>
              <a:t>w is a vector of weights of a neural network </a:t>
            </a:r>
          </a:p>
          <a:p>
            <a:r>
              <a:rPr lang="en-US" dirty="0"/>
              <a:t>vˆ ( s , w ) ≈ v </a:t>
            </a:r>
            <a:r>
              <a:rPr lang="el-GR" baseline="-25000" dirty="0"/>
              <a:t>π</a:t>
            </a:r>
            <a:r>
              <a:rPr lang="el-GR" dirty="0"/>
              <a:t> ( </a:t>
            </a:r>
            <a:r>
              <a:rPr lang="en-US" dirty="0"/>
              <a:t>s )</a:t>
            </a:r>
            <a:br>
              <a:rPr lang="en-US" dirty="0"/>
            </a:br>
            <a:r>
              <a:rPr lang="en-US" dirty="0"/>
              <a:t>or</a:t>
            </a:r>
          </a:p>
          <a:p>
            <a:r>
              <a:rPr lang="en-US" dirty="0"/>
              <a:t>qˆ ( s , a , w ) ≈ q </a:t>
            </a:r>
            <a:r>
              <a:rPr lang="el-GR" baseline="-25000" dirty="0"/>
              <a:t>π </a:t>
            </a:r>
            <a:r>
              <a:rPr lang="el-GR" dirty="0"/>
              <a:t>( </a:t>
            </a:r>
            <a:r>
              <a:rPr lang="en-US" dirty="0"/>
              <a:t>s , a ) </a:t>
            </a:r>
          </a:p>
          <a:p>
            <a:r>
              <a:rPr lang="en-US" dirty="0"/>
              <a:t>Generalize from seen states to unseen states</a:t>
            </a:r>
          </a:p>
          <a:p>
            <a:r>
              <a:rPr lang="en-US" dirty="0"/>
              <a:t>Update parameter w using MC or TD learning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EF0B7-FA03-2A00-F80C-6B529C9C195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3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1F1F-922C-98DA-4440-B13E146CA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 approximation and DQN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90320-84AB-FC9A-E6CD-010C96BB0E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104338"/>
            <a:ext cx="11615780" cy="5802488"/>
          </a:xfrm>
        </p:spPr>
        <p:txBody>
          <a:bodyPr/>
          <a:lstStyle/>
          <a:p>
            <a:r>
              <a:rPr lang="en-US" dirty="0"/>
              <a:t>Q-Learning: learn Q, the action-value function q(</a:t>
            </a:r>
            <a:r>
              <a:rPr lang="en-US" dirty="0" err="1"/>
              <a:t>s,a</a:t>
            </a:r>
            <a:r>
              <a:rPr lang="en-US" dirty="0"/>
              <a:t>)</a:t>
            </a:r>
          </a:p>
          <a:p>
            <a:r>
              <a:rPr lang="en-US" dirty="0"/>
              <a:t>DQN: Deep Q-Network</a:t>
            </a:r>
          </a:p>
          <a:p>
            <a:r>
              <a:rPr lang="en-US" dirty="0"/>
              <a:t>DQN is similar to Q-learning except: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 Q-table, we have Q-network instead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Instead of updating Q-table, DQN trains Q-network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Q-network implements an approximation of Q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Input to Q-network is State, output is action values (same number of outputs as actions)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6447B-F931-7632-EB15-4ACE3CFC62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0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5FD5B7-6BED-02AC-0FE1-EF48EC3C8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776" y="0"/>
            <a:ext cx="13907222" cy="9144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F8C447-50A5-4BD0-2386-3EBA1F3494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" y="6313856"/>
            <a:ext cx="8617906" cy="1978373"/>
          </a:xfrm>
        </p:spPr>
        <p:txBody>
          <a:bodyPr wrap="square" anchor="ctr">
            <a:normAutofit fontScale="77500" lnSpcReduction="20000"/>
          </a:bodyPr>
          <a:lstStyle/>
          <a:p>
            <a:r>
              <a:rPr lang="en-US" dirty="0"/>
              <a:t>DQN Online and Target Networks</a:t>
            </a:r>
          </a:p>
          <a:p>
            <a:r>
              <a:rPr lang="en-US" dirty="0"/>
              <a:t>Online Network: Actively updated via gradients during every training step to minimize the loss function (MSE based on temporal difference (TD) error).</a:t>
            </a:r>
          </a:p>
          <a:p>
            <a:r>
              <a:rPr lang="en-US" dirty="0"/>
              <a:t>Target Network: A lagged copy of the online network used to provide stable Q-value targets. It is updated less frequently using a hard update or soft update (Polyak update) governed by the (small) tau parameter.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FE1783C3-DBF6-38B3-7DB3-70B9E2D3796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pPr>
              <a:spcAft>
                <a:spcPts val="600"/>
              </a:spcAft>
            </a:pPr>
            <a:fld id="{DEF3F5F5-7776-394F-A41F-3BAFC9CC9F8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95033-EF29-5E61-ED31-9AAF10EB41EE}"/>
              </a:ext>
            </a:extLst>
          </p:cNvPr>
          <p:cNvSpPr txBox="1"/>
          <p:nvPr/>
        </p:nvSpPr>
        <p:spPr>
          <a:xfrm>
            <a:off x="846666" y="2302848"/>
            <a:ext cx="10548144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two of these neural networks: Online and Target:</a:t>
            </a:r>
          </a:p>
        </p:txBody>
      </p:sp>
    </p:spTree>
    <p:extLst>
      <p:ext uri="{BB962C8B-B14F-4D97-AF65-F5344CB8AC3E}">
        <p14:creationId xmlns:p14="http://schemas.microsoft.com/office/powerpoint/2010/main" val="282880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1207-F642-5875-BA83-B0FB4846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DQN Loss Function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1FDA2-5867-B02F-889D-0E450A40EB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3FCB98-E9CF-ACC2-75E5-4ED510723C07}"/>
                  </a:ext>
                </a:extLst>
              </p:cNvPr>
              <p:cNvSpPr txBox="1"/>
              <p:nvPr/>
            </p:nvSpPr>
            <p:spPr>
              <a:xfrm>
                <a:off x="3597728" y="4094946"/>
                <a:ext cx="10129158" cy="6442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 *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𝑡𝑎𝑟𝑔𝑒𝑡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', 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'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- 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𝑜𝑛𝑙𝑖𝑛𝑒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3FCB98-E9CF-ACC2-75E5-4ED510723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728" y="4094946"/>
                <a:ext cx="10129158" cy="6442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98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7F6A-BE70-B3D6-B528-B9C71119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DQN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27026-109D-189E-7795-617FDE6FE7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79018-3697-4630-2CA6-83FBBB48A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81" y="1971312"/>
            <a:ext cx="10936226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9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6CAA-5EC4-9919-AE7F-641CE21C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DQN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EBB12-79F8-504A-A0CE-4F81DDFFD4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3930407" cy="5130800"/>
          </a:xfrm>
        </p:spPr>
        <p:txBody>
          <a:bodyPr/>
          <a:lstStyle/>
          <a:p>
            <a:r>
              <a:rPr lang="en-US" b="1" dirty="0"/>
              <a:t>Interaction:</a:t>
            </a:r>
            <a:r>
              <a:rPr lang="en-US" dirty="0"/>
              <a:t> Agent collects (s, a, r, s') transitions from the environment. “</a:t>
            </a:r>
            <a:r>
              <a:rPr lang="en-US" dirty="0" err="1"/>
              <a:t>learning_starts</a:t>
            </a:r>
            <a:r>
              <a:rPr lang="en-US" dirty="0"/>
              <a:t>” are done before training</a:t>
            </a:r>
          </a:p>
          <a:p>
            <a:r>
              <a:rPr lang="en-US" b="1" dirty="0"/>
              <a:t>Replay Buffer:</a:t>
            </a:r>
            <a:r>
              <a:rPr lang="en-US" dirty="0"/>
              <a:t> Transitions are stored to break temporal correlations.</a:t>
            </a:r>
          </a:p>
          <a:p>
            <a:r>
              <a:rPr lang="en-US" b="1" dirty="0"/>
              <a:t>Optimization:</a:t>
            </a:r>
            <a:r>
              <a:rPr lang="en-US" dirty="0"/>
              <a:t> Online Q-Network trains on random batches from the buffer. Done by default every 4 interactions (after </a:t>
            </a:r>
            <a:r>
              <a:rPr lang="en-US" dirty="0" err="1"/>
              <a:t>learning_starts</a:t>
            </a:r>
            <a:r>
              <a:rPr lang="en-US" dirty="0"/>
              <a:t>)</a:t>
            </a:r>
          </a:p>
          <a:p>
            <a:r>
              <a:rPr lang="en-US" b="1" dirty="0"/>
              <a:t>Target Update:</a:t>
            </a:r>
            <a:r>
              <a:rPr lang="en-US" dirty="0"/>
              <a:t> Weights are copied to the Target Network for stability. Done every 10000 steps by default.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DADB4-64E2-5856-29D4-065A8418F7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12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715C-D963-C2AE-5F11-D065C2F4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PPO and value function approximation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6565F-5FDC-33F7-E960-9EA997CF22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2688629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PPO has and Actor Network and a Critic Network (Value function)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8D1E5-5130-B165-37AF-9FC1DDFB55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447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4966-5DC8-29D4-FEC0-CFC1FD3FC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8" y="369422"/>
            <a:ext cx="14889965" cy="1335973"/>
          </a:xfrm>
        </p:spPr>
        <p:txBody>
          <a:bodyPr/>
          <a:lstStyle/>
          <a:p>
            <a:r>
              <a:rPr lang="en-US" dirty="0"/>
              <a:t>https://www.youtube.com/watch?v=5VHLd9eCZ-w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65483-025B-036D-28E5-F1C31E8A85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73100-302A-D706-EA10-EE93344B49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5CDBE9-BB3D-8E06-AABF-520D34287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551"/>
            <a:ext cx="16257588" cy="709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4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1F2B-DD6E-1A8C-F338-6BF5D70C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Actors in Gazebo worlds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9B2C4-56D3-6392-ABD4-27C3F35A73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Details here: </a:t>
            </a:r>
            <a:r>
              <a:rPr lang="en-US" dirty="0">
                <a:hlinkClick r:id="rId2"/>
              </a:rPr>
              <a:t>https://gazebosim.org/docs/harmonic/actors</a:t>
            </a:r>
            <a:endParaRPr lang="en-US" dirty="0"/>
          </a:p>
          <a:p>
            <a:r>
              <a:rPr lang="en-US" dirty="0"/>
              <a:t>Skeletal animation: arms and legs move (for example)</a:t>
            </a:r>
          </a:p>
          <a:p>
            <a:r>
              <a:rPr lang="en-US" dirty="0"/>
              <a:t>Trajectory animation: actor moves in world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76DE8-9EFB-7E7D-FE90-465A5E6ED04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30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4051-8F7E-F14D-5EA0-CE2DAA95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Ball to follow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BDCCA-D14B-0F14-4830-7A250AD1C3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440873"/>
            <a:ext cx="13817518" cy="6094461"/>
          </a:xfrm>
        </p:spPr>
        <p:txBody>
          <a:bodyPr/>
          <a:lstStyle/>
          <a:p>
            <a:r>
              <a:rPr lang="en-US" dirty="0"/>
              <a:t>Simple box following trajectory can be adapted to red ball: </a:t>
            </a:r>
            <a:r>
              <a:rPr lang="en-US" dirty="0">
                <a:hlinkClick r:id="rId2"/>
              </a:rPr>
              <a:t>https://classic.gazebosim.org/tutorials?tut=actor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sz="1800" dirty="0"/>
              <a:t>&lt;actor name="</a:t>
            </a:r>
            <a:r>
              <a:rPr lang="en-US" sz="1800" dirty="0" err="1"/>
              <a:t>animated_ball</a:t>
            </a:r>
            <a:r>
              <a:rPr lang="en-US" sz="1800" dirty="0"/>
              <a:t>"&gt;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&lt;link name="link"&gt;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&lt;visual name="visual"&gt;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&lt;geometry&gt;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  &lt;sphere&gt;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    &lt;radius&gt;.2&lt;/radius&gt;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  &lt;/sphere&gt;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&lt;/geometry&gt;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&lt;material name="red"&gt;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  &lt;ambient&gt;1 0 0 1&lt;/ambient&gt;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  &lt;diffuse&gt;1 0 0 1&lt;/diffuse&gt;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  &lt;specular&gt;0 0 0 0&lt;/specular&gt;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  &lt;emissive&gt;0 0 0 1&lt;/emissive&gt;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  &lt;/material&gt;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        &lt;/visual&gt;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       &lt;/link&gt;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5D8B6-5C6F-4090-A62C-8229D853477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41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FB1A-0917-BC35-D7C5-696D7525E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81" y="200330"/>
            <a:ext cx="9475914" cy="824908"/>
          </a:xfrm>
        </p:spPr>
        <p:txBody>
          <a:bodyPr/>
          <a:lstStyle/>
          <a:p>
            <a:r>
              <a:rPr lang="en-US" dirty="0"/>
              <a:t>Red Ball trajectory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39B8D-B370-BAB9-DE6F-BAC1A66C73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748145"/>
            <a:ext cx="11615780" cy="745374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600" dirty="0"/>
              <a:t>&lt;script&gt;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&lt;loop&gt;true&lt;/loop&gt;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&lt;</a:t>
            </a:r>
            <a:r>
              <a:rPr lang="en-US" sz="1600" dirty="0" err="1"/>
              <a:t>delay_start</a:t>
            </a:r>
            <a:r>
              <a:rPr lang="en-US" sz="1600" dirty="0"/>
              <a:t>&gt;0.000000&lt;/</a:t>
            </a:r>
            <a:r>
              <a:rPr lang="en-US" sz="1600" dirty="0" err="1"/>
              <a:t>delay_start</a:t>
            </a:r>
            <a:r>
              <a:rPr lang="en-US" sz="1600" dirty="0"/>
              <a:t>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&lt;</a:t>
            </a:r>
            <a:r>
              <a:rPr lang="en-US" sz="1600" dirty="0" err="1"/>
              <a:t>auto_start</a:t>
            </a:r>
            <a:r>
              <a:rPr lang="en-US" sz="1600" dirty="0"/>
              <a:t>&gt;true&lt;/</a:t>
            </a:r>
            <a:r>
              <a:rPr lang="en-US" sz="1600" dirty="0" err="1"/>
              <a:t>auto_start</a:t>
            </a:r>
            <a:r>
              <a:rPr lang="en-US" sz="1600" dirty="0"/>
              <a:t>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&lt;trajectory id="0" type="square"&gt;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&lt;time&gt;0.0&lt;/time&gt;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&lt;pose&gt;1 -1 1 0 0 0&lt;/pose&gt;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&lt;/waypoint&gt;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&lt;time&gt;1.0&lt;/time&gt;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&lt;pose&gt;1 1 1 0 0 0&lt;/pose&gt;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&lt;/waypoint&gt;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&lt;time&gt;2.0&lt;/time&gt;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&lt;pose&gt;1 1 1 0 0 0&lt;/pose&gt;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&lt;/waypoint&gt;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&lt;time&gt;3.0&lt;/time&gt;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&lt;pose&gt;1 -1 1 0 0 0&lt;/pose&gt;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&lt;/waypoint&gt;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&lt;time&gt;4.0&lt;/time&gt;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      &lt;pose&gt;1 -1 1 0 0 0&lt;/pose&gt;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            &lt;/waypoint&gt;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  &lt;/trajectory&gt;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        &lt;/script&gt;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&lt;/actor&gt;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B1755-08BA-E316-E58E-DADDA618E36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960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9645-6CC8-009A-3D0E-EF8EBAD1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to AWS small house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C61A4-09A2-E9A7-AACC-4BE707E04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Can place the code for the red ball actor in </a:t>
            </a:r>
          </a:p>
          <a:p>
            <a:r>
              <a:rPr lang="en-US" sz="2400" dirty="0"/>
              <a:t>~/create3_ws/</a:t>
            </a:r>
            <a:r>
              <a:rPr lang="en-US" sz="2400" dirty="0" err="1"/>
              <a:t>src</a:t>
            </a:r>
            <a:r>
              <a:rPr lang="en-US" sz="2400" dirty="0"/>
              <a:t>/</a:t>
            </a:r>
            <a:r>
              <a:rPr lang="en-US" sz="2400" dirty="0" err="1"/>
              <a:t>aws</a:t>
            </a:r>
            <a:r>
              <a:rPr lang="en-US" sz="2400" dirty="0"/>
              <a:t>-</a:t>
            </a:r>
            <a:r>
              <a:rPr lang="en-US" sz="2400" dirty="0" err="1"/>
              <a:t>robomaker</a:t>
            </a:r>
            <a:r>
              <a:rPr lang="en-US" sz="2400" dirty="0"/>
              <a:t>-small-house-world/worlds/</a:t>
            </a:r>
            <a:r>
              <a:rPr lang="en-US" sz="2400" dirty="0" err="1"/>
              <a:t>small_house.world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Let's also try adding the humanoid actor from the café world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230FD-CAF6-339B-80E3-DC887942097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87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F153-95F0-1C28-6CD0-822CD156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0395446" cy="1335973"/>
          </a:xfrm>
        </p:spPr>
        <p:txBody>
          <a:bodyPr/>
          <a:lstStyle/>
          <a:p>
            <a:r>
              <a:rPr lang="en-US" dirty="0"/>
              <a:t>Reinforcement Learning /w red ball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F0DD8-DC8C-258E-AB39-3BD146E7D6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Similar to having the create3 follow the index finger</a:t>
            </a:r>
          </a:p>
          <a:p>
            <a:r>
              <a:rPr lang="en-US" dirty="0"/>
              <a:t>Have create3 follow red ball in simulation</a:t>
            </a:r>
          </a:p>
          <a:p>
            <a:r>
              <a:rPr lang="en-US" dirty="0"/>
              <a:t>Assignment 2: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	need gymnasium environment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This environment creates ROS 2 node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Step function publishes Twist message to </a:t>
            </a:r>
            <a:r>
              <a:rPr lang="en-US" dirty="0" err="1"/>
              <a:t>cmd_vel</a:t>
            </a: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Return reward and new state (image or </a:t>
            </a:r>
            <a:r>
              <a:rPr lang="en-US"/>
              <a:t>just offset?)</a:t>
            </a: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99715-9005-4BAC-5CC6-404D3A0622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64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45544</TotalTime>
  <Words>1044</Words>
  <Application>Microsoft Office PowerPoint</Application>
  <PresentationFormat>Custom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Menlo</vt:lpstr>
      <vt:lpstr>Wingdings</vt:lpstr>
      <vt:lpstr>Office Theme</vt:lpstr>
      <vt:lpstr>CST8509 Value Function Approx</vt:lpstr>
      <vt:lpstr>Today's Agenda</vt:lpstr>
      <vt:lpstr>Qlearning: example of Temporal Distance Learning </vt:lpstr>
      <vt:lpstr>Value Function Approximation: Large Scale problems</vt:lpstr>
      <vt:lpstr>Value Function Approximation</vt:lpstr>
      <vt:lpstr>Value function approximation and DQN</vt:lpstr>
      <vt:lpstr>PowerPoint Presentation</vt:lpstr>
      <vt:lpstr>DQN Loss Function</vt:lpstr>
      <vt:lpstr>DQN Algorithm</vt:lpstr>
      <vt:lpstr>DQN training</vt:lpstr>
      <vt:lpstr>PPO and value function approximation</vt:lpstr>
      <vt:lpstr>https://www.youtube.com/watch?v=5VHLd9eCZ-w</vt:lpstr>
      <vt:lpstr>Actors in Gazebo worlds</vt:lpstr>
      <vt:lpstr>Red Ball to follow</vt:lpstr>
      <vt:lpstr>Red Ball trajectory</vt:lpstr>
      <vt:lpstr>Add to AWS small house</vt:lpstr>
      <vt:lpstr>Reinforcement Learning /w red ball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260</cp:revision>
  <cp:lastPrinted>2024-01-16T20:20:34Z</cp:lastPrinted>
  <dcterms:created xsi:type="dcterms:W3CDTF">2016-12-21T16:02:28Z</dcterms:created>
  <dcterms:modified xsi:type="dcterms:W3CDTF">2026-04-09T15:57:10Z</dcterms:modified>
</cp:coreProperties>
</file>
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424" r:id="rId3"/>
    <p:sldId id="450" r:id="rId4"/>
    <p:sldId id="447" r:id="rId5"/>
    <p:sldId id="446" r:id="rId6"/>
    <p:sldId id="449" r:id="rId7"/>
    <p:sldId id="448" r:id="rId8"/>
    <p:sldId id="443" r:id="rId9"/>
    <p:sldId id="444" r:id="rId10"/>
    <p:sldId id="425" r:id="rId11"/>
    <p:sldId id="445" r:id="rId12"/>
    <p:sldId id="451" r:id="rId13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807" autoAdjust="0"/>
  </p:normalViewPr>
  <p:slideViewPr>
    <p:cSldViewPr snapToGrid="0" snapToObjects="1">
      <p:cViewPr varScale="1">
        <p:scale>
          <a:sx n="64" d="100"/>
          <a:sy n="64" d="100"/>
        </p:scale>
        <p:origin x="101" y="192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A500-DC2C-8396-E0CE-FAAC8CDA3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6016" y="2015914"/>
            <a:ext cx="14705556" cy="5749481"/>
          </a:xfrm>
        </p:spPr>
        <p:txBody>
          <a:bodyPr/>
          <a:lstStyle/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Questions/Discussion on Assignment 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Review  DQN (with </a:t>
            </a:r>
            <a:r>
              <a:rPr lang="en-CA" dirty="0" err="1">
                <a:solidFill>
                  <a:srgbClr val="000000"/>
                </a:solidFill>
                <a:latin typeface="Menlo" panose="020B0609030804020204" pitchFamily="49" charset="0"/>
              </a:rPr>
              <a:t>num_blocks</a:t>
            </a: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 X </a:t>
            </a:r>
            <a:r>
              <a:rPr lang="en-CA" dirty="0" err="1">
                <a:solidFill>
                  <a:srgbClr val="000000"/>
                </a:solidFill>
                <a:latin typeface="Menlo" panose="020B0609030804020204" pitchFamily="49" charset="0"/>
              </a:rPr>
              <a:t>num_positions</a:t>
            </a: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 block-stacking)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Review RL Slides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About Written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B6CB-AF39-0907-64D1-C3B86EEF9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21DBA-1393-EE52-EAB5-E75F5D63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263" y="463565"/>
            <a:ext cx="9475914" cy="1335973"/>
          </a:xfrm>
        </p:spPr>
        <p:txBody>
          <a:bodyPr/>
          <a:lstStyle/>
          <a:p>
            <a:r>
              <a:rPr lang="en-US" dirty="0"/>
              <a:t>Today's Agenda</a:t>
            </a:r>
          </a:p>
        </p:txBody>
      </p:sp>
    </p:spTree>
    <p:extLst>
      <p:ext uri="{BB962C8B-B14F-4D97-AF65-F5344CB8AC3E}">
        <p14:creationId xmlns:p14="http://schemas.microsoft.com/office/powerpoint/2010/main" val="284985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B6AA-80F8-F2B1-C1CF-CFA47FFB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355007"/>
            <a:ext cx="11387470" cy="722232"/>
          </a:xfrm>
        </p:spPr>
        <p:txBody>
          <a:bodyPr/>
          <a:lstStyle/>
          <a:p>
            <a:r>
              <a:rPr lang="en-US" dirty="0"/>
              <a:t>RL Diagrams with virtual Create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3135D-146B-A931-6CD6-CA29D4CDE0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E94148-3C37-CA13-A59B-9E4987A396F1}"/>
              </a:ext>
            </a:extLst>
          </p:cNvPr>
          <p:cNvSpPr/>
          <p:nvPr/>
        </p:nvSpPr>
        <p:spPr>
          <a:xfrm>
            <a:off x="620479" y="4500350"/>
            <a:ext cx="3870543" cy="19290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7D99-8C4F-3E75-DAAD-BBEDC9227284}"/>
              </a:ext>
            </a:extLst>
          </p:cNvPr>
          <p:cNvSpPr txBox="1"/>
          <p:nvPr/>
        </p:nvSpPr>
        <p:spPr>
          <a:xfrm>
            <a:off x="671818" y="4428810"/>
            <a:ext cx="37528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Agent:</a:t>
            </a:r>
          </a:p>
          <a:p>
            <a:r>
              <a:rPr lang="en-US" dirty="0"/>
              <a:t>Q-Learning or</a:t>
            </a:r>
          </a:p>
          <a:p>
            <a:r>
              <a:rPr lang="en-US" dirty="0"/>
              <a:t>Stable-baselines3:</a:t>
            </a:r>
          </a:p>
          <a:p>
            <a:r>
              <a:rPr lang="en-US" dirty="0"/>
              <a:t>DQN or PPO or…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5EFE86-C198-3D54-D14E-EBCF410BFDBA}"/>
              </a:ext>
            </a:extLst>
          </p:cNvPr>
          <p:cNvSpPr/>
          <p:nvPr/>
        </p:nvSpPr>
        <p:spPr>
          <a:xfrm>
            <a:off x="6072225" y="4434213"/>
            <a:ext cx="5433736" cy="354702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D7F78-F2A4-61A0-51D4-96599194D448}"/>
              </a:ext>
            </a:extLst>
          </p:cNvPr>
          <p:cNvSpPr txBox="1"/>
          <p:nvPr/>
        </p:nvSpPr>
        <p:spPr>
          <a:xfrm>
            <a:off x="6303954" y="4636941"/>
            <a:ext cx="512309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Gymnasium Environment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BADF4D-58CE-A4CF-5FD0-14BA98F4BF4A}"/>
              </a:ext>
            </a:extLst>
          </p:cNvPr>
          <p:cNvCxnSpPr>
            <a:cxnSpLocks/>
          </p:cNvCxnSpPr>
          <p:nvPr/>
        </p:nvCxnSpPr>
        <p:spPr>
          <a:xfrm flipH="1">
            <a:off x="5085567" y="5826944"/>
            <a:ext cx="986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868E95-D7E4-2013-FC5E-72AE33176256}"/>
              </a:ext>
            </a:extLst>
          </p:cNvPr>
          <p:cNvCxnSpPr>
            <a:cxnSpLocks/>
          </p:cNvCxnSpPr>
          <p:nvPr/>
        </p:nvCxnSpPr>
        <p:spPr>
          <a:xfrm flipH="1">
            <a:off x="5085567" y="5265361"/>
            <a:ext cx="968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62053F-773F-4801-BB78-5D5FB2CA193B}"/>
              </a:ext>
            </a:extLst>
          </p:cNvPr>
          <p:cNvSpPr txBox="1"/>
          <p:nvPr/>
        </p:nvSpPr>
        <p:spPr>
          <a:xfrm>
            <a:off x="5363452" y="48099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6B2328-9A5F-4268-63AC-7C37952014CA}"/>
              </a:ext>
            </a:extLst>
          </p:cNvPr>
          <p:cNvCxnSpPr/>
          <p:nvPr/>
        </p:nvCxnSpPr>
        <p:spPr>
          <a:xfrm>
            <a:off x="5085567" y="4972833"/>
            <a:ext cx="0" cy="118760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1E6343-03CC-822D-37E5-723BE7B60287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555750" y="4158641"/>
            <a:ext cx="1" cy="341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74B908-F4E2-CE68-E0B2-D0C6AE49A908}"/>
              </a:ext>
            </a:extLst>
          </p:cNvPr>
          <p:cNvCxnSpPr>
            <a:cxnSpLocks/>
          </p:cNvCxnSpPr>
          <p:nvPr/>
        </p:nvCxnSpPr>
        <p:spPr>
          <a:xfrm flipV="1">
            <a:off x="2555750" y="4121815"/>
            <a:ext cx="6193884" cy="1743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6CA685-1BC1-39E8-0ECD-A5A01FF0561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749634" y="4121815"/>
            <a:ext cx="39459" cy="31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96FF9F-E534-A9A9-8D01-DA30CB6FF5B5}"/>
              </a:ext>
            </a:extLst>
          </p:cNvPr>
          <p:cNvCxnSpPr>
            <a:cxnSpLocks/>
          </p:cNvCxnSpPr>
          <p:nvPr/>
        </p:nvCxnSpPr>
        <p:spPr>
          <a:xfrm flipH="1">
            <a:off x="4491022" y="5826944"/>
            <a:ext cx="594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C2664E-5148-9EF8-FE29-221A9BC68FB3}"/>
              </a:ext>
            </a:extLst>
          </p:cNvPr>
          <p:cNvCxnSpPr>
            <a:cxnSpLocks/>
          </p:cNvCxnSpPr>
          <p:nvPr/>
        </p:nvCxnSpPr>
        <p:spPr>
          <a:xfrm flipH="1">
            <a:off x="4491022" y="5265361"/>
            <a:ext cx="535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D440BAE-7F5E-106B-5DD1-2D5C0295DF5E}"/>
              </a:ext>
            </a:extLst>
          </p:cNvPr>
          <p:cNvSpPr txBox="1"/>
          <p:nvPr/>
        </p:nvSpPr>
        <p:spPr>
          <a:xfrm>
            <a:off x="5411284" y="53775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AC8A43-F997-CB57-CF62-0980C82A0874}"/>
              </a:ext>
            </a:extLst>
          </p:cNvPr>
          <p:cNvSpPr txBox="1"/>
          <p:nvPr/>
        </p:nvSpPr>
        <p:spPr>
          <a:xfrm>
            <a:off x="4508762" y="4797662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66294-492A-450D-73D9-57547AF8F66F}"/>
              </a:ext>
            </a:extLst>
          </p:cNvPr>
          <p:cNvSpPr txBox="1"/>
          <p:nvPr/>
        </p:nvSpPr>
        <p:spPr>
          <a:xfrm>
            <a:off x="4491022" y="5350781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A76D5-DA7D-E26A-298C-5ADA5C063D8E}"/>
              </a:ext>
            </a:extLst>
          </p:cNvPr>
          <p:cNvSpPr txBox="1"/>
          <p:nvPr/>
        </p:nvSpPr>
        <p:spPr>
          <a:xfrm>
            <a:off x="5151962" y="3654116"/>
            <a:ext cx="1943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action </a:t>
            </a:r>
            <a:r>
              <a:rPr lang="en-US" sz="2000" i="1" dirty="0"/>
              <a:t>A</a:t>
            </a:r>
            <a:r>
              <a:rPr lang="en-US" sz="2000" i="1" baseline="-25000" dirty="0"/>
              <a:t>t</a:t>
            </a:r>
            <a:r>
              <a:rPr lang="en-US" sz="2000" dirty="0"/>
              <a:t>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AE912E-E9F4-FC70-CCC2-FA1964EBC152}"/>
              </a:ext>
            </a:extLst>
          </p:cNvPr>
          <p:cNvCxnSpPr>
            <a:cxnSpLocks/>
          </p:cNvCxnSpPr>
          <p:nvPr/>
        </p:nvCxnSpPr>
        <p:spPr>
          <a:xfrm flipH="1" flipV="1">
            <a:off x="10070926" y="4054226"/>
            <a:ext cx="12526" cy="1225022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06DBAA-4766-B71D-917E-E47207ED43AA}"/>
              </a:ext>
            </a:extLst>
          </p:cNvPr>
          <p:cNvCxnSpPr>
            <a:cxnSpLocks/>
          </p:cNvCxnSpPr>
          <p:nvPr/>
        </p:nvCxnSpPr>
        <p:spPr>
          <a:xfrm>
            <a:off x="10083452" y="4054226"/>
            <a:ext cx="13435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A83222-6956-5D84-E1F6-293D31B3A408}"/>
              </a:ext>
            </a:extLst>
          </p:cNvPr>
          <p:cNvSpPr/>
          <p:nvPr/>
        </p:nvSpPr>
        <p:spPr>
          <a:xfrm>
            <a:off x="11439567" y="2009753"/>
            <a:ext cx="3903312" cy="30079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8D1FF5-6A06-01AC-E294-2F5E4A142818}"/>
              </a:ext>
            </a:extLst>
          </p:cNvPr>
          <p:cNvSpPr/>
          <p:nvPr/>
        </p:nvSpPr>
        <p:spPr>
          <a:xfrm>
            <a:off x="13093702" y="2905841"/>
            <a:ext cx="2143593" cy="21165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CE1A8A-6471-CD26-B38D-A86F768D083B}"/>
              </a:ext>
            </a:extLst>
          </p:cNvPr>
          <p:cNvSpPr txBox="1"/>
          <p:nvPr/>
        </p:nvSpPr>
        <p:spPr>
          <a:xfrm>
            <a:off x="11857214" y="1949874"/>
            <a:ext cx="343844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Gazebo</a:t>
            </a:r>
          </a:p>
          <a:p>
            <a:r>
              <a:rPr lang="en-US" dirty="0"/>
              <a:t>AWS Small House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A56E20-C269-7AA2-996D-E1240F51BF0B}"/>
              </a:ext>
            </a:extLst>
          </p:cNvPr>
          <p:cNvSpPr/>
          <p:nvPr/>
        </p:nvSpPr>
        <p:spPr>
          <a:xfrm>
            <a:off x="230896" y="1321514"/>
            <a:ext cx="15823570" cy="6743194"/>
          </a:xfrm>
          <a:prstGeom prst="roundRect">
            <a:avLst/>
          </a:prstGeom>
          <a:noFill/>
          <a:ln w="317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0C775B-8A64-0E15-933B-0703ED512B6A}"/>
              </a:ext>
            </a:extLst>
          </p:cNvPr>
          <p:cNvSpPr txBox="1"/>
          <p:nvPr/>
        </p:nvSpPr>
        <p:spPr>
          <a:xfrm>
            <a:off x="2188562" y="1808348"/>
            <a:ext cx="733018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Loaner Laptop</a:t>
            </a:r>
          </a:p>
          <a:p>
            <a:r>
              <a:rPr lang="en-US" dirty="0"/>
              <a:t>ROS 2 Nodes Communicating </a:t>
            </a:r>
          </a:p>
        </p:txBody>
      </p:sp>
      <p:sp>
        <p:nvSpPr>
          <p:cNvPr id="11" name="Flowchart: Merge 10">
            <a:extLst>
              <a:ext uri="{FF2B5EF4-FFF2-40B4-BE49-F238E27FC236}">
                <a16:creationId xmlns:a16="http://schemas.microsoft.com/office/drawing/2014/main" id="{2E371244-3937-C729-9730-198CD13699D3}"/>
              </a:ext>
            </a:extLst>
          </p:cNvPr>
          <p:cNvSpPr/>
          <p:nvPr/>
        </p:nvSpPr>
        <p:spPr>
          <a:xfrm>
            <a:off x="13713963" y="2855646"/>
            <a:ext cx="903069" cy="769886"/>
          </a:xfrm>
          <a:prstGeom prst="flowChartMer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31DC5-D765-367E-2152-A7E7EBF60F4A}"/>
              </a:ext>
            </a:extLst>
          </p:cNvPr>
          <p:cNvSpPr txBox="1"/>
          <p:nvPr/>
        </p:nvSpPr>
        <p:spPr>
          <a:xfrm>
            <a:off x="11439558" y="3646671"/>
            <a:ext cx="221818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Camera</a:t>
            </a:r>
          </a:p>
          <a:p>
            <a:r>
              <a:rPr lang="en-US" dirty="0" err="1"/>
              <a:t>image_raw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9EC49C-1B5E-3981-9D17-301E6A01E120}"/>
              </a:ext>
            </a:extLst>
          </p:cNvPr>
          <p:cNvCxnSpPr>
            <a:cxnSpLocks/>
          </p:cNvCxnSpPr>
          <p:nvPr/>
        </p:nvCxnSpPr>
        <p:spPr>
          <a:xfrm flipV="1">
            <a:off x="12977851" y="3269173"/>
            <a:ext cx="986505" cy="79243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782BF33-727F-6123-67AE-7CB0BA4D8339}"/>
              </a:ext>
            </a:extLst>
          </p:cNvPr>
          <p:cNvSpPr/>
          <p:nvPr/>
        </p:nvSpPr>
        <p:spPr>
          <a:xfrm>
            <a:off x="9211898" y="5279248"/>
            <a:ext cx="2143593" cy="21165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ROS 2 Node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DE80AB-AA4E-04E9-E1C3-FD04365D2716}"/>
              </a:ext>
            </a:extLst>
          </p:cNvPr>
          <p:cNvSpPr txBox="1"/>
          <p:nvPr/>
        </p:nvSpPr>
        <p:spPr>
          <a:xfrm>
            <a:off x="6023569" y="5750891"/>
            <a:ext cx="4951979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Step:</a:t>
            </a:r>
          </a:p>
          <a:p>
            <a:r>
              <a:rPr lang="en-US" sz="2800" dirty="0"/>
              <a:t>publish to </a:t>
            </a:r>
            <a:r>
              <a:rPr lang="en-US" sz="2800" dirty="0" err="1"/>
              <a:t>cmd_vel</a:t>
            </a:r>
            <a:endParaRPr lang="en-US" sz="2800" dirty="0"/>
          </a:p>
          <a:p>
            <a:r>
              <a:rPr lang="en-US" sz="2800" dirty="0"/>
              <a:t>Wait for </a:t>
            </a:r>
            <a:r>
              <a:rPr lang="en-US" sz="2800" dirty="0" err="1"/>
              <a:t>stop_status</a:t>
            </a:r>
            <a:endParaRPr lang="en-US" sz="2800" dirty="0"/>
          </a:p>
          <a:p>
            <a:r>
              <a:rPr lang="en-US" sz="2800" dirty="0"/>
              <a:t>Process </a:t>
            </a:r>
            <a:r>
              <a:rPr lang="en-US" sz="2800" dirty="0" err="1"/>
              <a:t>image_raw</a:t>
            </a:r>
            <a:endParaRPr lang="en-US" sz="2800" dirty="0"/>
          </a:p>
          <a:p>
            <a:r>
              <a:rPr lang="en-US" sz="2800" dirty="0"/>
              <a:t>Return observation + reward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3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89DC-73D1-C995-B4E5-068FC4460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655476"/>
            <a:ext cx="13738496" cy="1335973"/>
          </a:xfrm>
        </p:spPr>
        <p:txBody>
          <a:bodyPr/>
          <a:lstStyle/>
          <a:p>
            <a:r>
              <a:rPr lang="en-US" dirty="0"/>
              <a:t>DQN (</a:t>
            </a:r>
            <a:r>
              <a:rPr lang="en-US" dirty="0" err="1"/>
              <a:t>num_blocks</a:t>
            </a:r>
            <a:r>
              <a:rPr lang="en-US" dirty="0"/>
              <a:t> X </a:t>
            </a:r>
            <a:r>
              <a:rPr lang="en-US" dirty="0" err="1"/>
              <a:t>num_positions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C217A-3175-FC58-6CF2-703FD5C07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1614311"/>
            <a:ext cx="13501429" cy="5915377"/>
          </a:xfrm>
        </p:spPr>
        <p:txBody>
          <a:bodyPr/>
          <a:lstStyle/>
          <a:p>
            <a:r>
              <a:rPr lang="en-US" dirty="0"/>
              <a:t>DQN with large state space (6 blocks, 6 positions):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Limit episodes to 200 steps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In early training, agent sees more block configurations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learning_starts</a:t>
            </a:r>
            <a:r>
              <a:rPr lang="en-US" dirty="0"/>
              <a:t>=2000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Perform 2000 steps before training Q-network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B8FAE-E770-51F7-6D7E-6A5B1A12655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3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F44FEA-C26F-C027-C8B4-AE634929F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982"/>
          <a:stretch>
            <a:fillRect/>
          </a:stretch>
        </p:blipFill>
        <p:spPr>
          <a:xfrm>
            <a:off x="20" y="10"/>
            <a:ext cx="16257568" cy="9143990"/>
          </a:xfrm>
          <a:prstGeom prst="rect">
            <a:avLst/>
          </a:pr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13D52A9-7D19-3D98-0994-A27E90F02D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pPr>
              <a:spcAft>
                <a:spcPts val="600"/>
              </a:spcAft>
            </a:pPr>
            <a:fld id="{DEF3F5F5-7776-394F-A41F-3BAFC9CC9F8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3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C2C4-BFFC-B3DD-562B-B141C035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DQN on 6x6 block-stacking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38BF9-AF86-030B-F5FC-3BC6783CDA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325518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Curriculum Learning: Make problem easier at the beginning and increase difficulty in subsequent additional training runs: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Keep same dimensionality 6x6 (needs to be same environment, just easier)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Introduce “difficulty level” : number of steps between start and target (DQN_4 run has </a:t>
            </a:r>
            <a:r>
              <a:rPr lang="en-US" dirty="0" err="1"/>
              <a:t>difficulty_level</a:t>
            </a:r>
            <a:r>
              <a:rPr lang="en-US" dirty="0"/>
              <a:t>=2)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Introduce “</a:t>
            </a:r>
            <a:r>
              <a:rPr lang="en-US" dirty="0" err="1"/>
              <a:t>start_flat</a:t>
            </a:r>
            <a:r>
              <a:rPr lang="en-US" dirty="0"/>
              <a:t>” : mode where every episode starts with block on its corresponding position, forcing </a:t>
            </a:r>
            <a:r>
              <a:rPr lang="en-US" dirty="0" err="1"/>
              <a:t>num_positions</a:t>
            </a:r>
            <a:r>
              <a:rPr lang="en-US" dirty="0"/>
              <a:t>=</a:t>
            </a:r>
            <a:r>
              <a:rPr lang="en-US" dirty="0" err="1"/>
              <a:t>num_blocks</a:t>
            </a:r>
            <a:r>
              <a:rPr lang="en-US" dirty="0"/>
              <a:t> (DQN_4 run has </a:t>
            </a:r>
            <a:r>
              <a:rPr lang="en-US" dirty="0" err="1"/>
              <a:t>start_flat</a:t>
            </a:r>
            <a:r>
              <a:rPr lang="en-US" dirty="0"/>
              <a:t>=True)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73BCD-58F0-B6E6-513F-F5CD38AF2B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77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D318-B3D0-2F10-6114-197E8F2C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DQN Q-network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97025-DEC6-97EA-BD94-80A6818B75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851377"/>
            <a:ext cx="14562585" cy="628791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Default structure is [64,64]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Q-network structure is increased to [512,512,256] in DQN5 run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Current configuration: 6 1-hot vectors of length 12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Target configuration: 6 1-hot vectors of length 12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MultiInputPolicy</a:t>
            </a:r>
            <a:r>
              <a:rPr lang="en-US" dirty="0"/>
              <a:t> -&gt; input is vector of length 144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Capacity: the first 512-layer has enough surface area to learn specific combinations of block positions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Separation: Deep layers (3 total) help the model learn that a 1 in the 7th bit (Block a on Position 1) combined with a 1 in the 13</a:t>
            </a:r>
            <a:r>
              <a:rPr lang="en-US" baseline="30000" dirty="0"/>
              <a:t>th</a:t>
            </a:r>
            <a:r>
              <a:rPr lang="en-US" dirty="0"/>
              <a:t> bit (Block b on Block a) represents a stack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FBE05-93EC-57AF-DF58-D48F96A7DA6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4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4F19-E5A1-44E3-F47C-D67BF2ED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7E0BA-56EB-67F6-B690-0E0A59DDCD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07127"/>
            <a:ext cx="12833845" cy="6497782"/>
          </a:xfrm>
        </p:spPr>
        <p:txBody>
          <a:bodyPr/>
          <a:lstStyle/>
          <a:p>
            <a:r>
              <a:rPr lang="en-US" dirty="0"/>
              <a:t>CST8509_01_RL_Intro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Basic concepts and definitions</a:t>
            </a:r>
          </a:p>
          <a:p>
            <a:r>
              <a:rPr lang="en-US" dirty="0"/>
              <a:t>CST8509_02_MDP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MDPs, more on Value functions, Policy</a:t>
            </a:r>
          </a:p>
          <a:p>
            <a:r>
              <a:rPr lang="en-US" dirty="0"/>
              <a:t>CST8509_03_Gymnasium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Practical Agent – Environment infrastructure, Prolog,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CST8509_04_StableBaselines3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SB3 features: Wrappers, Callbacks, Vectorized Environments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AFE7E-851A-6A1F-0DD8-DD45266EF2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31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4F19-E5A1-44E3-F47C-D67BF2ED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371104"/>
            <a:ext cx="9475914" cy="1335973"/>
          </a:xfrm>
        </p:spPr>
        <p:txBody>
          <a:bodyPr/>
          <a:lstStyle/>
          <a:p>
            <a:r>
              <a:rPr lang="en-US" dirty="0"/>
              <a:t>Slides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7E0BA-56EB-67F6-B690-0E0A59DDCD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088350"/>
            <a:ext cx="12833845" cy="7220272"/>
          </a:xfrm>
        </p:spPr>
        <p:txBody>
          <a:bodyPr/>
          <a:lstStyle/>
          <a:p>
            <a:r>
              <a:rPr lang="en-US" dirty="0"/>
              <a:t>CST8509_05_DQN_StableBaselines3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DQN practical aspects</a:t>
            </a:r>
          </a:p>
          <a:p>
            <a:r>
              <a:rPr lang="en-US" dirty="0"/>
              <a:t>CST8509_07_Gazebo_DynamicP_MC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Gazebo Simulation, Dynamic Programming, Monte Carlo Methods</a:t>
            </a:r>
          </a:p>
          <a:p>
            <a:r>
              <a:rPr lang="en-US" dirty="0"/>
              <a:t>CST8509_08_Docker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Solution for python virtual environments and ROS2 workspaces</a:t>
            </a:r>
          </a:p>
          <a:p>
            <a:r>
              <a:rPr lang="en-US" dirty="0"/>
              <a:t>CST8509_09_Value_Fn_approx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Realistic large State/Action spaces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DQN and value function approximation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PPO and value function approximation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AFE7E-851A-6A1F-0DD8-DD45266EF2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7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0317F-BBAD-7463-991A-EF14D51E7C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330035"/>
            <a:ext cx="14163882" cy="67748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Example Written Questions from Midterm and Midterm Review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"Time to check your learning" slides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Some Multiple Choice questions can be rephrased into written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CAF2B-8A31-029D-C4EC-635213E489C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8BCF5-AAB6-1109-04E7-56B7B48B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89" y="371104"/>
            <a:ext cx="10575555" cy="667987"/>
          </a:xfrm>
        </p:spPr>
        <p:txBody>
          <a:bodyPr/>
          <a:lstStyle/>
          <a:p>
            <a:r>
              <a:rPr lang="en-US" dirty="0"/>
              <a:t>About Written Questions</a:t>
            </a:r>
          </a:p>
        </p:txBody>
      </p:sp>
    </p:spTree>
    <p:extLst>
      <p:ext uri="{BB962C8B-B14F-4D97-AF65-F5344CB8AC3E}">
        <p14:creationId xmlns:p14="http://schemas.microsoft.com/office/powerpoint/2010/main" val="64741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D16-4FFF-4CC5-AB0B-3BA5B5F8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2057992" cy="1335973"/>
          </a:xfrm>
        </p:spPr>
        <p:txBody>
          <a:bodyPr/>
          <a:lstStyle/>
          <a:p>
            <a:r>
              <a:rPr lang="en-US" dirty="0"/>
              <a:t>Written Question Additional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9D625-E7AF-2ED0-4F63-216C8FFDB3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01421"/>
            <a:ext cx="14136173" cy="6412089"/>
          </a:xfrm>
        </p:spPr>
        <p:txBody>
          <a:bodyPr/>
          <a:lstStyle/>
          <a:p>
            <a:r>
              <a:rPr lang="en-US" dirty="0"/>
              <a:t>How can Reinforcement Learning be applied to problems where the number of states is huge?</a:t>
            </a:r>
          </a:p>
          <a:p>
            <a:r>
              <a:rPr lang="en-US" dirty="0"/>
              <a:t>Describe at a high level how the DQN algorithm does value function approximation</a:t>
            </a:r>
          </a:p>
          <a:p>
            <a:r>
              <a:rPr lang="en-US" dirty="0"/>
              <a:t>Describe at a high level how the PPO algorithm does value function approximation</a:t>
            </a:r>
          </a:p>
          <a:p>
            <a:r>
              <a:rPr lang="en-US" dirty="0"/>
              <a:t>Where would a neural network appear in a Reinforcement Learning Problem/Solution?</a:t>
            </a:r>
          </a:p>
          <a:p>
            <a:r>
              <a:rPr lang="en-US" dirty="0"/>
              <a:t>What are possible sources of training data for a neural network in a Reinforcement Learning Problem/Solution?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35B85-2D0F-17FA-79A5-9A03BC0DA5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82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54D6-1301-2AB6-E2FE-E50E8770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Question Additional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4632F-11C6-E19D-7B9C-3DCA726D38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4467223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Give an overview of the strategy used in Assignment 2 to set up a Reinforcement Learning solution with simulation for training a Create3 robot to do some arbitrary task, for example, the red-ball-following task of Assignment 2. Your overview should mention the major tools,  technologies, and projects used, their purpose and how they interact in the solution.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Suppose you are running an SB3 agent on a gymnasium environment with unsatisfactory results.  What areas could you explore in order to </a:t>
            </a:r>
            <a:r>
              <a:rPr lang="en-US"/>
              <a:t>improve results?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60D1B-097A-6AA9-E046-DC75983F67F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44884</TotalTime>
  <Words>672</Words>
  <Application>Microsoft Office PowerPoint</Application>
  <PresentationFormat>Custom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Menlo</vt:lpstr>
      <vt:lpstr>Wingdings</vt:lpstr>
      <vt:lpstr>Office Theme</vt:lpstr>
      <vt:lpstr>Final Review</vt:lpstr>
      <vt:lpstr>Today's Agenda</vt:lpstr>
      <vt:lpstr>RL Diagrams with virtual Create 3</vt:lpstr>
      <vt:lpstr>DQN (num_blocks X num_positions)</vt:lpstr>
      <vt:lpstr>PowerPoint Presentation</vt:lpstr>
      <vt:lpstr>DQN on 6x6 block-stacking</vt:lpstr>
      <vt:lpstr>DQN Q-network structure</vt:lpstr>
      <vt:lpstr>Slides</vt:lpstr>
      <vt:lpstr>Slides (cont'd)</vt:lpstr>
      <vt:lpstr>About Written Questions</vt:lpstr>
      <vt:lpstr>Written Question Additional Examples</vt:lpstr>
      <vt:lpstr>Written Question Additional Examples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261</cp:revision>
  <cp:lastPrinted>2024-01-16T20:20:34Z</cp:lastPrinted>
  <dcterms:created xsi:type="dcterms:W3CDTF">2016-12-21T16:02:28Z</dcterms:created>
  <dcterms:modified xsi:type="dcterms:W3CDTF">2026-04-16T14:33:24Z</dcterms:modified>
</cp:coreProperties>
</file>
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424" r:id="rId3"/>
    <p:sldId id="437" r:id="rId4"/>
    <p:sldId id="439" r:id="rId5"/>
    <p:sldId id="425" r:id="rId6"/>
    <p:sldId id="440" r:id="rId7"/>
    <p:sldId id="441" r:id="rId8"/>
    <p:sldId id="443" r:id="rId9"/>
    <p:sldId id="442" r:id="rId10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796" autoAdjust="0"/>
  </p:normalViewPr>
  <p:slideViewPr>
    <p:cSldViewPr snapToGrid="0" snapToObjects="1">
      <p:cViewPr varScale="1">
        <p:scale>
          <a:sx n="100" d="100"/>
          <a:sy n="100" d="100"/>
        </p:scale>
        <p:origin x="664" y="176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Midterm Review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A500-DC2C-8396-E0CE-FAAC8CDA3D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6016" y="2015914"/>
            <a:ext cx="14705556" cy="5749481"/>
          </a:xfrm>
        </p:spPr>
        <p:txBody>
          <a:bodyPr/>
          <a:lstStyle/>
          <a:p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-CA" dirty="0">
                <a:solidFill>
                  <a:srgbClr val="000000"/>
                </a:solidFill>
                <a:latin typeface="Menlo" panose="020B0609030804020204" pitchFamily="49" charset="0"/>
              </a:rPr>
              <a:t>Review RL (CST8509_RL_Intro, CST8509_02_MDP, CST8509_03_Gymnasium)</a:t>
            </a: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Review Q-Learning (Lab3, Assignment1)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Sample Written Questions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CB6CB-AF39-0907-64D1-C3B86EEF92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21DBA-1393-EE52-EAB5-E75F5D63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263" y="463565"/>
            <a:ext cx="9475914" cy="1335973"/>
          </a:xfrm>
        </p:spPr>
        <p:txBody>
          <a:bodyPr/>
          <a:lstStyle/>
          <a:p>
            <a:r>
              <a:rPr lang="en-US" dirty="0"/>
              <a:t>Today's Agenda</a:t>
            </a:r>
          </a:p>
        </p:txBody>
      </p:sp>
    </p:spTree>
    <p:extLst>
      <p:ext uri="{BB962C8B-B14F-4D97-AF65-F5344CB8AC3E}">
        <p14:creationId xmlns:p14="http://schemas.microsoft.com/office/powerpoint/2010/main" val="284985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0317F-BBAD-7463-991A-EF14D51E7C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4445" y="2119744"/>
            <a:ext cx="14163882" cy="620683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Reinforcement Learning Fundamentals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Basic Q-Learning with Basic "homemade" environment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Gymnasium custom environment, </a:t>
            </a:r>
            <a:r>
              <a:rPr lang="en-US" dirty="0" err="1"/>
              <a:t>Pygame</a:t>
            </a:r>
            <a:r>
              <a:rPr lang="en-US" dirty="0"/>
              <a:t> rendering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Q-learning with Gymnasium </a:t>
            </a:r>
            <a:r>
              <a:rPr lang="en-US" dirty="0" err="1"/>
              <a:t>Cliffwalking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Qlearning</a:t>
            </a:r>
            <a:r>
              <a:rPr lang="en-US" dirty="0"/>
              <a:t> deep dive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Stable-baselines3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CAF2B-8A31-029D-C4EC-635213E489C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F24AB7-FA2F-DB32-5C5C-D682F44E7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263" y="463565"/>
            <a:ext cx="9475914" cy="1335973"/>
          </a:xfrm>
        </p:spPr>
        <p:txBody>
          <a:bodyPr/>
          <a:lstStyle/>
          <a:p>
            <a:r>
              <a:rPr lang="en-US" dirty="0"/>
              <a:t>Midterm Scope</a:t>
            </a:r>
          </a:p>
        </p:txBody>
      </p:sp>
    </p:spTree>
    <p:extLst>
      <p:ext uri="{BB962C8B-B14F-4D97-AF65-F5344CB8AC3E}">
        <p14:creationId xmlns:p14="http://schemas.microsoft.com/office/powerpoint/2010/main" val="370335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0317F-BBAD-7463-991A-EF14D51E7C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330035"/>
            <a:ext cx="14163882" cy="677487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Question: Why does our </a:t>
            </a:r>
            <a:r>
              <a:rPr lang="en-US" dirty="0" err="1"/>
              <a:t>CliffWalking</a:t>
            </a:r>
            <a:r>
              <a:rPr lang="en-US" dirty="0"/>
              <a:t> Example converge on the shortest path?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Q-Learning </a:t>
            </a:r>
            <a:r>
              <a:rPr lang="en-US" dirty="0" err="1"/>
              <a:t>CliffWalking</a:t>
            </a:r>
            <a:r>
              <a:rPr lang="en-US" dirty="0"/>
              <a:t> animation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Discussion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Why does Sarsa converge on a different path?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How does the initialization of the </a:t>
            </a:r>
            <a:r>
              <a:rPr lang="en-US" dirty="0" err="1"/>
              <a:t>qtable</a:t>
            </a:r>
            <a:r>
              <a:rPr lang="en-US" dirty="0"/>
              <a:t> affect convergence?</a:t>
            </a:r>
          </a:p>
          <a:p>
            <a:pPr marL="2477567" lvl="2">
              <a:buFont typeface="Arial" panose="020B0604020202020204" pitchFamily="34" charset="0"/>
              <a:buChar char="•"/>
            </a:pPr>
            <a:r>
              <a:rPr lang="en-US" dirty="0"/>
              <a:t>Randomized?  Initialize to zero?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How important is setting the action-values of the terminal state to zero?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CAF2B-8A31-029D-C4EC-635213E489C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8BCF5-AAB6-1109-04E7-56B7B48B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89" y="371104"/>
            <a:ext cx="10575555" cy="667987"/>
          </a:xfrm>
        </p:spPr>
        <p:txBody>
          <a:bodyPr/>
          <a:lstStyle/>
          <a:p>
            <a:r>
              <a:rPr lang="en-US" dirty="0"/>
              <a:t>Q-Learning Deep Dive</a:t>
            </a:r>
          </a:p>
        </p:txBody>
      </p:sp>
    </p:spTree>
    <p:extLst>
      <p:ext uri="{BB962C8B-B14F-4D97-AF65-F5344CB8AC3E}">
        <p14:creationId xmlns:p14="http://schemas.microsoft.com/office/powerpoint/2010/main" val="412450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0317F-BBAD-7463-991A-EF14D51E7C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330035"/>
            <a:ext cx="14163882" cy="677487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Questions from "Time to check your learning" slides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Draw the diagram that represents the primary aspects of a Reinforcement Learning problem/solution with agent-environment interaction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CAF2B-8A31-029D-C4EC-635213E489C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8BCF5-AAB6-1109-04E7-56B7B48B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89" y="371104"/>
            <a:ext cx="10575555" cy="667987"/>
          </a:xfrm>
        </p:spPr>
        <p:txBody>
          <a:bodyPr/>
          <a:lstStyle/>
          <a:p>
            <a:r>
              <a:rPr lang="en-US" dirty="0"/>
              <a:t>Sample Written Questions</a:t>
            </a:r>
          </a:p>
        </p:txBody>
      </p:sp>
    </p:spTree>
    <p:extLst>
      <p:ext uri="{BB962C8B-B14F-4D97-AF65-F5344CB8AC3E}">
        <p14:creationId xmlns:p14="http://schemas.microsoft.com/office/powerpoint/2010/main" val="647411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AF8A-B93D-8FC4-B173-AC17323B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463566"/>
            <a:ext cx="13457301" cy="533962"/>
          </a:xfrm>
        </p:spPr>
        <p:txBody>
          <a:bodyPr/>
          <a:lstStyle/>
          <a:p>
            <a:r>
              <a:rPr lang="en-US" dirty="0"/>
              <a:t>Sample Written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1B053-3FB9-1790-DD14-4C2876BB9B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282315"/>
            <a:ext cx="14981300" cy="682259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Write down the q-table update portion of the q-learning algorithm in python syntax.  Give a list of each variable used and its meaning.</a:t>
            </a:r>
          </a:p>
          <a:p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[state][action]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[state][action] + alpha * (reward + gamma * max(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 -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[state][action])</a:t>
            </a:r>
          </a:p>
          <a:p>
            <a:r>
              <a:rPr lang="en-US" dirty="0" err="1"/>
              <a:t>qtable</a:t>
            </a:r>
            <a:r>
              <a:rPr lang="en-US" dirty="0"/>
              <a:t>: the table of action-values implementing the action-value function</a:t>
            </a:r>
          </a:p>
          <a:p>
            <a:r>
              <a:rPr lang="en-US" dirty="0"/>
              <a:t>state: the current state</a:t>
            </a:r>
          </a:p>
          <a:p>
            <a:r>
              <a:rPr lang="en-US" dirty="0"/>
              <a:t>action: the current action</a:t>
            </a:r>
          </a:p>
          <a:p>
            <a:r>
              <a:rPr lang="en-US" dirty="0"/>
              <a:t>alpha: step size</a:t>
            </a:r>
          </a:p>
          <a:p>
            <a:r>
              <a:rPr lang="en-US" dirty="0"/>
              <a:t>reward: reward received from taking action in state</a:t>
            </a:r>
          </a:p>
          <a:p>
            <a:r>
              <a:rPr lang="en-US" dirty="0"/>
              <a:t>gamma: discount factor</a:t>
            </a:r>
          </a:p>
          <a:p>
            <a:r>
              <a:rPr lang="en-US" dirty="0" err="1"/>
              <a:t>next_state</a:t>
            </a:r>
            <a:r>
              <a:rPr lang="en-US" dirty="0"/>
              <a:t>: the state resulting from taking action in state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76672-C1DB-A6D6-F080-F5A53ED0A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4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6148-8F6F-F3A4-AD02-A3A4FFF1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Written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4533F-60C1-3675-746A-A95BCAF3A9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04109"/>
            <a:ext cx="14828900" cy="5831225"/>
          </a:xfrm>
        </p:spPr>
        <p:txBody>
          <a:bodyPr/>
          <a:lstStyle/>
          <a:p>
            <a:r>
              <a:rPr lang="en-US" dirty="0"/>
              <a:t>What is gymnasium?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202123"/>
                </a:solidFill>
                <a:effectLst/>
                <a:latin typeface="-apple-system"/>
              </a:rPr>
              <a:t>An API standard for reinforcement learning with a diverse collection of reference environments</a:t>
            </a:r>
          </a:p>
          <a:p>
            <a:r>
              <a:rPr lang="en-CA" b="1" dirty="0">
                <a:solidFill>
                  <a:srgbClr val="202123"/>
                </a:solidFill>
                <a:latin typeface="-apple-system"/>
              </a:rPr>
              <a:t>or</a:t>
            </a:r>
            <a:endParaRPr lang="en-CA" b="1" i="0" u="none" strike="noStrike" dirty="0">
              <a:solidFill>
                <a:srgbClr val="202123"/>
              </a:solidFill>
              <a:effectLst/>
              <a:latin typeface="-apple-system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Gymnasium is a framework for creating Reinforcement Learning environments with a standard interface such that various RL algorithms/agents can be applied to the environment in a standard way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F8A3A-FEBB-4C70-7C4F-21F8FCC3B96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347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1663B-C942-3263-68BA-8CF27F89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95AC-78FE-9CA6-00F1-B5E4AE80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Written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66AD6-EE5E-1234-4671-55328AB50D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704109"/>
            <a:ext cx="14828900" cy="5831225"/>
          </a:xfrm>
        </p:spPr>
        <p:txBody>
          <a:bodyPr/>
          <a:lstStyle/>
          <a:p>
            <a:r>
              <a:rPr lang="en-US" dirty="0"/>
              <a:t>What is a gymnasium wrapper?</a:t>
            </a:r>
          </a:p>
          <a:p>
            <a:r>
              <a:rPr lang="en-US" dirty="0"/>
              <a:t>From the docs…</a:t>
            </a:r>
          </a:p>
          <a:p>
            <a:endParaRPr lang="en-US" dirty="0"/>
          </a:p>
          <a:p>
            <a:r>
              <a:rPr lang="en-CA" dirty="0"/>
              <a:t>Wrappers are a convenient way to modify an existing environment without having to alter the underlying code directly.</a:t>
            </a:r>
          </a:p>
          <a:p>
            <a:r>
              <a:rPr lang="en-CA" dirty="0"/>
              <a:t>In order to wrap an environment, you must first initialize a base environment. Then you can pass this environment along with (possibly optional) parameters to the wrapper’s constructor.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9FC25-9EB1-B009-58B7-0FCDD08D2F9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2491-13AF-ADAB-DF36-36907E612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stable-baselines3?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D510C-AC9F-D668-1E2E-FDAF8153F4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84218"/>
            <a:ext cx="11615780" cy="5651116"/>
          </a:xfrm>
        </p:spPr>
        <p:txBody>
          <a:bodyPr/>
          <a:lstStyle/>
          <a:p>
            <a:r>
              <a:rPr lang="en-US" dirty="0"/>
              <a:t>Stable-baselines3 is a set of reliable Reinforcement Learning algorithm implementations that includes features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Vectorized environments (running the algorithm on several copies of the environment at the same time)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Callbacks (giving the programmer mechanisms to run custom code to do </a:t>
            </a:r>
            <a:r>
              <a:rPr lang="en-CA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monitoring, auto saving, model manipulation, progress bars,</a:t>
            </a:r>
            <a:r>
              <a:rPr lang="en-US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b="0" i="0" u="none" strike="noStrike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etc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5E931-12B7-0D56-4CCB-048195BD06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3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47450</TotalTime>
  <Words>450</Words>
  <Application>Microsoft Macintosh PowerPoint</Application>
  <PresentationFormat>Custom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-apple-system</vt:lpstr>
      <vt:lpstr>Arial</vt:lpstr>
      <vt:lpstr>Calibri</vt:lpstr>
      <vt:lpstr>Lato</vt:lpstr>
      <vt:lpstr>Menlo</vt:lpstr>
      <vt:lpstr>Wingdings</vt:lpstr>
      <vt:lpstr>Office Theme</vt:lpstr>
      <vt:lpstr>Midterm Review</vt:lpstr>
      <vt:lpstr>Today's Agenda</vt:lpstr>
      <vt:lpstr>Midterm Scope</vt:lpstr>
      <vt:lpstr>Q-Learning Deep Dive</vt:lpstr>
      <vt:lpstr>Sample Written Questions</vt:lpstr>
      <vt:lpstr>Sample Written Questions</vt:lpstr>
      <vt:lpstr>Sample Written Questions</vt:lpstr>
      <vt:lpstr>Sample Written Questions</vt:lpstr>
      <vt:lpstr>What is stable-baselines3?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251</cp:revision>
  <cp:lastPrinted>2024-01-16T20:20:34Z</cp:lastPrinted>
  <dcterms:created xsi:type="dcterms:W3CDTF">2016-12-21T16:02:28Z</dcterms:created>
  <dcterms:modified xsi:type="dcterms:W3CDTF">2026-02-25T19:23:42Z</dcterms:modified>
</cp:coreProperties>
</file>
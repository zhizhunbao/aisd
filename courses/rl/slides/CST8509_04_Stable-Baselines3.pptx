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7" r:id="rId2"/>
    <p:sldId id="424" r:id="rId3"/>
    <p:sldId id="437" r:id="rId4"/>
    <p:sldId id="446" r:id="rId5"/>
    <p:sldId id="448" r:id="rId6"/>
    <p:sldId id="439" r:id="rId7"/>
    <p:sldId id="442" r:id="rId8"/>
    <p:sldId id="445" r:id="rId9"/>
    <p:sldId id="443" r:id="rId10"/>
    <p:sldId id="447" r:id="rId11"/>
    <p:sldId id="440" r:id="rId12"/>
  </p:sldIdLst>
  <p:sldSz cx="16257588" cy="9144000"/>
  <p:notesSz cx="6858000" cy="9144000"/>
  <p:defaultTextStyle>
    <a:defPPr>
      <a:defRPr lang="en-US"/>
    </a:defPPr>
    <a:lvl1pPr marL="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1pPr>
    <a:lvl2pPr marL="781583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2pPr>
    <a:lvl3pPr marL="156316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3pPr>
    <a:lvl4pPr marL="234475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4pPr>
    <a:lvl5pPr marL="3126334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5pPr>
    <a:lvl6pPr marL="390791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6pPr>
    <a:lvl7pPr marL="468950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7pPr>
    <a:lvl8pPr marL="5471084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8pPr>
    <a:lvl9pPr marL="625266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512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B02A"/>
    <a:srgbClr val="267A52"/>
    <a:srgbClr val="00673E"/>
    <a:srgbClr val="006643"/>
    <a:srgbClr val="589278"/>
    <a:srgbClr val="7AC1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79" autoAdjust="0"/>
    <p:restoredTop sz="94966" autoAdjust="0"/>
  </p:normalViewPr>
  <p:slideViewPr>
    <p:cSldViewPr snapToGrid="0" snapToObjects="1">
      <p:cViewPr varScale="1">
        <p:scale>
          <a:sx n="91" d="100"/>
          <a:sy n="91" d="100"/>
        </p:scale>
        <p:origin x="1160" y="192"/>
      </p:cViewPr>
      <p:guideLst>
        <p:guide orient="horz" pos="2880"/>
        <p:guide pos="5121"/>
      </p:guideLst>
    </p:cSldViewPr>
  </p:slideViewPr>
  <p:outlineViewPr>
    <p:cViewPr>
      <p:scale>
        <a:sx n="33" d="100"/>
        <a:sy n="33" d="100"/>
      </p:scale>
      <p:origin x="0" y="5384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678AF4-5E64-AC4C-BB17-179E924E563F}" type="datetimeFigureOut">
              <a:rPr lang="en-US" smtClean="0"/>
              <a:t>1/28/26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BC6A53-3777-FA4B-999B-678D40C4B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41370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BA0A7F-40AB-B84E-BA8C-8861397EF456}" type="datetimeFigureOut">
              <a:rPr lang="en-US" smtClean="0"/>
              <a:t>1/28/26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B51CE3-F1EC-6B4D-8B6D-86D363C89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87595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781583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56316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234475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3126334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390791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468950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5471084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625266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5978"/>
            <a:ext cx="16257588" cy="17390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12882" y="1716573"/>
            <a:ext cx="9668510" cy="2180690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CA" dirty="0"/>
              <a:t>This is your presentation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12881" y="4032727"/>
            <a:ext cx="12157629" cy="233680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buNone/>
              <a:defRPr sz="4800" baseline="0">
                <a:solidFill>
                  <a:schemeClr val="accent3"/>
                </a:solidFill>
              </a:defRPr>
            </a:lvl1pPr>
            <a:lvl2pPr marL="7815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5631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3447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1263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9079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689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471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2526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 dirty="0"/>
              <a:t>Presentation subtitle or brief one-sentence description.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29733" y="7346545"/>
            <a:ext cx="7145607" cy="993775"/>
          </a:xfrm>
        </p:spPr>
        <p:txBody>
          <a:bodyPr anchor="b"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Month 24th, 2017</a:t>
            </a:r>
            <a:endParaRPr lang="en-US" dirty="0"/>
          </a:p>
        </p:txBody>
      </p:sp>
      <p:pic>
        <p:nvPicPr>
          <p:cNvPr id="4" name="Picture 3" descr="ac-logo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57728" y="825406"/>
            <a:ext cx="3390900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026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eparator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5978"/>
            <a:ext cx="16257588" cy="17390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0" y="2059516"/>
            <a:ext cx="9668513" cy="1816101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4800" b="1" cap="none" baseline="0">
                <a:solidFill>
                  <a:srgbClr val="FFFFFF"/>
                </a:solidFill>
              </a:defRPr>
            </a:lvl1pPr>
          </a:lstStyle>
          <a:p>
            <a:r>
              <a:rPr lang="en-CA" dirty="0"/>
              <a:t>Chapter or Section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12881" y="4083762"/>
            <a:ext cx="9668512" cy="2000250"/>
          </a:xfr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sz="3400" baseline="0">
                <a:solidFill>
                  <a:srgbClr val="A6C8BC"/>
                </a:solidFill>
              </a:defRPr>
            </a:lvl1pPr>
            <a:lvl2pPr marL="781583" indent="0">
              <a:buNone/>
              <a:defRPr sz="3100">
                <a:solidFill>
                  <a:schemeClr val="tx1">
                    <a:tint val="75000"/>
                  </a:schemeClr>
                </a:solidFill>
              </a:defRPr>
            </a:lvl2pPr>
            <a:lvl3pPr marL="1563167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34475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312633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90791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6895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547108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625266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 dirty="0"/>
              <a:t>Brief description or intro to this section</a:t>
            </a:r>
          </a:p>
        </p:txBody>
      </p:sp>
      <p:pic>
        <p:nvPicPr>
          <p:cNvPr id="10" name="Picture 9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18893" y="689942"/>
            <a:ext cx="965199" cy="711200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rgbClr val="96B7A6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38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Autho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5" hasCustomPrompt="1"/>
          </p:nvPr>
        </p:nvSpPr>
        <p:spPr>
          <a:xfrm>
            <a:off x="3335758" y="2404534"/>
            <a:ext cx="4633424" cy="4303580"/>
          </a:xfr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8297063" y="3115733"/>
            <a:ext cx="4673448" cy="2881182"/>
          </a:xfrm>
        </p:spPr>
        <p:txBody>
          <a:bodyPr anchor="ctr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chemeClr val="tx2"/>
                </a:solidFill>
              </a:defRPr>
            </a:lvl1pPr>
          </a:lstStyle>
          <a:p>
            <a:r>
              <a:rPr lang="en-CA" dirty="0"/>
              <a:t>About the Author (1 author)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296275" y="2405062"/>
            <a:ext cx="46736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Name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9" hasCustomPrompt="1"/>
          </p:nvPr>
        </p:nvSpPr>
        <p:spPr>
          <a:xfrm>
            <a:off x="8296275" y="5997575"/>
            <a:ext cx="4673600" cy="710539"/>
          </a:xfr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</p:spTree>
    <p:extLst>
      <p:ext uri="{BB962C8B-B14F-4D97-AF65-F5344CB8AC3E}">
        <p14:creationId xmlns:p14="http://schemas.microsoft.com/office/powerpoint/2010/main" val="16981270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Auth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5" hasCustomPrompt="1"/>
          </p:nvPr>
        </p:nvSpPr>
        <p:spPr>
          <a:xfrm>
            <a:off x="829814" y="2405062"/>
            <a:ext cx="2167288" cy="2013003"/>
          </a:xfr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3318933" y="3115733"/>
            <a:ext cx="4673448" cy="2387600"/>
          </a:xfrm>
        </p:spPr>
        <p:txBody>
          <a:bodyPr anchor="t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About the Author (2 authors)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3318145" y="2405062"/>
            <a:ext cx="46736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1 Name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9" hasCustomPrompt="1"/>
          </p:nvPr>
        </p:nvSpPr>
        <p:spPr>
          <a:xfrm>
            <a:off x="3318145" y="5503333"/>
            <a:ext cx="4673600" cy="710539"/>
          </a:xfr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  <p:sp>
        <p:nvSpPr>
          <p:cNvPr id="9" name="Picture Placeholder 4"/>
          <p:cNvSpPr>
            <a:spLocks noGrp="1"/>
          </p:cNvSpPr>
          <p:nvPr>
            <p:ph type="pic" sz="quarter" idx="20" hasCustomPrompt="1"/>
          </p:nvPr>
        </p:nvSpPr>
        <p:spPr>
          <a:xfrm>
            <a:off x="8297171" y="2405062"/>
            <a:ext cx="2167288" cy="2013003"/>
          </a:xfr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21" hasCustomPrompt="1"/>
          </p:nvPr>
        </p:nvSpPr>
        <p:spPr>
          <a:xfrm>
            <a:off x="10786290" y="3115733"/>
            <a:ext cx="4673448" cy="2387600"/>
          </a:xfrm>
        </p:spPr>
        <p:txBody>
          <a:bodyPr anchor="t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5502" y="2405062"/>
            <a:ext cx="46736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2 Name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3" hasCustomPrompt="1"/>
          </p:nvPr>
        </p:nvSpPr>
        <p:spPr>
          <a:xfrm>
            <a:off x="10785502" y="5503333"/>
            <a:ext cx="4673600" cy="710539"/>
          </a:xfr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  <p:pic>
        <p:nvPicPr>
          <p:cNvPr id="15" name="Picture 14" descr="curtain-100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5826"/>
            <a:ext cx="16257588" cy="1778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7974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Key Poi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key point text slide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11615780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89278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4" name="Picture 13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5" name="Picture 14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832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Key Point, No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660398"/>
            <a:ext cx="11615780" cy="6874935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A basic 1-column key point slide with no title. 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3" name="Picture 1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4" name="Picture 1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6364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2-column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7162458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8297170" y="2404534"/>
            <a:ext cx="7147539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pic>
        <p:nvPicPr>
          <p:cNvPr id="17" name="Picture 16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8" name="Picture 17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9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18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Key Point w/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basic 2-column key point text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7162458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8297170" y="3115732"/>
            <a:ext cx="7147539" cy="4419602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3" y="2405062"/>
            <a:ext cx="716245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8297170" y="2405062"/>
            <a:ext cx="7147539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12" name="Picture 11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3" name="Picture 12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20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022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4673339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2404534"/>
            <a:ext cx="4644000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2404534"/>
            <a:ext cx="4673448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pic>
        <p:nvPicPr>
          <p:cNvPr id="11" name="Picture 10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2" name="Picture 11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3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9520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Key Point w/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key point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3115732"/>
            <a:ext cx="4644000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3115732"/>
            <a:ext cx="4673448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2405062"/>
            <a:ext cx="46440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3" name="Text Placeholder 6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2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4566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4673339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2404534"/>
            <a:ext cx="4644000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2404534"/>
            <a:ext cx="4673448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5130801"/>
            <a:ext cx="4673339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5130801"/>
            <a:ext cx="4644000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5130801"/>
            <a:ext cx="4673448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2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04804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Key Point w/ 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6-point key point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3"/>
            <a:ext cx="4673339" cy="16979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3115733"/>
            <a:ext cx="4644000" cy="16979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3115733"/>
            <a:ext cx="4673448" cy="16979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5858406"/>
            <a:ext cx="4673339" cy="1681532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5858406"/>
            <a:ext cx="4644000" cy="1681532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5858406"/>
            <a:ext cx="4673448" cy="1681532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5807945" y="2405062"/>
            <a:ext cx="46440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9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0" name="Text Placeholder 6"/>
          <p:cNvSpPr>
            <a:spLocks noGrp="1"/>
          </p:cNvSpPr>
          <p:nvPr>
            <p:ph type="body" sz="quarter" idx="24" hasCustomPrompt="1"/>
          </p:nvPr>
        </p:nvSpPr>
        <p:spPr>
          <a:xfrm>
            <a:off x="812883" y="5147735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1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5" y="5147735"/>
            <a:ext cx="46440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26" hasCustomPrompt="1"/>
          </p:nvPr>
        </p:nvSpPr>
        <p:spPr>
          <a:xfrm>
            <a:off x="10786183" y="5147735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23" name="Picture 2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4" name="Picture 2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5" name="Slide Number Placeholder 8"/>
          <p:cNvSpPr>
            <a:spLocks noGrp="1"/>
          </p:cNvSpPr>
          <p:nvPr>
            <p:ph type="sldNum" sz="quarter" idx="27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6385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Bulk Conte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11615780" cy="5130800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3" name="Picture 1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4" name="Picture 1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0516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Bulk Content, No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660398"/>
            <a:ext cx="11615780" cy="6874936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This is a 1-column bulk content slide without a title. 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4" name="Picture 13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5" name="Picture 14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3197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2-column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7162458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297169" y="3115732"/>
            <a:ext cx="7147539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2" y="2405062"/>
            <a:ext cx="7162457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8297168" y="2405062"/>
            <a:ext cx="7147539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17" name="Picture 16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8" name="Picture 17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9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7413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10786183" y="3115732"/>
            <a:ext cx="4658525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2" y="2405062"/>
            <a:ext cx="4658525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5807947" y="3115732"/>
            <a:ext cx="4643998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6" y="2405062"/>
            <a:ext cx="4643998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19" name="Picture 18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0" name="Picture 19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1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31276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30" hasCustomPrompt="1"/>
          </p:nvPr>
        </p:nvSpPr>
        <p:spPr>
          <a:xfrm>
            <a:off x="812882" y="5858405"/>
            <a:ext cx="4673339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31" hasCustomPrompt="1"/>
          </p:nvPr>
        </p:nvSpPr>
        <p:spPr>
          <a:xfrm>
            <a:off x="10786183" y="5858405"/>
            <a:ext cx="4658525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29" name="Text Placeholder 6"/>
          <p:cNvSpPr>
            <a:spLocks noGrp="1"/>
          </p:cNvSpPr>
          <p:nvPr>
            <p:ph type="body" sz="quarter" idx="32" hasCustomPrompt="1"/>
          </p:nvPr>
        </p:nvSpPr>
        <p:spPr>
          <a:xfrm>
            <a:off x="812883" y="5147735"/>
            <a:ext cx="4673338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30" name="Text Placeholder 6"/>
          <p:cNvSpPr>
            <a:spLocks noGrp="1"/>
          </p:cNvSpPr>
          <p:nvPr>
            <p:ph type="body" sz="quarter" idx="33" hasCustomPrompt="1"/>
          </p:nvPr>
        </p:nvSpPr>
        <p:spPr>
          <a:xfrm>
            <a:off x="10786182" y="5147735"/>
            <a:ext cx="4658525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31" name="Text Placeholder 5"/>
          <p:cNvSpPr>
            <a:spLocks noGrp="1"/>
          </p:cNvSpPr>
          <p:nvPr>
            <p:ph type="body" sz="quarter" idx="34" hasCustomPrompt="1"/>
          </p:nvPr>
        </p:nvSpPr>
        <p:spPr>
          <a:xfrm>
            <a:off x="5807947" y="5858405"/>
            <a:ext cx="4643998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32" name="Text Placeholder 6"/>
          <p:cNvSpPr>
            <a:spLocks noGrp="1"/>
          </p:cNvSpPr>
          <p:nvPr>
            <p:ph type="body" sz="quarter" idx="35" hasCustomPrompt="1"/>
          </p:nvPr>
        </p:nvSpPr>
        <p:spPr>
          <a:xfrm>
            <a:off x="5807946" y="5147735"/>
            <a:ext cx="4643998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6-point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10786183" y="3115732"/>
            <a:ext cx="4658525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2" y="2405062"/>
            <a:ext cx="4658525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5807947" y="3115732"/>
            <a:ext cx="4643998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6" y="2405062"/>
            <a:ext cx="4643998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33" name="Picture 3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34" name="Picture 3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3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93717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Lar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3860800"/>
            <a:ext cx="4673339" cy="36791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3860800"/>
            <a:ext cx="4644000" cy="36791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3860800"/>
            <a:ext cx="4673448" cy="3679138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the figure above.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812881" y="2475441"/>
            <a:ext cx="4673340" cy="1226329"/>
          </a:xfr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##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5807945" y="2475441"/>
            <a:ext cx="4643999" cy="1226329"/>
          </a:xfr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##%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3" y="2475441"/>
            <a:ext cx="4673448" cy="1226329"/>
          </a:xfr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key numbers slide for short numbers.</a:t>
            </a:r>
            <a:endParaRPr lang="en-US" dirty="0"/>
          </a:p>
        </p:txBody>
      </p:sp>
      <p:pic>
        <p:nvPicPr>
          <p:cNvPr id="33" name="Picture 3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34" name="Picture 33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35" name="Slide Number Placeholder 8"/>
          <p:cNvSpPr>
            <a:spLocks noGrp="1"/>
          </p:cNvSpPr>
          <p:nvPr>
            <p:ph type="sldNum" sz="quarter" idx="24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6428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Mediu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3701769"/>
            <a:ext cx="4673339" cy="3838169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3701769"/>
            <a:ext cx="4644000" cy="3838169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3701769"/>
            <a:ext cx="4673448" cy="3838169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the figure above.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812881" y="2441575"/>
            <a:ext cx="4673340" cy="1260195"/>
          </a:xfr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$##,###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5807945" y="2475441"/>
            <a:ext cx="4643999" cy="1226329"/>
          </a:xfr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#,####%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3" y="2475441"/>
            <a:ext cx="4673448" cy="1226329"/>
          </a:xfr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#,###,####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key numbers slide for long numbers.</a:t>
            </a:r>
            <a:endParaRPr lang="en-US" dirty="0"/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6" name="Picture 15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7" name="Slide Number Placeholder 8"/>
          <p:cNvSpPr>
            <a:spLocks noGrp="1"/>
          </p:cNvSpPr>
          <p:nvPr>
            <p:ph type="sldNum" sz="quarter" idx="24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36079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Points with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4538133"/>
            <a:ext cx="4673339" cy="3001805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4538133"/>
            <a:ext cx="4644000" cy="3001805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4538133"/>
            <a:ext cx="4673448" cy="3001805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chemeClr val="accent1"/>
                </a:solidFill>
              </a:defRPr>
            </a:lvl1pPr>
          </a:lstStyle>
          <a:p>
            <a:r>
              <a:rPr lang="en-CA" dirty="0"/>
              <a:t>This is a key point slide with icons to illustrate points.</a:t>
            </a:r>
            <a:endParaRPr lang="en-US" dirty="0"/>
          </a:p>
        </p:txBody>
      </p:sp>
      <p:sp>
        <p:nvSpPr>
          <p:cNvPr id="12" name="Oval 11"/>
          <p:cNvSpPr/>
          <p:nvPr userDrawn="1"/>
        </p:nvSpPr>
        <p:spPr>
          <a:xfrm>
            <a:off x="728135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icture Placeholder 3"/>
          <p:cNvSpPr>
            <a:spLocks noGrp="1" noChangeAspect="1"/>
          </p:cNvSpPr>
          <p:nvPr>
            <p:ph type="pic" sz="quarter" idx="26" hasCustomPrompt="1"/>
          </p:nvPr>
        </p:nvSpPr>
        <p:spPr>
          <a:xfrm>
            <a:off x="1173631" y="2900693"/>
            <a:ext cx="864783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4" name="Oval 13"/>
          <p:cNvSpPr/>
          <p:nvPr userDrawn="1"/>
        </p:nvSpPr>
        <p:spPr>
          <a:xfrm>
            <a:off x="5723280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icture Placeholder 3"/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6168776" y="2900693"/>
            <a:ext cx="864782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6" name="Oval 15"/>
          <p:cNvSpPr/>
          <p:nvPr userDrawn="1"/>
        </p:nvSpPr>
        <p:spPr>
          <a:xfrm>
            <a:off x="10701518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icture Placeholder 3"/>
          <p:cNvSpPr>
            <a:spLocks noGrp="1" noChangeAspect="1"/>
          </p:cNvSpPr>
          <p:nvPr>
            <p:ph type="pic" sz="quarter" idx="28" hasCustomPrompt="1"/>
          </p:nvPr>
        </p:nvSpPr>
        <p:spPr>
          <a:xfrm>
            <a:off x="11147405" y="2900693"/>
            <a:ext cx="864000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pic>
        <p:nvPicPr>
          <p:cNvPr id="18" name="Picture 17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9" name="Picture 18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0" name="Slide Number Placeholder 8"/>
          <p:cNvSpPr>
            <a:spLocks noGrp="1"/>
          </p:cNvSpPr>
          <p:nvPr>
            <p:ph type="sldNum" sz="quarter" idx="2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6315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5" name="Media Placeholder 4"/>
          <p:cNvSpPr>
            <a:spLocks noGrp="1"/>
          </p:cNvSpPr>
          <p:nvPr>
            <p:ph type="media" sz="quarter" idx="10" hasCustomPrompt="1"/>
          </p:nvPr>
        </p:nvSpPr>
        <p:spPr>
          <a:xfrm>
            <a:off x="3287077" y="829734"/>
            <a:ext cx="9683434" cy="750146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this icon to insert a video</a:t>
            </a:r>
          </a:p>
        </p:txBody>
      </p:sp>
    </p:spTree>
    <p:extLst>
      <p:ext uri="{BB962C8B-B14F-4D97-AF65-F5344CB8AC3E}">
        <p14:creationId xmlns:p14="http://schemas.microsoft.com/office/powerpoint/2010/main" val="18803090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1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805366" y="838200"/>
            <a:ext cx="14646856" cy="74676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2787076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Enter an impressive statistic or fact. e.g. 98% of Algonquin students have been hired immediately after graduation.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2125170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287077" y="6561978"/>
            <a:ext cx="9683434" cy="388804"/>
          </a:xfrm>
        </p:spPr>
        <p:txBody>
          <a:bodyPr anchor="ctr"/>
          <a:lstStyle>
            <a:lvl1pPr algn="ctr">
              <a:defRPr sz="1600"/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43703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2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2787076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A6C8BC"/>
                </a:solidFill>
              </a:defRPr>
            </a:lvl1pPr>
          </a:lstStyle>
          <a:p>
            <a:r>
              <a:rPr lang="en-CA" dirty="0"/>
              <a:t>Enter an impressive statistic or fact. e.g. 98% of Algonquin students have been hired immediately after graduation.</a:t>
            </a:r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2125170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287077" y="6561978"/>
            <a:ext cx="9683434" cy="388804"/>
          </a:xfrm>
        </p:spPr>
        <p:txBody>
          <a:bodyPr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0235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3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ampus-scape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5700"/>
            <a:ext cx="16256000" cy="41783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1313874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A6C8BC"/>
                </a:solidFill>
              </a:defRPr>
            </a:lvl1pPr>
          </a:lstStyle>
          <a:p>
            <a:r>
              <a:rPr lang="en-CA" dirty="0"/>
              <a:t>Enter an impressive statistic or fact. e.g. We raised $1,000,000 this year. Highlight a number by making it bold and white.</a:t>
            </a:r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651968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99242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ampus-scape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5700"/>
            <a:ext cx="16256000" cy="41783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1313874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Enter an impressive statistic or fact. e.g. We raised $1,000,000 this year. Highlight a number by making it bold and 100% green.</a:t>
            </a:r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651968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269909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127735" cy="4571404"/>
          </a:xfrm>
          <a:solidFill>
            <a:schemeClr val="bg2"/>
          </a:solidFill>
          <a:ln>
            <a:noFill/>
          </a:ln>
        </p:spPr>
        <p:txBody>
          <a:bodyPr/>
          <a:lstStyle>
            <a:lvl1pPr algn="ctr">
              <a:defRPr baseline="0">
                <a:ln>
                  <a:noFill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this icon to insert a background photo, the resize this box so it covers the whole screen. Make sure it’s good quality.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2980794" y="2552251"/>
            <a:ext cx="10296000" cy="4039500"/>
          </a:xfrm>
          <a:solidFill>
            <a:srgbClr val="FFFFFF"/>
          </a:solidFill>
          <a:ln>
            <a:noFill/>
          </a:ln>
          <a:effectLst>
            <a:outerShdw blurRad="381000" dir="2700000" sx="98000" sy="98000" algn="tl" rotWithShape="0">
              <a:srgbClr val="000000">
                <a:alpha val="85000"/>
              </a:srgbClr>
            </a:outerShdw>
          </a:effectLst>
        </p:spPr>
        <p:txBody>
          <a:bodyPr lIns="324000" tIns="1080000" rIns="324000" bIns="1080000"/>
          <a:lstStyle>
            <a:lvl1pPr algn="ctr">
              <a:lnSpc>
                <a:spcPct val="9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$#,###,###</a:t>
            </a:r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301893" y="3012628"/>
            <a:ext cx="9653802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 baseline="0">
                <a:solidFill>
                  <a:srgbClr val="00673E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301893" y="5643918"/>
            <a:ext cx="9653802" cy="388804"/>
          </a:xfrm>
        </p:spPr>
        <p:txBody>
          <a:bodyPr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21046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-Aligned Image with Text +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7484181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7484182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 slide with a right-aligned image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18825" y="6267279"/>
            <a:ext cx="4978238" cy="1268053"/>
          </a:xfrm>
        </p:spPr>
        <p:txBody>
          <a:bodyPr anchor="b"/>
          <a:lstStyle>
            <a:lvl1pPr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9346896" y="853030"/>
            <a:ext cx="6910691" cy="6682303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9346896" y="5489054"/>
            <a:ext cx="5029037" cy="778226"/>
          </a:xfr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6" name="Picture 15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7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33475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-Aligned Image with Text +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7992382" y="2404534"/>
            <a:ext cx="7484181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992381" y="768365"/>
            <a:ext cx="7484182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 slide with a left-aligned image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7992381" y="6267279"/>
            <a:ext cx="4978238" cy="1268053"/>
          </a:xfrm>
        </p:spPr>
        <p:txBody>
          <a:bodyPr anchor="b"/>
          <a:lstStyle>
            <a:lvl1pPr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0" y="853030"/>
            <a:ext cx="6910691" cy="6682303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0" y="5489054"/>
            <a:ext cx="5029037" cy="778226"/>
          </a:xfr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6" name="Picture 15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854599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Frame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86" y="0"/>
            <a:ext cx="16256402" cy="9144000"/>
          </a:xfrm>
        </p:spPr>
        <p:txBody>
          <a:bodyPr/>
          <a:lstStyle>
            <a:lvl1pPr marL="0" indent="0">
              <a:buNone/>
              <a:defRPr sz="4000" baseline="0"/>
            </a:lvl1pPr>
            <a:lvl2pPr marL="781583" indent="0">
              <a:buNone/>
              <a:defRPr sz="4800"/>
            </a:lvl2pPr>
            <a:lvl3pPr marL="1563167" indent="0">
              <a:buNone/>
              <a:defRPr sz="4100"/>
            </a:lvl3pPr>
            <a:lvl4pPr marL="2344750" indent="0">
              <a:buNone/>
              <a:defRPr sz="3400"/>
            </a:lvl4pPr>
            <a:lvl5pPr marL="3126334" indent="0">
              <a:buNone/>
              <a:defRPr sz="3400"/>
            </a:lvl5pPr>
            <a:lvl6pPr marL="3907917" indent="0">
              <a:buNone/>
              <a:defRPr sz="3400"/>
            </a:lvl6pPr>
            <a:lvl7pPr marL="4689500" indent="0">
              <a:buNone/>
              <a:defRPr sz="3400"/>
            </a:lvl7pPr>
            <a:lvl8pPr marL="5471084" indent="0">
              <a:buNone/>
              <a:defRPr sz="3400"/>
            </a:lvl8pPr>
            <a:lvl9pPr marL="6252667" indent="0">
              <a:buNone/>
              <a:defRPr sz="3400"/>
            </a:lvl9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1" y="6313857"/>
            <a:ext cx="7958408" cy="759384"/>
          </a:xfrm>
          <a:solidFill>
            <a:srgbClr val="43B02A"/>
          </a:solidFill>
          <a:ln>
            <a:noFill/>
          </a:ln>
        </p:spPr>
        <p:txBody>
          <a:bodyPr wrap="square" lIns="252000" tIns="180000" rIns="252000" bIns="252000" anchor="ctr">
            <a:spAutoFit/>
          </a:bodyPr>
          <a:lstStyle>
            <a:lvl1pPr>
              <a:lnSpc>
                <a:spcPct val="10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58531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hot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8332918" y="829734"/>
            <a:ext cx="7111897" cy="6696000"/>
          </a:xfrm>
        </p:spPr>
        <p:txBody>
          <a:bodyPr/>
          <a:lstStyle/>
          <a:p>
            <a:r>
              <a:rPr lang="en-US" dirty="0"/>
              <a:t>Click on this icon to insert a photo.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7" y="829734"/>
            <a:ext cx="7145633" cy="6696000"/>
          </a:xfrm>
        </p:spPr>
        <p:txBody>
          <a:bodyPr/>
          <a:lstStyle/>
          <a:p>
            <a:r>
              <a:rPr lang="en-US" dirty="0"/>
              <a:t>Click on this icon to insert a photo.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829707" y="5498998"/>
            <a:ext cx="4673447" cy="778226"/>
          </a:xfr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8" hasCustomPrompt="1"/>
          </p:nvPr>
        </p:nvSpPr>
        <p:spPr>
          <a:xfrm>
            <a:off x="8332919" y="5498998"/>
            <a:ext cx="4654526" cy="778226"/>
          </a:xfr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6" name="Picture 15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17" name="Picture 16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72627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Descri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94193"/>
            <a:ext cx="16257588" cy="1739093"/>
          </a:xfrm>
          <a:prstGeom prst="rect">
            <a:avLst/>
          </a:prstGeom>
        </p:spPr>
      </p:pic>
      <p:sp>
        <p:nvSpPr>
          <p:cNvPr id="12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7" y="829734"/>
            <a:ext cx="11598955" cy="6696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829707" y="5498998"/>
            <a:ext cx="4673447" cy="778226"/>
          </a:xfrm>
          <a:solidFill>
            <a:srgbClr val="43B02A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9" name="Picture 18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0" name="Picture 19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1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2200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c + Title and Descri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94193"/>
            <a:ext cx="16257588" cy="1739093"/>
          </a:xfrm>
          <a:prstGeom prst="rect">
            <a:avLst/>
          </a:prstGeom>
        </p:spPr>
      </p:pic>
      <p:sp>
        <p:nvSpPr>
          <p:cNvPr id="13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8" y="2404534"/>
            <a:ext cx="9459088" cy="5121200"/>
          </a:xfrm>
        </p:spPr>
        <p:txBody>
          <a:bodyPr/>
          <a:lstStyle/>
          <a:p>
            <a:r>
              <a:rPr lang="en-US" dirty="0"/>
              <a:t>Click on this icon to insert a graphic.</a:t>
            </a:r>
          </a:p>
        </p:txBody>
      </p:sp>
      <p:sp>
        <p:nvSpPr>
          <p:cNvPr id="20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graphic slide with a title and optional annotation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24" name="Picture 23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25" name="Picture 24" descr="ac-icon.eps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2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130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r Ch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pic>
        <p:nvPicPr>
          <p:cNvPr id="8" name="Picture 7" descr="ac-ico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3717" y="8595468"/>
            <a:ext cx="394669" cy="290809"/>
          </a:xfrm>
          <a:prstGeom prst="rect">
            <a:avLst/>
          </a:prstGeom>
        </p:spPr>
      </p:pic>
      <p:sp>
        <p:nvSpPr>
          <p:cNvPr id="13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chart or table slide with optional annotation</a:t>
            </a:r>
            <a:endParaRPr lang="en-US" dirty="0"/>
          </a:p>
        </p:txBody>
      </p:sp>
      <p:sp>
        <p:nvSpPr>
          <p:cNvPr id="17" name="Table Placeholder 3"/>
          <p:cNvSpPr>
            <a:spLocks noGrp="1"/>
          </p:cNvSpPr>
          <p:nvPr>
            <p:ph type="tbl" sz="quarter" idx="20" hasCustomPrompt="1"/>
          </p:nvPr>
        </p:nvSpPr>
        <p:spPr>
          <a:xfrm>
            <a:off x="812800" y="2405063"/>
            <a:ext cx="9475788" cy="5121275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the icon to insert a table or chart.</a:t>
            </a:r>
          </a:p>
        </p:txBody>
      </p:sp>
      <p:sp>
        <p:nvSpPr>
          <p:cNvPr id="18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0234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ro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48421" y="3117806"/>
            <a:ext cx="10360746" cy="2612172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800" baseline="0">
                <a:solidFill>
                  <a:schemeClr val="accent5"/>
                </a:solidFill>
              </a:defRPr>
            </a:lvl1pPr>
            <a:lvl2pPr marL="7815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5631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3447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1263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9079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689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471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2526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 dirty="0"/>
              <a:t>Questions? Put your contact prompt message and your email here.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320943" y="2082794"/>
            <a:ext cx="9615704" cy="1018079"/>
          </a:xfrm>
        </p:spPr>
        <p:txBody>
          <a:bodyPr anchor="b"/>
          <a:lstStyle>
            <a:lvl1pPr algn="ctr">
              <a:defRPr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Thank you message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3320941" y="6017839"/>
            <a:ext cx="9615706" cy="462413"/>
          </a:xfrm>
        </p:spPr>
        <p:txBody>
          <a:bodyPr anchor="t"/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CA" dirty="0" err="1"/>
              <a:t>www.algonquincollege.com</a:t>
            </a:r>
            <a:r>
              <a:rPr lang="en-CA" dirty="0"/>
              <a:t>/</a:t>
            </a:r>
            <a:r>
              <a:rPr lang="en-CA" dirty="0" err="1"/>
              <a:t>relevantURL</a:t>
            </a:r>
            <a:endParaRPr lang="en-US" dirty="0"/>
          </a:p>
        </p:txBody>
      </p:sp>
      <p:pic>
        <p:nvPicPr>
          <p:cNvPr id="13" name="Picture 12" descr="ac-icon-green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7683" y="828547"/>
            <a:ext cx="635142" cy="467999"/>
          </a:xfrm>
          <a:prstGeom prst="rect">
            <a:avLst/>
          </a:prstGeom>
        </p:spPr>
      </p:pic>
      <p:pic>
        <p:nvPicPr>
          <p:cNvPr id="14" name="Picture 13" descr="curtain-100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5826"/>
            <a:ext cx="16257588" cy="1778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50834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8360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80" y="666518"/>
            <a:ext cx="14631829" cy="146708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CA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80" y="2133600"/>
            <a:ext cx="14631829" cy="52045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CA" dirty="0"/>
              <a:t>Click to edit Master text styles</a:t>
            </a:r>
          </a:p>
          <a:p>
            <a:pPr lvl="1"/>
            <a:r>
              <a:rPr lang="en-CA" dirty="0"/>
              <a:t>First level</a:t>
            </a:r>
          </a:p>
          <a:p>
            <a:pPr lvl="2"/>
            <a:r>
              <a:rPr lang="en-CA" dirty="0"/>
              <a:t>Second level</a:t>
            </a:r>
          </a:p>
          <a:p>
            <a:pPr lvl="0"/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80" y="8475135"/>
            <a:ext cx="1180185" cy="4868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21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424084-422A-4246-8522-ECCBA4948A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788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79" r:id="rId3"/>
    <p:sldLayoutId id="2147483686" r:id="rId4"/>
    <p:sldLayoutId id="2147483650" r:id="rId5"/>
    <p:sldLayoutId id="2147483693" r:id="rId6"/>
    <p:sldLayoutId id="2147483685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4" r:id="rId14"/>
    <p:sldLayoutId id="2147483695" r:id="rId15"/>
    <p:sldLayoutId id="2147483696" r:id="rId16"/>
    <p:sldLayoutId id="2147483697" r:id="rId17"/>
    <p:sldLayoutId id="2147483677" r:id="rId18"/>
    <p:sldLayoutId id="2147483698" r:id="rId19"/>
    <p:sldLayoutId id="2147483699" r:id="rId20"/>
    <p:sldLayoutId id="2147483682" r:id="rId21"/>
    <p:sldLayoutId id="2147483654" r:id="rId22"/>
    <p:sldLayoutId id="2147483662" r:id="rId23"/>
    <p:sldLayoutId id="2147483683" r:id="rId24"/>
    <p:sldLayoutId id="2147483684" r:id="rId25"/>
    <p:sldLayoutId id="2147483664" r:id="rId26"/>
    <p:sldLayoutId id="2147483700" r:id="rId27"/>
    <p:sldLayoutId id="2147483701" r:id="rId28"/>
    <p:sldLayoutId id="2147483657" r:id="rId29"/>
    <p:sldLayoutId id="2147483674" r:id="rId30"/>
    <p:sldLayoutId id="2147483675" r:id="rId31"/>
    <p:sldLayoutId id="2147483681" r:id="rId32"/>
    <p:sldLayoutId id="2147483667" r:id="rId33"/>
    <p:sldLayoutId id="2147483680" r:id="rId34"/>
    <p:sldLayoutId id="2147483702" r:id="rId35"/>
  </p:sldLayoutIdLst>
  <p:hf hdr="0" ftr="0" dt="0"/>
  <p:txStyles>
    <p:titleStyle>
      <a:lvl1pPr algn="l" defTabSz="781583" rtl="0" eaLnBrk="1" latinLnBrk="0" hangingPunct="1">
        <a:lnSpc>
          <a:spcPct val="80000"/>
        </a:lnSpc>
        <a:spcBef>
          <a:spcPct val="0"/>
        </a:spcBef>
        <a:buNone/>
        <a:defRPr sz="7200" kern="120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0" indent="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FontTx/>
        <a:buNone/>
        <a:defRPr sz="3200" kern="1200">
          <a:solidFill>
            <a:schemeClr val="accent5"/>
          </a:solidFill>
          <a:latin typeface="+mn-lt"/>
          <a:ea typeface="+mn-ea"/>
          <a:cs typeface="+mn-cs"/>
        </a:defRPr>
      </a:lvl1pPr>
      <a:lvl2pPr marL="1270073" indent="-48849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SzPct val="75000"/>
        <a:buFont typeface="Arial"/>
        <a:buChar char="•"/>
        <a:defRPr sz="3200" kern="1200">
          <a:solidFill>
            <a:schemeClr val="accent5"/>
          </a:solidFill>
          <a:latin typeface="+mn-lt"/>
          <a:ea typeface="+mn-ea"/>
          <a:cs typeface="+mn-cs"/>
        </a:defRPr>
      </a:lvl2pPr>
      <a:lvl3pPr marL="2020367" indent="-45720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SzPct val="60000"/>
        <a:buFont typeface="Wingdings" charset="2"/>
        <a:buChar char="§"/>
        <a:defRPr sz="3200" kern="1200" baseline="0">
          <a:solidFill>
            <a:schemeClr val="accent5"/>
          </a:solidFill>
          <a:latin typeface="+mn-lt"/>
          <a:ea typeface="+mn-ea"/>
          <a:cs typeface="+mn-cs"/>
        </a:defRPr>
      </a:lvl3pPr>
      <a:lvl4pPr marL="2735542" indent="-390792" algn="l" defTabSz="781583" rtl="0" eaLnBrk="1" latinLnBrk="0" hangingPunct="1">
        <a:lnSpc>
          <a:spcPct val="120000"/>
        </a:lnSpc>
        <a:spcBef>
          <a:spcPct val="20000"/>
        </a:spcBef>
        <a:buClr>
          <a:schemeClr val="accent2"/>
        </a:buClr>
        <a:buSzPct val="90000"/>
        <a:buFont typeface="Arial"/>
        <a:buChar char="–"/>
        <a:defRPr sz="2100" kern="1200">
          <a:solidFill>
            <a:schemeClr val="accent4"/>
          </a:solidFill>
          <a:latin typeface="+mn-lt"/>
          <a:ea typeface="+mn-ea"/>
          <a:cs typeface="+mn-cs"/>
        </a:defRPr>
      </a:lvl4pPr>
      <a:lvl5pPr marL="3517125" indent="-390792" algn="l" defTabSz="781583" rtl="0" eaLnBrk="1" latinLnBrk="0" hangingPunct="1">
        <a:spcBef>
          <a:spcPct val="20000"/>
        </a:spcBef>
        <a:buFont typeface="Arial"/>
        <a:buChar char="»"/>
        <a:defRPr sz="3400" kern="1200">
          <a:solidFill>
            <a:schemeClr val="accent5"/>
          </a:solidFill>
          <a:latin typeface="+mn-lt"/>
          <a:ea typeface="+mn-ea"/>
          <a:cs typeface="+mn-cs"/>
        </a:defRPr>
      </a:lvl5pPr>
      <a:lvl6pPr marL="4298709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6pPr>
      <a:lvl7pPr marL="5080292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7pPr>
      <a:lvl8pPr marL="5861876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8pPr>
      <a:lvl9pPr marL="6643459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1pPr>
      <a:lvl2pPr marL="781583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56316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3pPr>
      <a:lvl4pPr marL="234475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4pPr>
      <a:lvl5pPr marL="3126334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5pPr>
      <a:lvl6pPr marL="390791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6pPr>
      <a:lvl7pPr marL="468950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7pPr>
      <a:lvl8pPr marL="5471084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8pPr>
      <a:lvl9pPr marL="625266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ymnasium.farama.org/api/spaces/fundamental/" TargetMode="Externa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stable-baselines3.readthedocs.io/en/master/modules/base.html" TargetMode="Externa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raffin/rl-handson-rlvs21" TargetMode="External"/><Relationship Id="rId2" Type="http://schemas.openxmlformats.org/officeDocument/2006/relationships/hyperlink" Target="https://www.youtube.com/watch?v=Ikngt0_DXJg" TargetMode="Externa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colab.research.google.com/github/araffin/rl-handson-rlvs21/blob/main/rlvs_hands_on_sb3.ipynb" TargetMode="Externa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github/araffin/rl-handson-rlvs21/blob/main/rlvs_hands_on_sb3.ipynb#scrollTo=uDUfeZcyjPKS" TargetMode="Externa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Stable-Baselines3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>
          <a:xfrm>
            <a:off x="199082" y="8572491"/>
            <a:ext cx="529132" cy="486834"/>
          </a:xfrm>
        </p:spPr>
        <p:txBody>
          <a:bodyPr/>
          <a:lstStyle/>
          <a:p>
            <a:fld id="{DEF3F5F5-7776-394F-A41F-3BAFC9CC9F8E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03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21C06-DCD2-BD95-F7B5-079D0F3D7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Status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53A500-DC2C-8396-E0CE-FAAC8CDA3D4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99082" y="1979043"/>
            <a:ext cx="14705556" cy="5749481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Week 1: Reinforcement Learning Basics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Week 2: Basic Q-Learning with Basic "homemade" environment class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Week 3: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Gymnasium custom environment: an upgrade for our environment class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 err="1"/>
              <a:t>Pygame</a:t>
            </a:r>
            <a:r>
              <a:rPr lang="en-US" dirty="0"/>
              <a:t> for rendering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BlocksWorld-v0 environment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Week 4: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Stable-Baselines3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7CB6CB-AF39-0907-64D1-C3B86EEF924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854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75C00-9CBA-8A24-5C0A-F8C41D5A0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Observation and Action Spaces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FF0BE4-37DA-3B13-0073-39CD12C2622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1" y="1385455"/>
            <a:ext cx="13969919" cy="5751945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dirty="0">
                <a:solidFill>
                  <a:srgbClr val="000000"/>
                </a:solidFill>
                <a:effectLst/>
                <a:hlinkClick r:id="rId2"/>
              </a:rPr>
              <a:t>https://</a:t>
            </a:r>
            <a:r>
              <a:rPr lang="en-CA" dirty="0" err="1">
                <a:solidFill>
                  <a:srgbClr val="000000"/>
                </a:solidFill>
                <a:effectLst/>
                <a:hlinkClick r:id="rId2"/>
              </a:rPr>
              <a:t>gymnasium.farama.org</a:t>
            </a:r>
            <a:r>
              <a:rPr lang="en-CA" dirty="0">
                <a:solidFill>
                  <a:srgbClr val="000000"/>
                </a:solidFill>
                <a:effectLst/>
                <a:hlinkClick r:id="rId2"/>
              </a:rPr>
              <a:t>/</a:t>
            </a:r>
            <a:r>
              <a:rPr lang="en-CA" dirty="0" err="1">
                <a:solidFill>
                  <a:srgbClr val="000000"/>
                </a:solidFill>
                <a:effectLst/>
                <a:hlinkClick r:id="rId2"/>
              </a:rPr>
              <a:t>api</a:t>
            </a:r>
            <a:r>
              <a:rPr lang="en-CA" dirty="0">
                <a:solidFill>
                  <a:srgbClr val="000000"/>
                </a:solidFill>
                <a:effectLst/>
                <a:hlinkClick r:id="rId2"/>
              </a:rPr>
              <a:t>/spaces/fundamental/#</a:t>
            </a:r>
            <a:endParaRPr lang="en-CA" dirty="0">
              <a:solidFill>
                <a:srgbClr val="000000"/>
              </a:solidFill>
              <a:effectLst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dirty="0">
                <a:solidFill>
                  <a:srgbClr val="000000"/>
                </a:solidFill>
                <a:effectLst/>
              </a:rPr>
              <a:t>Box Example:</a:t>
            </a:r>
          </a:p>
          <a:p>
            <a:r>
              <a:rPr lang="en-CA" dirty="0" err="1">
                <a:solidFill>
                  <a:srgbClr val="000000"/>
                </a:solidFill>
                <a:effectLst/>
              </a:rPr>
              <a:t>obs_space</a:t>
            </a:r>
            <a:r>
              <a:rPr lang="en-CA" dirty="0">
                <a:solidFill>
                  <a:srgbClr val="000000"/>
                </a:solidFill>
                <a:effectLst/>
              </a:rPr>
              <a:t> = Box</a:t>
            </a:r>
            <a:r>
              <a:rPr lang="en-CA" b="1" dirty="0">
                <a:solidFill>
                  <a:srgbClr val="000000"/>
                </a:solidFill>
                <a:effectLst/>
              </a:rPr>
              <a:t>(</a:t>
            </a:r>
            <a:r>
              <a:rPr lang="en-CA" dirty="0">
                <a:solidFill>
                  <a:srgbClr val="000000"/>
                </a:solidFill>
                <a:effectLst/>
              </a:rPr>
              <a:t>low</a:t>
            </a:r>
            <a:r>
              <a:rPr lang="en-CA" b="1" dirty="0">
                <a:solidFill>
                  <a:srgbClr val="CE5C00"/>
                </a:solidFill>
                <a:effectLst/>
              </a:rPr>
              <a:t>=-</a:t>
            </a:r>
            <a:r>
              <a:rPr lang="en-CA" b="1" dirty="0">
                <a:solidFill>
                  <a:srgbClr val="0000CF"/>
                </a:solidFill>
                <a:effectLst/>
              </a:rPr>
              <a:t>1.0</a:t>
            </a:r>
            <a:r>
              <a:rPr lang="en-CA" b="1" dirty="0">
                <a:solidFill>
                  <a:srgbClr val="000000"/>
                </a:solidFill>
                <a:effectLst/>
              </a:rPr>
              <a:t>,</a:t>
            </a:r>
            <a:r>
              <a:rPr lang="en-CA" dirty="0"/>
              <a:t> </a:t>
            </a:r>
            <a:r>
              <a:rPr lang="en-CA" dirty="0">
                <a:solidFill>
                  <a:srgbClr val="000000"/>
                </a:solidFill>
                <a:effectLst/>
              </a:rPr>
              <a:t>high</a:t>
            </a:r>
            <a:r>
              <a:rPr lang="en-CA" b="1" dirty="0">
                <a:solidFill>
                  <a:srgbClr val="CE5C00"/>
                </a:solidFill>
                <a:effectLst/>
              </a:rPr>
              <a:t>=</a:t>
            </a:r>
            <a:r>
              <a:rPr lang="en-CA" b="1" dirty="0">
                <a:solidFill>
                  <a:srgbClr val="0000CF"/>
                </a:solidFill>
                <a:effectLst/>
              </a:rPr>
              <a:t>2.0</a:t>
            </a:r>
            <a:r>
              <a:rPr lang="en-CA" b="1" dirty="0">
                <a:solidFill>
                  <a:srgbClr val="000000"/>
                </a:solidFill>
                <a:effectLst/>
              </a:rPr>
              <a:t>,</a:t>
            </a:r>
            <a:r>
              <a:rPr lang="en-CA" dirty="0"/>
              <a:t> </a:t>
            </a:r>
            <a:r>
              <a:rPr lang="en-CA" dirty="0">
                <a:solidFill>
                  <a:srgbClr val="000000"/>
                </a:solidFill>
                <a:effectLst/>
              </a:rPr>
              <a:t>shape</a:t>
            </a:r>
            <a:r>
              <a:rPr lang="en-CA" b="1" dirty="0">
                <a:solidFill>
                  <a:srgbClr val="CE5C00"/>
                </a:solidFill>
                <a:effectLst/>
              </a:rPr>
              <a:t>=</a:t>
            </a:r>
            <a:r>
              <a:rPr lang="en-CA" b="1" dirty="0">
                <a:solidFill>
                  <a:srgbClr val="000000"/>
                </a:solidFill>
                <a:effectLst/>
              </a:rPr>
              <a:t>(</a:t>
            </a:r>
            <a:r>
              <a:rPr lang="en-CA" b="1" dirty="0">
                <a:solidFill>
                  <a:srgbClr val="0000CF"/>
                </a:solidFill>
                <a:effectLst/>
              </a:rPr>
              <a:t>3</a:t>
            </a:r>
            <a:r>
              <a:rPr lang="en-CA" b="1" dirty="0">
                <a:solidFill>
                  <a:srgbClr val="000000"/>
                </a:solidFill>
                <a:effectLst/>
              </a:rPr>
              <a:t>,</a:t>
            </a:r>
            <a:r>
              <a:rPr lang="en-CA" dirty="0"/>
              <a:t> </a:t>
            </a:r>
            <a:r>
              <a:rPr lang="en-CA" b="1" dirty="0">
                <a:solidFill>
                  <a:srgbClr val="0000CF"/>
                </a:solidFill>
                <a:effectLst/>
              </a:rPr>
              <a:t>4</a:t>
            </a:r>
            <a:r>
              <a:rPr lang="en-CA" b="1" dirty="0">
                <a:solidFill>
                  <a:srgbClr val="000000"/>
                </a:solidFill>
                <a:effectLst/>
              </a:rPr>
              <a:t>),</a:t>
            </a:r>
            <a:r>
              <a:rPr lang="en-CA" dirty="0"/>
              <a:t> </a:t>
            </a:r>
            <a:r>
              <a:rPr lang="en-CA" dirty="0" err="1">
                <a:solidFill>
                  <a:srgbClr val="000000"/>
                </a:solidFill>
                <a:effectLst/>
              </a:rPr>
              <a:t>dtype</a:t>
            </a:r>
            <a:r>
              <a:rPr lang="en-CA" b="1" dirty="0">
                <a:solidFill>
                  <a:srgbClr val="CE5C00"/>
                </a:solidFill>
                <a:effectLst/>
              </a:rPr>
              <a:t>=</a:t>
            </a:r>
            <a:r>
              <a:rPr lang="en-CA" dirty="0">
                <a:solidFill>
                  <a:srgbClr val="000000"/>
                </a:solidFill>
                <a:effectLst/>
              </a:rPr>
              <a:t>np</a:t>
            </a:r>
            <a:r>
              <a:rPr lang="en-CA" b="1" dirty="0">
                <a:solidFill>
                  <a:srgbClr val="CE5C00"/>
                </a:solidFill>
                <a:effectLst/>
              </a:rPr>
              <a:t>.</a:t>
            </a:r>
            <a:r>
              <a:rPr lang="en-CA" dirty="0">
                <a:solidFill>
                  <a:srgbClr val="000000"/>
                </a:solidFill>
                <a:effectLst/>
              </a:rPr>
              <a:t>float32</a:t>
            </a:r>
            <a:r>
              <a:rPr lang="en-CA" b="1" dirty="0">
                <a:solidFill>
                  <a:srgbClr val="000000"/>
                </a:solidFill>
                <a:effectLst/>
              </a:rPr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dirty="0">
                <a:solidFill>
                  <a:srgbClr val="000000"/>
                </a:solidFill>
              </a:rPr>
              <a:t>Box for 100x130 pixel images with RGB pixels</a:t>
            </a:r>
          </a:p>
          <a:p>
            <a:r>
              <a:rPr lang="en-CA" dirty="0">
                <a:solidFill>
                  <a:srgbClr val="000000"/>
                </a:solidFill>
                <a:effectLst/>
              </a:rPr>
              <a:t>obs_space2 = Box</a:t>
            </a:r>
            <a:r>
              <a:rPr lang="en-CA" b="1" dirty="0">
                <a:solidFill>
                  <a:srgbClr val="000000"/>
                </a:solidFill>
                <a:effectLst/>
              </a:rPr>
              <a:t>(</a:t>
            </a:r>
            <a:r>
              <a:rPr lang="en-CA" dirty="0">
                <a:solidFill>
                  <a:srgbClr val="000000"/>
                </a:solidFill>
                <a:effectLst/>
              </a:rPr>
              <a:t>low</a:t>
            </a:r>
            <a:r>
              <a:rPr lang="en-CA" b="1" dirty="0">
                <a:solidFill>
                  <a:srgbClr val="CE5C00"/>
                </a:solidFill>
                <a:effectLst/>
              </a:rPr>
              <a:t>=</a:t>
            </a:r>
            <a:r>
              <a:rPr lang="en-CA" b="1" dirty="0">
                <a:solidFill>
                  <a:srgbClr val="0000CF"/>
                </a:solidFill>
                <a:effectLst/>
              </a:rPr>
              <a:t>0</a:t>
            </a:r>
            <a:r>
              <a:rPr lang="en-CA" b="1" dirty="0">
                <a:solidFill>
                  <a:srgbClr val="000000"/>
                </a:solidFill>
                <a:effectLst/>
              </a:rPr>
              <a:t>,</a:t>
            </a:r>
            <a:r>
              <a:rPr lang="en-CA" dirty="0"/>
              <a:t> </a:t>
            </a:r>
            <a:r>
              <a:rPr lang="en-CA" dirty="0">
                <a:solidFill>
                  <a:srgbClr val="000000"/>
                </a:solidFill>
                <a:effectLst/>
              </a:rPr>
              <a:t>high</a:t>
            </a:r>
            <a:r>
              <a:rPr lang="en-CA" b="1" dirty="0">
                <a:solidFill>
                  <a:srgbClr val="CE5C00"/>
                </a:solidFill>
                <a:effectLst/>
              </a:rPr>
              <a:t>=</a:t>
            </a:r>
            <a:r>
              <a:rPr lang="en-CA" b="1" dirty="0">
                <a:solidFill>
                  <a:srgbClr val="0000CF"/>
                </a:solidFill>
                <a:effectLst/>
              </a:rPr>
              <a:t>255</a:t>
            </a:r>
            <a:r>
              <a:rPr lang="en-CA" b="1" dirty="0">
                <a:solidFill>
                  <a:srgbClr val="000000"/>
                </a:solidFill>
                <a:effectLst/>
              </a:rPr>
              <a:t>,</a:t>
            </a:r>
            <a:r>
              <a:rPr lang="en-CA" dirty="0"/>
              <a:t> </a:t>
            </a:r>
            <a:r>
              <a:rPr lang="en-CA" dirty="0">
                <a:solidFill>
                  <a:srgbClr val="000000"/>
                </a:solidFill>
                <a:effectLst/>
              </a:rPr>
              <a:t>shape</a:t>
            </a:r>
            <a:r>
              <a:rPr lang="en-CA" b="1" dirty="0">
                <a:solidFill>
                  <a:srgbClr val="CE5C00"/>
                </a:solidFill>
                <a:effectLst/>
              </a:rPr>
              <a:t>=</a:t>
            </a:r>
            <a:r>
              <a:rPr lang="en-CA" b="1" dirty="0">
                <a:solidFill>
                  <a:srgbClr val="000000"/>
                </a:solidFill>
                <a:effectLst/>
              </a:rPr>
              <a:t>(</a:t>
            </a:r>
            <a:r>
              <a:rPr lang="en-CA" b="1" dirty="0">
                <a:solidFill>
                  <a:srgbClr val="0000CF"/>
                </a:solidFill>
                <a:effectLst/>
              </a:rPr>
              <a:t>100</a:t>
            </a:r>
            <a:r>
              <a:rPr lang="en-CA" b="1" dirty="0">
                <a:solidFill>
                  <a:srgbClr val="000000"/>
                </a:solidFill>
                <a:effectLst/>
              </a:rPr>
              <a:t>,</a:t>
            </a:r>
            <a:r>
              <a:rPr lang="en-CA" dirty="0"/>
              <a:t> </a:t>
            </a:r>
            <a:r>
              <a:rPr lang="en-CA" b="1" dirty="0">
                <a:solidFill>
                  <a:srgbClr val="0000CF"/>
                </a:solidFill>
                <a:effectLst/>
              </a:rPr>
              <a:t>130, 3</a:t>
            </a:r>
            <a:r>
              <a:rPr lang="en-CA" b="1" dirty="0">
                <a:solidFill>
                  <a:srgbClr val="000000"/>
                </a:solidFill>
                <a:effectLst/>
              </a:rPr>
              <a:t>),</a:t>
            </a:r>
            <a:r>
              <a:rPr lang="en-CA" dirty="0"/>
              <a:t> </a:t>
            </a:r>
            <a:r>
              <a:rPr lang="en-CA" dirty="0" err="1">
                <a:solidFill>
                  <a:srgbClr val="000000"/>
                </a:solidFill>
                <a:effectLst/>
              </a:rPr>
              <a:t>dtype</a:t>
            </a:r>
            <a:r>
              <a:rPr lang="en-CA" b="1" dirty="0">
                <a:solidFill>
                  <a:srgbClr val="CE5C00"/>
                </a:solidFill>
                <a:effectLst/>
              </a:rPr>
              <a:t>=</a:t>
            </a:r>
            <a:r>
              <a:rPr lang="en-CA" dirty="0">
                <a:solidFill>
                  <a:srgbClr val="000000"/>
                </a:solidFill>
                <a:effectLst/>
              </a:rPr>
              <a:t>np.uint8</a:t>
            </a:r>
            <a:r>
              <a:rPr lang="en-CA" b="1" dirty="0">
                <a:solidFill>
                  <a:srgbClr val="000000"/>
                </a:solidFill>
                <a:effectLst/>
              </a:rPr>
              <a:t>)</a:t>
            </a:r>
            <a:endParaRPr lang="en-US" dirty="0"/>
          </a:p>
          <a:p>
            <a:r>
              <a:rPr lang="en-US" dirty="0" err="1"/>
              <a:t>obs_space.sample</a:t>
            </a:r>
            <a:r>
              <a:rPr lang="en-US" dirty="0"/>
              <a:t>()</a:t>
            </a:r>
          </a:p>
          <a:p>
            <a:r>
              <a:rPr lang="en-US" dirty="0" err="1"/>
              <a:t>action_space</a:t>
            </a:r>
            <a:r>
              <a:rPr lang="en-CA" dirty="0"/>
              <a:t> </a:t>
            </a:r>
            <a:r>
              <a:rPr lang="en-CA" b="1" dirty="0">
                <a:solidFill>
                  <a:srgbClr val="CE5C00"/>
                </a:solidFill>
                <a:effectLst/>
              </a:rPr>
              <a:t>=</a:t>
            </a:r>
            <a:r>
              <a:rPr lang="en-CA" dirty="0"/>
              <a:t> </a:t>
            </a:r>
            <a:r>
              <a:rPr lang="en-CA" dirty="0">
                <a:solidFill>
                  <a:srgbClr val="000000"/>
                </a:solidFill>
                <a:effectLst/>
              </a:rPr>
              <a:t>Discrete</a:t>
            </a:r>
            <a:r>
              <a:rPr lang="en-CA" b="1" dirty="0">
                <a:solidFill>
                  <a:srgbClr val="000000"/>
                </a:solidFill>
                <a:effectLst/>
              </a:rPr>
              <a:t>(</a:t>
            </a:r>
            <a:r>
              <a:rPr lang="en-CA" b="1" dirty="0">
                <a:solidFill>
                  <a:srgbClr val="0000CF"/>
                </a:solidFill>
                <a:effectLst/>
              </a:rPr>
              <a:t>2</a:t>
            </a:r>
            <a:r>
              <a:rPr lang="en-CA" b="1" dirty="0">
                <a:solidFill>
                  <a:srgbClr val="000000"/>
                </a:solidFill>
                <a:effectLst/>
              </a:rPr>
              <a:t>,</a:t>
            </a:r>
            <a:r>
              <a:rPr lang="en-CA" dirty="0"/>
              <a:t> </a:t>
            </a:r>
            <a:r>
              <a:rPr lang="en-CA" dirty="0">
                <a:solidFill>
                  <a:srgbClr val="000000"/>
                </a:solidFill>
                <a:effectLst/>
              </a:rPr>
              <a:t>seed</a:t>
            </a:r>
            <a:r>
              <a:rPr lang="en-CA" b="1" dirty="0">
                <a:solidFill>
                  <a:srgbClr val="CE5C00"/>
                </a:solidFill>
                <a:effectLst/>
              </a:rPr>
              <a:t>=</a:t>
            </a:r>
            <a:r>
              <a:rPr lang="en-CA" b="1" dirty="0">
                <a:solidFill>
                  <a:srgbClr val="0000CF"/>
                </a:solidFill>
                <a:effectLst/>
              </a:rPr>
              <a:t>42</a:t>
            </a:r>
            <a:r>
              <a:rPr lang="en-CA" b="1" dirty="0">
                <a:solidFill>
                  <a:srgbClr val="000000"/>
                </a:solidFill>
                <a:effectLst/>
              </a:rPr>
              <a:t>)  </a:t>
            </a:r>
            <a:r>
              <a:rPr lang="en-CA" dirty="0">
                <a:solidFill>
                  <a:srgbClr val="000000"/>
                </a:solidFill>
                <a:effectLst/>
              </a:rPr>
              <a:t># action = 0 or 1</a:t>
            </a:r>
          </a:p>
          <a:p>
            <a:r>
              <a:rPr lang="en-US" dirty="0" err="1"/>
              <a:t>action_space.sample</a:t>
            </a:r>
            <a:r>
              <a:rPr lang="en-US" dirty="0"/>
              <a:t>()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B0A9B0-0ABC-8A84-68D5-AAE63A96F75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74789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88DDD-DA1B-3817-651A-6EFDC335E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1" y="768365"/>
            <a:ext cx="13069374" cy="1335973"/>
          </a:xfrm>
        </p:spPr>
        <p:txBody>
          <a:bodyPr/>
          <a:lstStyle/>
          <a:p>
            <a:r>
              <a:rPr lang="en-US" dirty="0"/>
              <a:t>Stable-Baselines 3</a:t>
            </a:r>
            <a:br>
              <a:rPr lang="en-US" dirty="0"/>
            </a:br>
            <a:r>
              <a:rPr lang="en-US" dirty="0"/>
              <a:t>Base RL Class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22F46F-4225-961A-192E-98F9AF55EC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2404534"/>
            <a:ext cx="14330136" cy="5130800"/>
          </a:xfrm>
        </p:spPr>
        <p:txBody>
          <a:bodyPr/>
          <a:lstStyle/>
          <a:p>
            <a:r>
              <a:rPr lang="en-US" dirty="0">
                <a:hlinkClick r:id="rId2"/>
              </a:rPr>
              <a:t>https://stable-baselines3.readthedocs.io/en/master/modules/base.html</a:t>
            </a: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b="0" i="0" u="none" strike="noStrike" dirty="0"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Common interface for all the RL algorithms (which extend the Base Class)</a:t>
            </a:r>
            <a:endParaRPr lang="en-US" b="0" i="0" u="none" strike="noStrike" dirty="0">
              <a:solidFill>
                <a:srgbClr val="404040"/>
              </a:solidFill>
              <a:effectLst/>
              <a:latin typeface="Lato" panose="020F0502020204030203" pitchFamily="34" charset="0"/>
            </a:endParaRPr>
          </a:p>
          <a:p>
            <a:r>
              <a:rPr lang="en-CA" sz="3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model = DQN("</a:t>
            </a:r>
            <a:r>
              <a:rPr lang="en-CA" sz="3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MultiInputPolicy</a:t>
            </a:r>
            <a:r>
              <a:rPr lang="en-CA" sz="3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", env, verbose=1)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3200" dirty="0">
                <a:solidFill>
                  <a:srgbClr val="404040"/>
                </a:solidFill>
                <a:latin typeface="Lato" panose="020F0502020204030203" pitchFamily="34" charset="0"/>
              </a:rPr>
              <a:t>Learn method of these classes</a:t>
            </a:r>
            <a:endParaRPr lang="en-CA" sz="32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CA" sz="3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model.learn</a:t>
            </a:r>
            <a:r>
              <a:rPr lang="en-CA" sz="3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CA" sz="3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total_timesteps</a:t>
            </a:r>
            <a:r>
              <a:rPr lang="en-CA" sz="3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=10000, </a:t>
            </a:r>
            <a:r>
              <a:rPr lang="en-CA" sz="3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log_interval</a:t>
            </a:r>
            <a:r>
              <a:rPr lang="en-CA" sz="3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=4)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4E7F8B-C256-6C05-5E06-0A40C968060E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88479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88DDD-DA1B-3817-651A-6EFDC335E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Algorithm?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22F46F-4225-961A-192E-98F9AF55EC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2404534"/>
            <a:ext cx="14330136" cy="5130800"/>
          </a:xfrm>
        </p:spPr>
        <p:txBody>
          <a:bodyPr/>
          <a:lstStyle/>
          <a:p>
            <a:r>
              <a:rPr lang="en-US" dirty="0"/>
              <a:t>https://stable-baselines3.readthedocs.io/</a:t>
            </a:r>
            <a:r>
              <a:rPr lang="en-US" dirty="0" err="1"/>
              <a:t>en</a:t>
            </a:r>
            <a:r>
              <a:rPr lang="en-US" dirty="0"/>
              <a:t>/master/guide/</a:t>
            </a:r>
            <a:r>
              <a:rPr lang="en-US" dirty="0" err="1"/>
              <a:t>rl_tips.html#which-algorithm-should-i-use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4E7F8B-C256-6C05-5E06-0A40C968060E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3326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D17FC-D48E-2B76-DE41-09CCC30B7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Stable-Baselines3 features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7FC950-646B-3AD8-14EA-3CF527E6E78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1607127"/>
            <a:ext cx="14025336" cy="5928207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(Hybrids) Video at </a:t>
            </a:r>
            <a:r>
              <a:rPr lang="en-US" dirty="0">
                <a:hlinkClick r:id="rId2"/>
              </a:rPr>
              <a:t>https://www.youtube.com/watch?v=Ikngt0_DXJg</a:t>
            </a:r>
            <a:endParaRPr lang="en-US" dirty="0"/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/>
              <a:t>Advice/tips on RL, and Stable-Baselines3 hands on tutorial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Tutorial at </a:t>
            </a:r>
            <a:r>
              <a:rPr lang="en-US" dirty="0">
                <a:hlinkClick r:id="rId3"/>
              </a:rPr>
              <a:t>https://github.com/araffin/rl-handson-rlvs21</a:t>
            </a: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 err="1"/>
              <a:t>Jupyter</a:t>
            </a:r>
            <a:r>
              <a:rPr lang="en-US" dirty="0"/>
              <a:t> exercise: </a:t>
            </a:r>
            <a:r>
              <a:rPr lang="en-US" dirty="0">
                <a:hlinkClick r:id="rId4"/>
              </a:rPr>
              <a:t>https://colab.research.google.com/github/araffin/rl-handson-rlvs21/blob/main/rlvs_hands_on_sb3.ipynb</a:t>
            </a:r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F2816E-383C-ADA4-09AE-EC5FA685AA2A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66542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D17FC-D48E-2B76-DE41-09CCC30B7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Stable-Baselines3 features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7FC950-646B-3AD8-14EA-3CF527E6E78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1607127"/>
            <a:ext cx="14025336" cy="640080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Vectorized Environments</a:t>
            </a:r>
          </a:p>
          <a:p>
            <a:r>
              <a:rPr lang="en-CA" b="0" i="0" u="none" strike="noStrike" dirty="0"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Vectorized Environments are a method for stacking multiple independent environments into a single environment.</a:t>
            </a:r>
          </a:p>
          <a:p>
            <a:r>
              <a:rPr lang="en-CA" b="0" i="0" u="none" strike="noStrike" dirty="0"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Instead of training an RL agent on 1 environment per step, it allows us to train it on </a:t>
            </a:r>
            <a:r>
              <a:rPr lang="en-CA" dirty="0">
                <a:effectLst/>
              </a:rPr>
              <a:t>n</a:t>
            </a:r>
            <a:r>
              <a:rPr lang="en-CA" b="0" i="0" u="none" strike="noStrike" dirty="0"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 environments per step.</a:t>
            </a:r>
            <a:endParaRPr lang="en-CA" dirty="0">
              <a:solidFill>
                <a:srgbClr val="404040"/>
              </a:solidFill>
              <a:latin typeface="Lato" panose="020F0502020204030203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dirty="0">
                <a:solidFill>
                  <a:srgbClr val="404040"/>
                </a:solidFill>
                <a:latin typeface="Lato" panose="020F0502020204030203" pitchFamily="34" charset="0"/>
              </a:rPr>
              <a:t>For our examples, </a:t>
            </a:r>
            <a:r>
              <a:rPr lang="en-CA" dirty="0" err="1">
                <a:solidFill>
                  <a:srgbClr val="404040"/>
                </a:solidFill>
                <a:latin typeface="Lato" panose="020F0502020204030203" pitchFamily="34" charset="0"/>
              </a:rPr>
              <a:t>grid_worlds</a:t>
            </a:r>
            <a:r>
              <a:rPr lang="en-CA" dirty="0">
                <a:solidFill>
                  <a:srgbClr val="404040"/>
                </a:solidFill>
                <a:latin typeface="Lato" panose="020F0502020204030203" pitchFamily="34" charset="0"/>
              </a:rPr>
              <a:t>, blocks worlds, </a:t>
            </a:r>
            <a:r>
              <a:rPr lang="en-CA" dirty="0" err="1">
                <a:solidFill>
                  <a:srgbClr val="404040"/>
                </a:solidFill>
                <a:latin typeface="Lato" panose="020F0502020204030203" pitchFamily="34" charset="0"/>
              </a:rPr>
              <a:t>etc</a:t>
            </a:r>
            <a:r>
              <a:rPr lang="en-CA" dirty="0">
                <a:solidFill>
                  <a:srgbClr val="404040"/>
                </a:solidFill>
                <a:latin typeface="Lato" panose="020F0502020204030203" pitchFamily="34" charset="0"/>
              </a:rPr>
              <a:t>, running on our VM and/or loaner laptop, we use a simple environment which SB3 will turn into a </a:t>
            </a:r>
            <a:r>
              <a:rPr lang="en-CA" dirty="0" err="1">
                <a:solidFill>
                  <a:srgbClr val="404040"/>
                </a:solidFill>
                <a:latin typeface="Lato" panose="020F0502020204030203" pitchFamily="34" charset="0"/>
              </a:rPr>
              <a:t>DummyVecEnv</a:t>
            </a:r>
            <a:r>
              <a:rPr lang="en-CA" dirty="0">
                <a:solidFill>
                  <a:srgbClr val="404040"/>
                </a:solidFill>
                <a:latin typeface="Lato" panose="020F0502020204030203" pitchFamily="34" charset="0"/>
              </a:rPr>
              <a:t> for compatibility with </a:t>
            </a:r>
            <a:r>
              <a:rPr lang="en-CA" dirty="0" err="1">
                <a:solidFill>
                  <a:srgbClr val="404040"/>
                </a:solidFill>
                <a:latin typeface="Lato" panose="020F0502020204030203" pitchFamily="34" charset="0"/>
              </a:rPr>
              <a:t>VecEnv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F2816E-383C-ADA4-09AE-EC5FA685AA2A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01266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D17FC-D48E-2B76-DE41-09CCC30B7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Stable-Baselines3 features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7FC950-646B-3AD8-14EA-3CF527E6E78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1" y="1607127"/>
            <a:ext cx="15050573" cy="5928207"/>
          </a:xfrm>
        </p:spPr>
        <p:txBody>
          <a:bodyPr/>
          <a:lstStyle/>
          <a:p>
            <a:pPr lvl="1" indent="0">
              <a:buNone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Vectorized Environments example</a:t>
            </a:r>
          </a:p>
          <a:p>
            <a:pPr algn="l"/>
            <a:r>
              <a:rPr lang="en-CA" sz="1800" b="0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vec_env</a:t>
            </a: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CA" sz="1800" b="0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make_vec_env</a:t>
            </a: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CA" sz="1800" b="0" i="0" u="none" strike="noStrike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"Pendulum-v1"</a:t>
            </a: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CA" sz="1800" b="0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n_envs</a:t>
            </a: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CA" sz="1800" b="0" i="0" u="none" strike="noStrike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16</a:t>
            </a: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</a:t>
            </a:r>
          </a:p>
          <a:p>
            <a:pPr algn="l"/>
            <a:r>
              <a:rPr lang="en-CA" sz="1800" b="0" i="0" u="none" strike="noStrike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# At each call to `</a:t>
            </a:r>
            <a:r>
              <a:rPr lang="en-CA" sz="1800" b="0" i="0" u="none" strike="noStrike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env.step</a:t>
            </a:r>
            <a:r>
              <a:rPr lang="en-CA" sz="1800" b="0" i="0" u="none" strike="noStrike" dirty="0">
                <a:solidFill>
                  <a:srgbClr val="008000"/>
                </a:solidFill>
                <a:effectLst/>
                <a:latin typeface="Courier New" panose="02070309020205020404" pitchFamily="49" charset="0"/>
              </a:rPr>
              <a:t>()`, 16 transitions will be collected, so we account for that for fair comparison</a:t>
            </a:r>
            <a:endParaRPr lang="en-CA" sz="1800" b="0" i="0" u="none" strike="noStrike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pPr algn="l"/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model = PPO(</a:t>
            </a:r>
            <a:r>
              <a:rPr lang="en-CA" sz="1800" b="0" i="0" u="none" strike="noStrike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CA" sz="1800" b="0" i="0" u="none" strike="noStrike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MlpPolicy</a:t>
            </a:r>
            <a:r>
              <a:rPr lang="en-CA" sz="1800" b="0" i="0" u="none" strike="noStrike" dirty="0">
                <a:solidFill>
                  <a:srgbClr val="A31515"/>
                </a:solidFill>
                <a:effectLst/>
                <a:latin typeface="Courier New" panose="02070309020205020404" pitchFamily="49" charset="0"/>
              </a:rPr>
              <a:t>"</a:t>
            </a: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CA" sz="1800" b="0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vec_env</a:t>
            </a: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CA" sz="1800" b="0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n_epochs</a:t>
            </a: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CA" sz="1800" b="0" i="0" u="none" strike="noStrike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CA" sz="1800" b="0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n_steps</a:t>
            </a: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CA" sz="1800" b="0" i="0" u="none" strike="noStrike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n_steps</a:t>
            </a: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 // </a:t>
            </a:r>
            <a:r>
              <a:rPr lang="en-CA" sz="1800" b="0" i="0" u="none" strike="noStrike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16</a:t>
            </a: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verbose=</a:t>
            </a:r>
            <a:r>
              <a:rPr lang="en-CA" sz="1800" b="0" i="0" u="none" strike="noStrike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).learn(</a:t>
            </a:r>
            <a:r>
              <a:rPr lang="en-CA" sz="1800" b="0" i="0" u="none" strike="noStrike" dirty="0">
                <a:solidFill>
                  <a:srgbClr val="257693"/>
                </a:solidFill>
                <a:effectLst/>
                <a:latin typeface="Courier New" panose="02070309020205020404" pitchFamily="49" charset="0"/>
              </a:rPr>
              <a:t>int</a:t>
            </a: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CA" sz="1800" b="0" i="0" u="none" strike="noStrike" dirty="0">
                <a:solidFill>
                  <a:srgbClr val="116644"/>
                </a:solidFill>
                <a:effectLst/>
                <a:latin typeface="Courier New" panose="02070309020205020404" pitchFamily="49" charset="0"/>
              </a:rPr>
              <a:t>2e4</a:t>
            </a:r>
            <a:r>
              <a:rPr lang="en-CA" sz="1800" b="0" i="0" u="none" strike="noStrike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))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Detailed example:</a:t>
            </a:r>
          </a:p>
          <a:p>
            <a:r>
              <a:rPr lang="en-US" dirty="0"/>
              <a:t>https://</a:t>
            </a:r>
            <a:r>
              <a:rPr lang="en-US" dirty="0" err="1"/>
              <a:t>colab.research.google.com</a:t>
            </a:r>
            <a:r>
              <a:rPr lang="en-US" dirty="0"/>
              <a:t>/</a:t>
            </a:r>
            <a:r>
              <a:rPr lang="en-US" dirty="0" err="1"/>
              <a:t>github</a:t>
            </a:r>
            <a:r>
              <a:rPr lang="en-US" dirty="0"/>
              <a:t>/Stable-Baselines-Team/</a:t>
            </a:r>
            <a:r>
              <a:rPr lang="en-US" dirty="0" err="1"/>
              <a:t>rl</a:t>
            </a:r>
            <a:r>
              <a:rPr lang="en-US" dirty="0"/>
              <a:t>-</a:t>
            </a:r>
            <a:r>
              <a:rPr lang="en-US" dirty="0" err="1"/>
              <a:t>colab</a:t>
            </a:r>
            <a:r>
              <a:rPr lang="en-US" dirty="0"/>
              <a:t>-notebooks/blob/sb3/</a:t>
            </a:r>
            <a:r>
              <a:rPr lang="en-US" dirty="0" err="1"/>
              <a:t>multiprocessing_rl.ipynb</a:t>
            </a:r>
            <a:endParaRPr lang="en-US" dirty="0"/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CA" b="0" i="0" u="none" strike="noStrike" dirty="0">
              <a:solidFill>
                <a:srgbClr val="000000"/>
              </a:solidFill>
              <a:effectLst/>
              <a:latin typeface="Courier New" panose="02070309020205020404" pitchFamily="49" charset="0"/>
            </a:endParaRPr>
          </a:p>
          <a:p>
            <a:br>
              <a:rPr lang="en-CA" dirty="0"/>
            </a:b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F2816E-383C-ADA4-09AE-EC5FA685AA2A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28704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D17FC-D48E-2B76-DE41-09CCC30B7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Stable-Baselines3 features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7FC950-646B-3AD8-14EA-3CF527E6E78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2" y="1607127"/>
            <a:ext cx="14025336" cy="6608618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Callbacks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CA" b="0" i="0" u="none" strike="noStrike" dirty="0"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A callback is a set of functions that will be called at given stages of the training procedure. You can use </a:t>
            </a:r>
            <a:r>
              <a:rPr lang="en-CA" b="0" i="0" u="none" strike="noStrike" dirty="0" err="1"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callbacks</a:t>
            </a:r>
            <a:r>
              <a:rPr lang="en-CA" b="0" i="0" u="none" strike="noStrike" dirty="0">
                <a:solidFill>
                  <a:srgbClr val="404040"/>
                </a:solidFill>
                <a:effectLst/>
                <a:latin typeface="Lato" panose="020F0502020204030203" pitchFamily="34" charset="0"/>
              </a:rPr>
              <a:t> to access internal state of the RL model during training. It allows one to do monitoring, auto saving, model manipulation, progress bars, … </a:t>
            </a:r>
          </a:p>
          <a:p>
            <a:pPr marL="1727273" lvl="1" indent="-457200">
              <a:buFont typeface="Arial" panose="020B0604020202020204" pitchFamily="34" charset="0"/>
              <a:buChar char="•"/>
            </a:pPr>
            <a:r>
              <a:rPr lang="en-US" dirty="0" err="1"/>
              <a:t>CheckpointCallback</a:t>
            </a:r>
            <a:r>
              <a:rPr lang="en-US" dirty="0"/>
              <a:t> and </a:t>
            </a:r>
            <a:r>
              <a:rPr lang="en-US" dirty="0" err="1"/>
              <a:t>EvalCallback</a:t>
            </a:r>
            <a:r>
              <a:rPr lang="en-US" dirty="0"/>
              <a:t>  included in SB3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F2816E-383C-ADA4-09AE-EC5FA685AA2A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4732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DA1F4-4581-5BC0-4836-7A45C7AA0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768365"/>
            <a:ext cx="14371701" cy="840301"/>
          </a:xfrm>
        </p:spPr>
        <p:txBody>
          <a:bodyPr/>
          <a:lstStyle/>
          <a:p>
            <a:r>
              <a:rPr lang="en-US" dirty="0"/>
              <a:t>Stable-Baselines3 features (using </a:t>
            </a:r>
            <a:r>
              <a:rPr lang="en-US" dirty="0" err="1"/>
              <a:t>EvalCallback</a:t>
            </a:r>
            <a:r>
              <a:rPr lang="en-US" dirty="0"/>
              <a:t>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E49FA9-6D7E-0E53-1A76-D8F97B183B0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66778" y="1739514"/>
            <a:ext cx="15175263" cy="6531649"/>
          </a:xfrm>
        </p:spPr>
        <p:txBody>
          <a:bodyPr/>
          <a:lstStyle/>
          <a:p>
            <a:r>
              <a:rPr lang="en-US" sz="2400" dirty="0"/>
              <a:t>import gymnasium as gym</a:t>
            </a:r>
          </a:p>
          <a:p>
            <a:r>
              <a:rPr lang="en-US" sz="2400" dirty="0"/>
              <a:t>from stable_baselines3 import SAC</a:t>
            </a:r>
          </a:p>
          <a:p>
            <a:r>
              <a:rPr lang="en-US" sz="2400" dirty="0"/>
              <a:t>from stable_baselines3.common.callbacks import </a:t>
            </a:r>
            <a:r>
              <a:rPr lang="en-US" sz="2400" dirty="0" err="1"/>
              <a:t>EvalCallback</a:t>
            </a:r>
            <a:endParaRPr lang="en-US" sz="2400" dirty="0"/>
          </a:p>
          <a:p>
            <a:r>
              <a:rPr lang="en-US" sz="2400" dirty="0"/>
              <a:t># Separate evaluation env</a:t>
            </a:r>
          </a:p>
          <a:p>
            <a:r>
              <a:rPr lang="en-US" sz="2400" dirty="0" err="1"/>
              <a:t>eval_env</a:t>
            </a:r>
            <a:r>
              <a:rPr lang="en-US" sz="2400" dirty="0"/>
              <a:t> = </a:t>
            </a:r>
            <a:r>
              <a:rPr lang="en-US" sz="2400" dirty="0" err="1"/>
              <a:t>gym.make</a:t>
            </a:r>
            <a:r>
              <a:rPr lang="en-US" sz="2400" dirty="0"/>
              <a:t>("Pendulum-v1")</a:t>
            </a:r>
          </a:p>
          <a:p>
            <a:r>
              <a:rPr lang="en-US" sz="2400" dirty="0"/>
              <a:t># Use deterministic actions for evaluation</a:t>
            </a:r>
          </a:p>
          <a:p>
            <a:r>
              <a:rPr lang="en-US" sz="2400" dirty="0" err="1"/>
              <a:t>eval_callback</a:t>
            </a:r>
            <a:r>
              <a:rPr lang="en-US" sz="2400" dirty="0"/>
              <a:t> = </a:t>
            </a:r>
            <a:r>
              <a:rPr lang="en-US" sz="2400" dirty="0" err="1"/>
              <a:t>EvalCallback</a:t>
            </a:r>
            <a:r>
              <a:rPr lang="en-US" sz="2400" dirty="0"/>
              <a:t>(</a:t>
            </a:r>
            <a:r>
              <a:rPr lang="en-US" sz="2400" dirty="0" err="1"/>
              <a:t>eval_env</a:t>
            </a:r>
            <a:r>
              <a:rPr lang="en-US" sz="2400" dirty="0"/>
              <a:t>, </a:t>
            </a:r>
            <a:r>
              <a:rPr lang="en-US" sz="2400" dirty="0" err="1"/>
              <a:t>best_model_save_path</a:t>
            </a:r>
            <a:r>
              <a:rPr lang="en-US" sz="2400" dirty="0"/>
              <a:t>="./logs/",</a:t>
            </a:r>
          </a:p>
          <a:p>
            <a:r>
              <a:rPr lang="en-US" sz="2400" dirty="0"/>
              <a:t>                             </a:t>
            </a:r>
            <a:r>
              <a:rPr lang="en-US" sz="2400" dirty="0" err="1"/>
              <a:t>log_path</a:t>
            </a:r>
            <a:r>
              <a:rPr lang="en-US" sz="2400" dirty="0"/>
              <a:t>="./logs/", </a:t>
            </a:r>
            <a:r>
              <a:rPr lang="en-US" sz="2400" dirty="0" err="1"/>
              <a:t>eval_freq</a:t>
            </a:r>
            <a:r>
              <a:rPr lang="en-US" sz="2400" dirty="0"/>
              <a:t>=500,</a:t>
            </a:r>
          </a:p>
          <a:p>
            <a:r>
              <a:rPr lang="en-US" sz="2400" dirty="0"/>
              <a:t>                             deterministic=True, render=False)</a:t>
            </a:r>
          </a:p>
          <a:p>
            <a:r>
              <a:rPr lang="en-US" sz="2400" dirty="0"/>
              <a:t>model = SAC("</a:t>
            </a:r>
            <a:r>
              <a:rPr lang="en-US" sz="2400" dirty="0" err="1"/>
              <a:t>MlpPolicy</a:t>
            </a:r>
            <a:r>
              <a:rPr lang="en-US" sz="2400" dirty="0"/>
              <a:t>", "Pendulum-v1")</a:t>
            </a:r>
          </a:p>
          <a:p>
            <a:r>
              <a:rPr lang="en-US" sz="2400" dirty="0" err="1"/>
              <a:t>model.learn</a:t>
            </a:r>
            <a:r>
              <a:rPr lang="en-US" sz="2400" dirty="0"/>
              <a:t>(5000, callback=</a:t>
            </a:r>
            <a:r>
              <a:rPr lang="en-US" sz="2400" dirty="0" err="1"/>
              <a:t>eval_callback</a:t>
            </a:r>
            <a:r>
              <a:rPr lang="en-US" sz="2400" dirty="0"/>
              <a:t>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364C88-F2CA-D63C-8C48-2480B2B8A4E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78885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7EC95-1010-A2AC-FCDB-66BD414D3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735" y="287977"/>
            <a:ext cx="9475914" cy="1335973"/>
          </a:xfrm>
        </p:spPr>
        <p:txBody>
          <a:bodyPr/>
          <a:lstStyle/>
          <a:p>
            <a:r>
              <a:rPr lang="en-US" dirty="0" err="1"/>
              <a:t>HyperParameter</a:t>
            </a:r>
            <a:r>
              <a:rPr lang="en-US" dirty="0"/>
              <a:t> Tuning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42E797-02D2-E3D1-F37C-435336B1292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28214" y="1052945"/>
            <a:ext cx="13666659" cy="7135091"/>
          </a:xfrm>
        </p:spPr>
        <p:txBody>
          <a:bodyPr/>
          <a:lstStyle/>
          <a:p>
            <a:r>
              <a:rPr lang="en-US" dirty="0"/>
              <a:t>From </a:t>
            </a:r>
            <a:r>
              <a:rPr lang="en-US" dirty="0">
                <a:hlinkClick r:id="rId2"/>
              </a:rPr>
              <a:t>https://colab.research.google.com/github/araffin/rl-handson-rlvs21/blob/main/rlvs_hands_on_sb3.ipynb#scrollTo=uDUfeZcyjPKS</a:t>
            </a:r>
            <a:endParaRPr lang="en-US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0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/>
              <a:t>import </a:t>
            </a:r>
            <a:r>
              <a:rPr lang="en-US" sz="2000" dirty="0" err="1"/>
              <a:t>torch.nn</a:t>
            </a:r>
            <a:r>
              <a:rPr lang="en-US" sz="2000" dirty="0"/>
              <a:t> as </a:t>
            </a:r>
            <a:r>
              <a:rPr lang="en-US" sz="2000" dirty="0" err="1"/>
              <a:t>nn</a:t>
            </a:r>
            <a:endParaRPr lang="en-US" sz="2000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 err="1"/>
              <a:t>policy_kwargs</a:t>
            </a:r>
            <a:r>
              <a:rPr lang="en-US" sz="2000" dirty="0"/>
              <a:t> = </a:t>
            </a:r>
            <a:r>
              <a:rPr lang="en-US" sz="2000" dirty="0" err="1"/>
              <a:t>dict</a:t>
            </a:r>
            <a:r>
              <a:rPr lang="en-US" sz="2000" dirty="0"/>
              <a:t>(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/>
              <a:t>   </a:t>
            </a:r>
            <a:r>
              <a:rPr lang="en-US" sz="2000" dirty="0" err="1"/>
              <a:t>net_arch</a:t>
            </a:r>
            <a:r>
              <a:rPr lang="en-US" sz="2000" dirty="0"/>
              <a:t>=[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/>
              <a:t>               </a:t>
            </a:r>
            <a:r>
              <a:rPr lang="en-US" sz="2000" dirty="0" err="1"/>
              <a:t>dict</a:t>
            </a:r>
            <a:r>
              <a:rPr lang="en-US" sz="2000" dirty="0"/>
              <a:t>(</a:t>
            </a:r>
            <a:r>
              <a:rPr lang="en-US" sz="2000" dirty="0" err="1"/>
              <a:t>vf</a:t>
            </a:r>
            <a:r>
              <a:rPr lang="en-US" sz="2000" dirty="0"/>
              <a:t>=[64, 64], pi=[64, 64]), # network architectures for actor/critic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/>
              <a:t>    ],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/>
              <a:t>    </a:t>
            </a:r>
            <a:r>
              <a:rPr lang="en-US" sz="2000" dirty="0" err="1"/>
              <a:t>ortho_init</a:t>
            </a:r>
            <a:r>
              <a:rPr lang="en-US" sz="2000" dirty="0"/>
              <a:t>=True, # Orthogonal initialization,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/>
              <a:t>    </a:t>
            </a:r>
            <a:r>
              <a:rPr lang="en-US" sz="2000" dirty="0" err="1"/>
              <a:t>activation_fn</a:t>
            </a:r>
            <a:r>
              <a:rPr lang="en-US" sz="2000" dirty="0"/>
              <a:t>=</a:t>
            </a:r>
            <a:r>
              <a:rPr lang="en-US" sz="2000" dirty="0" err="1"/>
              <a:t>nn.Tanh</a:t>
            </a:r>
            <a:r>
              <a:rPr lang="en-US" sz="2000" dirty="0"/>
              <a:t>,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/>
              <a:t>)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 err="1"/>
              <a:t>hyperparams</a:t>
            </a:r>
            <a:r>
              <a:rPr lang="en-US" sz="2000" dirty="0"/>
              <a:t> = </a:t>
            </a:r>
            <a:r>
              <a:rPr lang="en-US" sz="2000" dirty="0" err="1"/>
              <a:t>dict</a:t>
            </a:r>
            <a:r>
              <a:rPr lang="en-US" sz="2000" dirty="0"/>
              <a:t>(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/>
              <a:t>    </a:t>
            </a:r>
            <a:r>
              <a:rPr lang="en-US" sz="2000" dirty="0" err="1"/>
              <a:t>n_steps</a:t>
            </a:r>
            <a:r>
              <a:rPr lang="en-US" sz="2000" dirty="0"/>
              <a:t>=5,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/>
              <a:t>    </a:t>
            </a:r>
            <a:r>
              <a:rPr lang="en-US" sz="2000" dirty="0" err="1"/>
              <a:t>learning_rate</a:t>
            </a:r>
            <a:r>
              <a:rPr lang="en-US" sz="2000" dirty="0"/>
              <a:t>=7e-4,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/>
              <a:t>    gamma=0.99, # discount factor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/>
              <a:t>    </a:t>
            </a:r>
            <a:r>
              <a:rPr lang="en-US" sz="2000" dirty="0" err="1"/>
              <a:t>gae_lambda</a:t>
            </a:r>
            <a:r>
              <a:rPr lang="en-US" sz="2000" dirty="0"/>
              <a:t>=1.0, # Factor for trade-off of bias vs variance for Generalized Advantage Estimator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/>
              <a:t>                    # Equivalent to classic advantage when set to 1.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/>
              <a:t>    </a:t>
            </a:r>
            <a:r>
              <a:rPr lang="en-US" sz="2000" dirty="0" err="1"/>
              <a:t>max_grad_norm</a:t>
            </a:r>
            <a:r>
              <a:rPr lang="en-US" sz="2000" dirty="0"/>
              <a:t>=0.5, # The maximum value for the gradient clipping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/>
              <a:t>    </a:t>
            </a:r>
            <a:r>
              <a:rPr lang="en-US" sz="2000" dirty="0" err="1"/>
              <a:t>ent_coef</a:t>
            </a:r>
            <a:r>
              <a:rPr lang="en-US" sz="2000" dirty="0"/>
              <a:t>=0.0, # Entropy coefficient for the loss calculation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000" dirty="0"/>
              <a:t>)</a:t>
            </a:r>
          </a:p>
          <a:p>
            <a:r>
              <a:rPr lang="en-US" sz="2000" dirty="0"/>
              <a:t>model = A2C("</a:t>
            </a:r>
            <a:r>
              <a:rPr lang="en-US" sz="2000" dirty="0" err="1"/>
              <a:t>MlpPolicy</a:t>
            </a:r>
            <a:r>
              <a:rPr lang="en-US" sz="2000" dirty="0"/>
              <a:t>", "CartPole-v1", seed=8, verbose=1, **</a:t>
            </a:r>
            <a:r>
              <a:rPr lang="en-US" sz="2000" dirty="0" err="1"/>
              <a:t>hyperparams</a:t>
            </a:r>
            <a:r>
              <a:rPr lang="en-US" sz="2000" dirty="0"/>
              <a:t>).learn(budget)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13B1F4-FEE9-1220-D89E-E37ECA9DB6C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96437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lgonquin College Colours">
      <a:dk1>
        <a:srgbClr val="423F3F"/>
      </a:dk1>
      <a:lt1>
        <a:sysClr val="window" lastClr="FFFFFF"/>
      </a:lt1>
      <a:dk2>
        <a:srgbClr val="00673E"/>
      </a:dk2>
      <a:lt2>
        <a:srgbClr val="FFFFFF"/>
      </a:lt2>
      <a:accent1>
        <a:srgbClr val="00673E"/>
      </a:accent1>
      <a:accent2>
        <a:srgbClr val="599A83"/>
      </a:accent2>
      <a:accent3>
        <a:srgbClr val="A6C8BC"/>
      </a:accent3>
      <a:accent4>
        <a:srgbClr val="408A70"/>
      </a:accent4>
      <a:accent5>
        <a:srgbClr val="423F3F"/>
      </a:accent5>
      <a:accent6>
        <a:srgbClr val="B4B2B5"/>
      </a:accent6>
      <a:hlink>
        <a:srgbClr val="43B02A"/>
      </a:hlink>
      <a:folHlink>
        <a:srgbClr val="7AC143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50258</TotalTime>
  <Words>909</Words>
  <Application>Microsoft Macintosh PowerPoint</Application>
  <PresentationFormat>Custom</PresentationFormat>
  <Paragraphs>95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Courier New</vt:lpstr>
      <vt:lpstr>Lato</vt:lpstr>
      <vt:lpstr>Menlo</vt:lpstr>
      <vt:lpstr>Wingdings</vt:lpstr>
      <vt:lpstr>Office Theme</vt:lpstr>
      <vt:lpstr>Stable-Baselines3</vt:lpstr>
      <vt:lpstr>Status</vt:lpstr>
      <vt:lpstr>Observation and Action Spaces</vt:lpstr>
      <vt:lpstr>Stable-Baselines 3 Base RL Class</vt:lpstr>
      <vt:lpstr>Which Algorithm?</vt:lpstr>
      <vt:lpstr>Stable-Baselines3 features</vt:lpstr>
      <vt:lpstr>Stable-Baselines3 features</vt:lpstr>
      <vt:lpstr>Stable-Baselines3 features</vt:lpstr>
      <vt:lpstr>Stable-Baselines3 features</vt:lpstr>
      <vt:lpstr>Stable-Baselines3 features (using EvalCallback)</vt:lpstr>
      <vt:lpstr>HyperParameter Tuning</vt:lpstr>
    </vt:vector>
  </TitlesOfParts>
  <Company>Salt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Daniela Chavez Ackermann</dc:creator>
  <cp:lastModifiedBy>Todd Kelley</cp:lastModifiedBy>
  <cp:revision>245</cp:revision>
  <cp:lastPrinted>2024-01-16T20:20:34Z</cp:lastPrinted>
  <dcterms:created xsi:type="dcterms:W3CDTF">2016-12-21T16:02:28Z</dcterms:created>
  <dcterms:modified xsi:type="dcterms:W3CDTF">2026-01-28T20:40:41Z</dcterms:modified>
</cp:coreProperties>
</file>
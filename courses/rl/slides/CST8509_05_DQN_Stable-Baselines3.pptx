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2"/>
    <p:sldId id="437" r:id="rId3"/>
    <p:sldId id="449" r:id="rId4"/>
    <p:sldId id="439" r:id="rId5"/>
    <p:sldId id="450" r:id="rId6"/>
    <p:sldId id="451" r:id="rId7"/>
    <p:sldId id="452" r:id="rId8"/>
    <p:sldId id="448" r:id="rId9"/>
    <p:sldId id="453" r:id="rId10"/>
    <p:sldId id="454" r:id="rId11"/>
    <p:sldId id="455" r:id="rId12"/>
    <p:sldId id="456" r:id="rId13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B02A"/>
    <a:srgbClr val="267A52"/>
    <a:srgbClr val="00673E"/>
    <a:srgbClr val="006643"/>
    <a:srgbClr val="589278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79" autoAdjust="0"/>
    <p:restoredTop sz="94421" autoAdjust="0"/>
  </p:normalViewPr>
  <p:slideViewPr>
    <p:cSldViewPr snapToGrid="0" snapToObjects="1">
      <p:cViewPr>
        <p:scale>
          <a:sx n="71" d="100"/>
          <a:sy n="71" d="100"/>
        </p:scale>
        <p:origin x="2160" y="696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4032727"/>
            <a:ext cx="12157629" cy="23368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48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29733" y="7346545"/>
            <a:ext cx="7145607" cy="993775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2017</a:t>
            </a:r>
            <a:endParaRPr lang="en-US" dirty="0"/>
          </a:p>
        </p:txBody>
      </p:sp>
      <p:pic>
        <p:nvPicPr>
          <p:cNvPr id="4" name="Picture 3" descr="ac-logo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728" y="825406"/>
            <a:ext cx="3390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893" y="689942"/>
            <a:ext cx="965199" cy="7112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 err="1"/>
              <a:t>www.algonquincollege.com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693" r:id="rId6"/>
    <p:sldLayoutId id="2147483685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4" r:id="rId14"/>
    <p:sldLayoutId id="2147483695" r:id="rId15"/>
    <p:sldLayoutId id="2147483696" r:id="rId16"/>
    <p:sldLayoutId id="2147483697" r:id="rId17"/>
    <p:sldLayoutId id="2147483677" r:id="rId18"/>
    <p:sldLayoutId id="2147483698" r:id="rId19"/>
    <p:sldLayoutId id="2147483699" r:id="rId20"/>
    <p:sldLayoutId id="2147483682" r:id="rId21"/>
    <p:sldLayoutId id="2147483654" r:id="rId22"/>
    <p:sldLayoutId id="2147483662" r:id="rId23"/>
    <p:sldLayoutId id="2147483683" r:id="rId24"/>
    <p:sldLayoutId id="2147483684" r:id="rId25"/>
    <p:sldLayoutId id="2147483664" r:id="rId26"/>
    <p:sldLayoutId id="2147483700" r:id="rId27"/>
    <p:sldLayoutId id="2147483701" r:id="rId28"/>
    <p:sldLayoutId id="2147483657" r:id="rId29"/>
    <p:sldLayoutId id="2147483674" r:id="rId30"/>
    <p:sldLayoutId id="2147483675" r:id="rId31"/>
    <p:sldLayoutId id="2147483681" r:id="rId32"/>
    <p:sldLayoutId id="2147483667" r:id="rId33"/>
    <p:sldLayoutId id="2147483680" r:id="rId34"/>
    <p:sldLayoutId id="2147483702" r:id="rId35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Stable-Baselines3 DQN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99082" y="8572491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03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75C00-9CBA-8A24-5C0A-F8C41D5A0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13409556" cy="1335973"/>
          </a:xfrm>
        </p:spPr>
        <p:txBody>
          <a:bodyPr/>
          <a:lstStyle/>
          <a:p>
            <a:r>
              <a:rPr lang="en-US" dirty="0"/>
              <a:t>Blocks with Target 2x4, 4x4, 5x5, …. 10x10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F0BE4-37DA-3B13-0073-39CD12C262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385455"/>
            <a:ext cx="14323956" cy="673160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Which Algorithm?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DQN working better than PPO in early experiments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DQN is a popular choice for this type of problem (</a:t>
            </a:r>
            <a:r>
              <a:rPr lang="en-US" dirty="0" err="1"/>
              <a:t>e.g.Rubik’s</a:t>
            </a:r>
            <a:r>
              <a:rPr lang="en-US" dirty="0"/>
              <a:t> Cube)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Basics of DQN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rgbClr val="0A0A0A"/>
                </a:solidFill>
              </a:rPr>
              <a:t>Q-Network (Policy):</a:t>
            </a:r>
            <a:r>
              <a:rPr lang="en-US" altLang="en-US" sz="2400" dirty="0">
                <a:solidFill>
                  <a:srgbClr val="0A0A0A"/>
                </a:solidFill>
              </a:rPr>
              <a:t> A neural network (often </a:t>
            </a:r>
            <a:r>
              <a:rPr lang="en-US" altLang="en-US" sz="2400" dirty="0" err="1">
                <a:solidFill>
                  <a:srgbClr val="0A0A0A"/>
                </a:solidFill>
              </a:rPr>
              <a:t>MlpPolicy</a:t>
            </a:r>
            <a:r>
              <a:rPr lang="en-US" altLang="en-US" sz="2400" dirty="0">
                <a:solidFill>
                  <a:srgbClr val="0A0A0A"/>
                </a:solidFill>
              </a:rPr>
              <a:t> or </a:t>
            </a:r>
            <a:r>
              <a:rPr lang="en-US" altLang="en-US" sz="2400" dirty="0" err="1">
                <a:solidFill>
                  <a:srgbClr val="0A0A0A"/>
                </a:solidFill>
              </a:rPr>
              <a:t>CnnPolicy</a:t>
            </a:r>
            <a:r>
              <a:rPr lang="en-US" altLang="en-US" sz="2400" dirty="0">
                <a:solidFill>
                  <a:srgbClr val="0A0A0A"/>
                </a:solidFill>
              </a:rPr>
              <a:t>) that takes the state as input and outputs Q-values for each possible discrete action.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rgbClr val="0A0A0A"/>
                </a:solidFill>
              </a:rPr>
              <a:t>Target Network:</a:t>
            </a:r>
            <a:r>
              <a:rPr lang="en-US" altLang="en-US" sz="2400" dirty="0">
                <a:solidFill>
                  <a:srgbClr val="0A0A0A"/>
                </a:solidFill>
              </a:rPr>
              <a:t> A slowly updated, identical copy of the Q-network used to compute the target Q-value, which helps stabilize training by preventing the network from chasing its own tail.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rgbClr val="0A0A0A"/>
                </a:solidFill>
              </a:rPr>
              <a:t>Replay Buffer: </a:t>
            </a:r>
            <a:r>
              <a:rPr lang="en-US" altLang="en-US" sz="2400" dirty="0">
                <a:solidFill>
                  <a:srgbClr val="0A0A0A"/>
                </a:solidFill>
              </a:rPr>
              <a:t>Stores past experiences to break the correlation between consecutive samples, allowing the agent to learn from a diverse, random batch of past data.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rgbClr val="0A0A0A"/>
                </a:solidFill>
              </a:rPr>
              <a:t>Epsilon-Greedy Exploration:</a:t>
            </a:r>
            <a:r>
              <a:rPr lang="en-US" altLang="en-US" sz="2400" dirty="0">
                <a:solidFill>
                  <a:srgbClr val="0A0A0A"/>
                </a:solidFill>
              </a:rPr>
              <a:t> The agent balances exploration and exploitation by choosing a random action with probability (epsilon) or the best-predicted action 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1727273" lvl="1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B0A9B0-0ABC-8A84-68D5-AAE63A96F75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E3CD5D5B-0AA4-1D36-AB86-D2F9F7EB3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69359"/>
            <a:ext cx="89768" cy="9387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</a:t>
            </a:r>
            <a:endParaRPr kumimoji="0" lang="en-US" altLang="en-US" sz="100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C2B0CBF8-487C-2F86-CFD3-DF977D450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-2378075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>
            <a:extLst>
              <a:ext uri="{FF2B5EF4-FFF2-40B4-BE49-F238E27FC236}">
                <a16:creationId xmlns:a16="http://schemas.microsoft.com/office/drawing/2014/main" id="{32D68C2F-23E5-9362-B959-50754483F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-487363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A4B33576-F4CA-632F-3D1C-0EDE1D7EC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1219200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478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9947E-AF5D-2E3C-A342-F891C5AE6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214" y="349408"/>
            <a:ext cx="2306363" cy="825183"/>
          </a:xfrm>
        </p:spPr>
        <p:txBody>
          <a:bodyPr/>
          <a:lstStyle/>
          <a:p>
            <a:r>
              <a:rPr lang="en-US" dirty="0"/>
              <a:t>DQN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E853090-06C3-4813-A6B2-FBA4EC8E4C7C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425756" y="1161756"/>
                <a:ext cx="15406076" cy="7335699"/>
              </a:xfrm>
            </p:spPr>
            <p:txBody>
              <a:bodyPr/>
              <a:lstStyle/>
              <a:p>
                <a:pPr marL="514350" indent="-514350">
                  <a:buAutoNum type="arabicPeriod"/>
                </a:pPr>
                <a:r>
                  <a:rPr lang="en-CA" sz="2800" b="1" dirty="0"/>
                  <a:t>Interaction &amp; Collection:</a:t>
                </a:r>
                <a:r>
                  <a:rPr lang="en-CA" sz="2800" dirty="0"/>
                  <a:t> The agent interacts with the environment, taking actions and storing transitions in the </a:t>
                </a:r>
                <a:r>
                  <a:rPr lang="en-CA" sz="2800" dirty="0" err="1"/>
                  <a:t>ReplayBuffer</a:t>
                </a:r>
                <a:r>
                  <a:rPr lang="en-CA" sz="2800" dirty="0"/>
                  <a:t>.</a:t>
                </a:r>
              </a:p>
              <a:p>
                <a:pPr marL="514350" indent="-514350">
                  <a:buFontTx/>
                  <a:buAutoNum type="arabicPeriod"/>
                </a:pPr>
                <a:r>
                  <a:rPr lang="en-CA" sz="2800" b="1" dirty="0"/>
                  <a:t>Warm-up:</a:t>
                </a:r>
                <a:r>
                  <a:rPr lang="en-CA" sz="2800" dirty="0"/>
                  <a:t> For a specified number of steps (</a:t>
                </a:r>
                <a:r>
                  <a:rPr lang="en-CA" sz="2800" dirty="0" err="1"/>
                  <a:t>learning_starts</a:t>
                </a:r>
                <a:r>
                  <a:rPr lang="en-CA" sz="2800" dirty="0"/>
                  <a:t>), the agent acts randomly to fill the buffer before learning begins.</a:t>
                </a:r>
              </a:p>
              <a:p>
                <a:pPr marL="514350" indent="-514350">
                  <a:buFontTx/>
                  <a:buAutoNum type="arabicPeriod"/>
                </a:pPr>
                <a:r>
                  <a:rPr lang="en-CA" sz="2800" b="1" dirty="0"/>
                  <a:t>Sampling:</a:t>
                </a:r>
                <a:r>
                  <a:rPr lang="en-CA" sz="2800" dirty="0"/>
                  <a:t> After the warm-up, the algorithm samples a random mini-batch of experiences from the replay buffer.</a:t>
                </a:r>
              </a:p>
              <a:p>
                <a:pPr marL="514350" indent="-514350">
                  <a:buAutoNum type="arabicPeriod"/>
                </a:pPr>
                <a:r>
                  <a:rPr lang="en-US" altLang="en-US" sz="2800" b="1" dirty="0">
                    <a:solidFill>
                      <a:srgbClr val="0A0A0A"/>
                    </a:solidFill>
                    <a:latin typeface="Google Sans"/>
                  </a:rPr>
                  <a:t>Target Calculation:</a:t>
                </a:r>
                <a:r>
                  <a:rPr lang="en-US" altLang="en-US" sz="2800" dirty="0">
                    <a:solidFill>
                      <a:srgbClr val="0A0A0A"/>
                    </a:solidFill>
                    <a:latin typeface="Google Sans"/>
                  </a:rPr>
                  <a:t> The target network computes the target Q-value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en-US" sz="2800" b="0" i="1" smtClean="0">
                          <a:solidFill>
                            <a:srgbClr val="0A0A0A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CA" altLang="en-US" sz="2800" b="0" i="1" smtClean="0">
                          <a:solidFill>
                            <a:srgbClr val="0A0A0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altLang="en-US" sz="2800" b="0" i="1" smtClean="0">
                          <a:solidFill>
                            <a:srgbClr val="0A0A0A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CA" altLang="en-US" sz="2800" b="0" i="1" smtClean="0">
                          <a:solidFill>
                            <a:srgbClr val="0A0A0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altLang="en-US" sz="2800" b="0" i="1" smtClean="0">
                          <a:solidFill>
                            <a:srgbClr val="0A0A0A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CA" altLang="en-US" sz="2800" b="0" i="1" smtClean="0">
                          <a:solidFill>
                            <a:srgbClr val="0A0A0A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limLow>
                        <m:limLowPr>
                          <m:ctrlPr>
                            <a:rPr lang="en-CA" altLang="en-US" sz="2800" b="0" i="1" smtClean="0">
                              <a:solidFill>
                                <a:srgbClr val="0A0A0A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CA" altLang="en-US" sz="2800" b="0" i="1" smtClean="0">
                              <a:solidFill>
                                <a:srgbClr val="0A0A0A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lim>
                          <m:sSup>
                            <m:sSupPr>
                              <m:ctrlPr>
                                <a:rPr lang="en-CA" altLang="en-US" sz="2800" b="0" i="1" smtClean="0">
                                  <a:solidFill>
                                    <a:srgbClr val="0A0A0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altLang="en-US" sz="2800" b="0" i="1" smtClean="0">
                                  <a:solidFill>
                                    <a:srgbClr val="0A0A0A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CA" altLang="en-US" sz="2800" b="0" i="1" smtClean="0">
                                  <a:solidFill>
                                    <a:srgbClr val="0A0A0A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lim>
                      </m:limLow>
                      <m:r>
                        <a:rPr lang="en-CA" altLang="en-US" sz="2800" b="0" i="1" smtClean="0">
                          <a:solidFill>
                            <a:srgbClr val="0A0A0A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CA" altLang="en-US" sz="2800" b="0" i="1" smtClean="0">
                              <a:solidFill>
                                <a:srgbClr val="0A0A0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altLang="en-US" sz="2800" b="0" i="1" smtClean="0">
                              <a:solidFill>
                                <a:srgbClr val="0A0A0A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CA" altLang="en-US" sz="2800" b="0" i="1" smtClean="0">
                              <a:solidFill>
                                <a:srgbClr val="0A0A0A"/>
                              </a:solidFill>
                              <a:latin typeface="Cambria Math" panose="02040503050406030204" pitchFamily="18" charset="0"/>
                            </a:rPr>
                            <m:t>𝑡𝑎𝑟𝑔𝑒𝑡</m:t>
                          </m:r>
                        </m:sub>
                      </m:sSub>
                      <m:r>
                        <a:rPr lang="en-CA" altLang="en-US" sz="2800" b="0" i="1" smtClean="0">
                          <a:solidFill>
                            <a:srgbClr val="0A0A0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CA" altLang="en-US" sz="2800" b="0" i="1" smtClean="0">
                              <a:solidFill>
                                <a:srgbClr val="0A0A0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altLang="en-US" sz="2800" b="0" i="1" smtClean="0">
                              <a:solidFill>
                                <a:srgbClr val="0A0A0A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CA" altLang="en-US" sz="2800" b="0" i="1" smtClean="0">
                              <a:solidFill>
                                <a:srgbClr val="0A0A0A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CA" altLang="en-US" sz="2800" b="0" i="1" smtClean="0">
                          <a:solidFill>
                            <a:srgbClr val="0A0A0A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CA" altLang="en-US" sz="2800" b="0" i="1" smtClean="0">
                              <a:solidFill>
                                <a:srgbClr val="0A0A0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altLang="en-US" sz="2800" b="0" i="1" smtClean="0">
                              <a:solidFill>
                                <a:srgbClr val="0A0A0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CA" altLang="en-US" sz="2800" b="0" i="1" smtClean="0">
                              <a:solidFill>
                                <a:srgbClr val="0A0A0A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CA" altLang="en-US" sz="2800" b="0" i="1" smtClean="0">
                          <a:solidFill>
                            <a:srgbClr val="0A0A0A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2800" dirty="0"/>
              </a:p>
              <a:p>
                <a:pPr marL="514350" indent="-514350">
                  <a:buFont typeface="+mj-lt"/>
                  <a:buAutoNum type="arabicPeriod" startAt="5"/>
                </a:pPr>
                <a:r>
                  <a:rPr lang="en-CA" sz="2800" b="1" dirty="0"/>
                  <a:t>Loss Calculation &amp; Update</a:t>
                </a:r>
                <a:r>
                  <a:rPr lang="en-CA" sz="2800" dirty="0"/>
                  <a:t>: The main Q-network computes the current Q(</a:t>
                </a:r>
                <a:r>
                  <a:rPr lang="en-CA" sz="2800" dirty="0" err="1"/>
                  <a:t>s,a</a:t>
                </a:r>
                <a:r>
                  <a:rPr lang="en-CA" sz="2800" dirty="0"/>
                  <a:t>) and updates its weights by minimizing the Mean Squared Error between Q(</a:t>
                </a:r>
                <a:r>
                  <a:rPr lang="en-CA" sz="2800" dirty="0" err="1"/>
                  <a:t>s,a</a:t>
                </a:r>
                <a:r>
                  <a:rPr lang="en-CA" sz="2800" dirty="0"/>
                  <a:t>) and y</a:t>
                </a:r>
              </a:p>
              <a:p>
                <a:pPr marL="514350" indent="-514350">
                  <a:buFont typeface="+mj-lt"/>
                  <a:buAutoNum type="arabicPeriod" startAt="5"/>
                </a:pPr>
                <a:r>
                  <a:rPr lang="en-CA" sz="2800" b="1" dirty="0"/>
                  <a:t>Target Network Update</a:t>
                </a:r>
                <a:r>
                  <a:rPr lang="en-CA" sz="2800" dirty="0"/>
                  <a:t>: Every </a:t>
                </a:r>
                <a:r>
                  <a:rPr lang="en-CA" sz="2800" dirty="0" err="1"/>
                  <a:t>target_update_interval</a:t>
                </a:r>
                <a:r>
                  <a:rPr lang="en-CA" sz="2800" dirty="0"/>
                  <a:t> steps, the main network weights are copied to the target network</a:t>
                </a:r>
              </a:p>
              <a:p>
                <a:endParaRPr lang="en-CA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E853090-06C3-4813-A6B2-FBA4EC8E4C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425756" y="1161756"/>
                <a:ext cx="15406076" cy="7335699"/>
              </a:xfrm>
              <a:blipFill>
                <a:blip r:embed="rId2"/>
                <a:stretch>
                  <a:fillRect l="-1400" t="-1382" r="-2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8024D-BB14-3DC1-414B-84D4752D450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2068" name="Picture 20">
            <a:extLst>
              <a:ext uri="{FF2B5EF4-FFF2-40B4-BE49-F238E27FC236}">
                <a16:creationId xmlns:a16="http://schemas.microsoft.com/office/drawing/2014/main" id="{E9C565F2-1190-BDC4-0A82-083CB5258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-1616075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9" name="Picture 21">
            <a:extLst>
              <a:ext uri="{FF2B5EF4-FFF2-40B4-BE49-F238E27FC236}">
                <a16:creationId xmlns:a16="http://schemas.microsoft.com/office/drawing/2014/main" id="{E07B3207-1F2C-37F5-7A2E-E64BCD5C4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92075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1" name="Picture 23">
            <a:extLst>
              <a:ext uri="{FF2B5EF4-FFF2-40B4-BE49-F238E27FC236}">
                <a16:creationId xmlns:a16="http://schemas.microsoft.com/office/drawing/2014/main" id="{6985A998-927F-E1FA-B0BA-12D97B48A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-944563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2" name="Picture 24">
            <a:extLst>
              <a:ext uri="{FF2B5EF4-FFF2-40B4-BE49-F238E27FC236}">
                <a16:creationId xmlns:a16="http://schemas.microsoft.com/office/drawing/2014/main" id="{E8F1557B-CE8B-82FB-15BE-ACA225C2E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675" y="762000"/>
            <a:ext cx="127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7560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17FC-D48E-2B76-DE41-09CCC30B7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1810299" cy="1335973"/>
          </a:xfrm>
        </p:spPr>
        <p:txBody>
          <a:bodyPr/>
          <a:lstStyle/>
          <a:p>
            <a:r>
              <a:rPr lang="en-US" dirty="0"/>
              <a:t>DQN action space must be Discrete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FC950-646B-3AD8-14EA-3CF527E6E7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607127"/>
            <a:ext cx="14025336" cy="592820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Python-based environment, blocks with target, uses </a:t>
            </a:r>
            <a:r>
              <a:rPr lang="en-US" dirty="0" err="1"/>
              <a:t>MultiDiscrete</a:t>
            </a:r>
            <a:r>
              <a:rPr lang="en-US" dirty="0"/>
              <a:t> actions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Q: How can we train DQN on this environment?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A: wrap it!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2816E-383C-ADA4-09AE-EC5FA685AA2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654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8B64A-6584-70E9-A889-50BCB0AC6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214" y="373918"/>
            <a:ext cx="9475914" cy="840301"/>
          </a:xfrm>
        </p:spPr>
        <p:txBody>
          <a:bodyPr/>
          <a:lstStyle/>
          <a:p>
            <a:r>
              <a:rPr lang="en-US" dirty="0" err="1"/>
              <a:t>DiscreteActionWrapper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B2D3A-7676-8EDF-3D72-C2BA39FECC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214219"/>
            <a:ext cx="14355400" cy="6321115"/>
          </a:xfrm>
        </p:spPr>
        <p:txBody>
          <a:bodyPr/>
          <a:lstStyle/>
          <a:p>
            <a:r>
              <a:rPr lang="en-CA" dirty="0"/>
              <a:t>class </a:t>
            </a:r>
            <a:r>
              <a:rPr lang="en-CA" dirty="0" err="1"/>
              <a:t>DiscreteActionWrapper</a:t>
            </a:r>
            <a:r>
              <a:rPr lang="en-CA" dirty="0"/>
              <a:t>(</a:t>
            </a:r>
            <a:r>
              <a:rPr lang="en-CA" dirty="0" err="1"/>
              <a:t>gym.ActionWrapper</a:t>
            </a:r>
            <a:r>
              <a:rPr lang="en-CA" dirty="0"/>
              <a:t>):</a:t>
            </a:r>
          </a:p>
          <a:p>
            <a:r>
              <a:rPr lang="en-CA" sz="2800" dirty="0"/>
              <a:t>    def __</a:t>
            </a:r>
            <a:r>
              <a:rPr lang="en-CA" sz="2800" dirty="0" err="1"/>
              <a:t>init</a:t>
            </a:r>
            <a:r>
              <a:rPr lang="en-CA" sz="2800" dirty="0"/>
              <a:t>__(self, env):</a:t>
            </a:r>
          </a:p>
          <a:p>
            <a:r>
              <a:rPr lang="en-CA" sz="2800" dirty="0"/>
              <a:t>        super().__</a:t>
            </a:r>
            <a:r>
              <a:rPr lang="en-CA" sz="2800" dirty="0" err="1"/>
              <a:t>init</a:t>
            </a:r>
            <a:r>
              <a:rPr lang="en-CA" sz="2800" dirty="0"/>
              <a:t>__(env)</a:t>
            </a:r>
          </a:p>
          <a:p>
            <a:r>
              <a:rPr lang="en-CA" sz="2800" dirty="0"/>
              <a:t>        # Assume </a:t>
            </a:r>
            <a:r>
              <a:rPr lang="en-CA" sz="2800" dirty="0" err="1"/>
              <a:t>env.action_space</a:t>
            </a:r>
            <a:r>
              <a:rPr lang="en-CA" sz="2800" dirty="0"/>
              <a:t> is </a:t>
            </a:r>
            <a:r>
              <a:rPr lang="en-CA" sz="2800" dirty="0" err="1"/>
              <a:t>MultiDiscrete</a:t>
            </a:r>
            <a:r>
              <a:rPr lang="en-CA" sz="2800" dirty="0"/>
              <a:t>([2, 3])</a:t>
            </a:r>
          </a:p>
          <a:p>
            <a:r>
              <a:rPr lang="en-CA" sz="2800" dirty="0"/>
              <a:t>        </a:t>
            </a:r>
            <a:r>
              <a:rPr lang="en-CA" sz="2800" dirty="0" err="1"/>
              <a:t>self.dims</a:t>
            </a:r>
            <a:r>
              <a:rPr lang="en-CA" sz="2800" dirty="0"/>
              <a:t> = </a:t>
            </a:r>
            <a:r>
              <a:rPr lang="en-CA" sz="2800" dirty="0" err="1"/>
              <a:t>env.action_space.nvec</a:t>
            </a:r>
            <a:endParaRPr lang="en-CA" sz="2800" dirty="0"/>
          </a:p>
          <a:p>
            <a:r>
              <a:rPr lang="en-CA" sz="2800" dirty="0"/>
              <a:t>        </a:t>
            </a:r>
            <a:r>
              <a:rPr lang="en-CA" sz="2800" dirty="0" err="1"/>
              <a:t>self.action_space</a:t>
            </a:r>
            <a:r>
              <a:rPr lang="en-CA" sz="2800" dirty="0"/>
              <a:t> = </a:t>
            </a:r>
            <a:r>
              <a:rPr lang="en-CA" sz="2800" dirty="0" err="1"/>
              <a:t>gym.spaces.Discrete</a:t>
            </a:r>
            <a:r>
              <a:rPr lang="en-CA" sz="2800" dirty="0"/>
              <a:t>(</a:t>
            </a:r>
            <a:r>
              <a:rPr lang="en-CA" sz="2800" dirty="0" err="1"/>
              <a:t>np.prod</a:t>
            </a:r>
            <a:r>
              <a:rPr lang="en-CA" sz="2800" dirty="0"/>
              <a:t>(</a:t>
            </a:r>
            <a:r>
              <a:rPr lang="en-CA" sz="2800" dirty="0" err="1"/>
              <a:t>self.dims</a:t>
            </a:r>
            <a:r>
              <a:rPr lang="en-CA" sz="2800" dirty="0"/>
              <a:t>))</a:t>
            </a:r>
          </a:p>
          <a:p>
            <a:r>
              <a:rPr lang="en-CA" sz="2800" dirty="0"/>
              <a:t>    def action(self, action):</a:t>
            </a:r>
          </a:p>
          <a:p>
            <a:r>
              <a:rPr lang="en-CA" sz="2800" dirty="0"/>
              <a:t>        # Convert single integer back to tuple for the inner env</a:t>
            </a:r>
          </a:p>
          <a:p>
            <a:r>
              <a:rPr lang="en-CA" sz="2800" dirty="0"/>
              <a:t>        return </a:t>
            </a:r>
            <a:r>
              <a:rPr lang="en-CA" sz="2800" dirty="0" err="1"/>
              <a:t>np.unravel_index</a:t>
            </a:r>
            <a:r>
              <a:rPr lang="en-CA" sz="2800" dirty="0"/>
              <a:t>(action, </a:t>
            </a:r>
            <a:r>
              <a:rPr lang="en-CA" sz="2800" dirty="0" err="1"/>
              <a:t>self.dims</a:t>
            </a:r>
            <a:r>
              <a:rPr lang="en-CA" sz="2800" dirty="0"/>
              <a:t>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16D1DD-72C6-BBA3-146D-E76CBBAA722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002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2E508-1469-6B8D-B5B4-B330692C8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214" y="217535"/>
            <a:ext cx="12849331" cy="840301"/>
          </a:xfrm>
        </p:spPr>
        <p:txBody>
          <a:bodyPr/>
          <a:lstStyle/>
          <a:p>
            <a:r>
              <a:rPr lang="en-US" dirty="0"/>
              <a:t>Applying wrappers to an environment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78287-FE12-957F-895B-F6E94F86FB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6317" y="1057836"/>
            <a:ext cx="14319541" cy="7082117"/>
          </a:xfrm>
        </p:spPr>
        <p:txBody>
          <a:bodyPr/>
          <a:lstStyle/>
          <a:p>
            <a:r>
              <a:rPr lang="en-US" dirty="0"/>
              <a:t>#</a:t>
            </a:r>
            <a:r>
              <a:rPr lang="en-US" sz="2400" dirty="0"/>
              <a:t> Define a function that applies all your wrappers</a:t>
            </a:r>
          </a:p>
          <a:p>
            <a:r>
              <a:rPr lang="en-US" sz="2400" dirty="0"/>
              <a:t>def </a:t>
            </a:r>
            <a:r>
              <a:rPr lang="en-US" sz="2400" dirty="0" err="1"/>
              <a:t>make_custom_env</a:t>
            </a:r>
            <a:r>
              <a:rPr lang="en-US" sz="2400" dirty="0"/>
              <a:t>():</a:t>
            </a:r>
          </a:p>
          <a:p>
            <a:r>
              <a:rPr lang="en-US" sz="2400" dirty="0"/>
              <a:t>    import gymnasium as gym</a:t>
            </a:r>
          </a:p>
          <a:p>
            <a:r>
              <a:rPr lang="en-US" sz="2400" dirty="0"/>
              <a:t>    # using 4 blocks and 4 positions right now</a:t>
            </a:r>
          </a:p>
          <a:p>
            <a:r>
              <a:rPr lang="en-US" sz="2400" dirty="0"/>
              <a:t>    env = </a:t>
            </a:r>
            <a:r>
              <a:rPr lang="en-US" sz="2400" dirty="0" err="1"/>
              <a:t>gym.make</a:t>
            </a:r>
            <a:r>
              <a:rPr lang="en-US" sz="2400" dirty="0"/>
              <a:t>("</a:t>
            </a:r>
            <a:r>
              <a:rPr lang="en-US" sz="2400" dirty="0" err="1"/>
              <a:t>blocks_env</a:t>
            </a:r>
            <a:r>
              <a:rPr lang="en-US" sz="2400" dirty="0"/>
              <a:t>/BlocksTargetPython-v0", </a:t>
            </a:r>
            <a:r>
              <a:rPr lang="en-US" sz="2400" dirty="0" err="1"/>
              <a:t>num_blocks</a:t>
            </a:r>
            <a:r>
              <a:rPr lang="en-US" sz="2400" dirty="0"/>
              <a:t>=4, </a:t>
            </a:r>
            <a:r>
              <a:rPr lang="en-US" sz="2400" dirty="0" err="1"/>
              <a:t>num_positions</a:t>
            </a:r>
            <a:r>
              <a:rPr lang="en-US" sz="2400" dirty="0"/>
              <a:t>=4)</a:t>
            </a:r>
          </a:p>
          <a:p>
            <a:r>
              <a:rPr lang="en-US" sz="2400" dirty="0"/>
              <a:t>    # Manually pass </a:t>
            </a:r>
            <a:r>
              <a:rPr lang="en-US" sz="2400" dirty="0" err="1"/>
              <a:t>kwargs</a:t>
            </a:r>
            <a:r>
              <a:rPr lang="en-US" sz="2400" dirty="0"/>
              <a:t> to each wrapper here</a:t>
            </a:r>
          </a:p>
          <a:p>
            <a:r>
              <a:rPr lang="en-US" sz="2400" dirty="0"/>
              <a:t>    env = </a:t>
            </a:r>
            <a:r>
              <a:rPr lang="en-US" sz="2400" dirty="0" err="1"/>
              <a:t>TimeLimit</a:t>
            </a:r>
            <a:r>
              <a:rPr lang="en-US" sz="2400" dirty="0"/>
              <a:t>(env, </a:t>
            </a:r>
            <a:r>
              <a:rPr lang="en-US" sz="2400" dirty="0" err="1"/>
              <a:t>max_episode_steps</a:t>
            </a:r>
            <a:r>
              <a:rPr lang="en-US" sz="2400" dirty="0"/>
              <a:t>=200)</a:t>
            </a:r>
          </a:p>
          <a:p>
            <a:r>
              <a:rPr lang="en-US" sz="2400" dirty="0"/>
              <a:t>    env = </a:t>
            </a:r>
            <a:r>
              <a:rPr lang="en-US" sz="2400" dirty="0" err="1"/>
              <a:t>DiscreteActionWrapper</a:t>
            </a:r>
            <a:r>
              <a:rPr lang="en-US" sz="2400" dirty="0"/>
              <a:t>(env)</a:t>
            </a:r>
          </a:p>
          <a:p>
            <a:r>
              <a:rPr lang="en-US" sz="2400" dirty="0"/>
              <a:t>    return env</a:t>
            </a:r>
          </a:p>
          <a:p>
            <a:r>
              <a:rPr lang="en-CA" sz="2800" dirty="0"/>
              <a:t># Use the function as the </a:t>
            </a:r>
            <a:r>
              <a:rPr lang="en-CA" sz="2800" dirty="0" err="1"/>
              <a:t>env_id</a:t>
            </a:r>
            <a:r>
              <a:rPr lang="en-CA" sz="2800" dirty="0"/>
              <a:t>, and create 4 parallel copies</a:t>
            </a:r>
          </a:p>
          <a:p>
            <a:r>
              <a:rPr lang="en-CA" sz="2800" dirty="0"/>
              <a:t>env = </a:t>
            </a:r>
            <a:r>
              <a:rPr lang="en-CA" sz="2800" dirty="0" err="1"/>
              <a:t>make_vec_env</a:t>
            </a:r>
            <a:r>
              <a:rPr lang="en-CA" sz="2800" dirty="0"/>
              <a:t>(</a:t>
            </a:r>
            <a:r>
              <a:rPr lang="en-CA" sz="2800" dirty="0" err="1"/>
              <a:t>make_custom_env</a:t>
            </a:r>
            <a:r>
              <a:rPr lang="en-CA" sz="2800" dirty="0"/>
              <a:t>, </a:t>
            </a:r>
            <a:r>
              <a:rPr lang="en-CA" sz="2800" dirty="0" err="1"/>
              <a:t>n_envs</a:t>
            </a:r>
            <a:r>
              <a:rPr lang="en-CA" sz="2800" dirty="0"/>
              <a:t>=4)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2DE27C-BCA1-F552-9C42-68D95E68C6D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452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3C204-965A-0AA3-238D-B2DA4BCA6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3010695" cy="1335973"/>
          </a:xfrm>
        </p:spPr>
        <p:txBody>
          <a:bodyPr/>
          <a:lstStyle/>
          <a:p>
            <a:r>
              <a:rPr lang="en-US" dirty="0"/>
              <a:t>Logs and trained model storage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4CF57-59AC-C43A-3072-21F48A62F3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CA" dirty="0"/>
              <a:t># Create directories for models and logs</a:t>
            </a:r>
          </a:p>
          <a:p>
            <a:r>
              <a:rPr lang="en-CA" dirty="0" err="1"/>
              <a:t>models_dir</a:t>
            </a:r>
            <a:r>
              <a:rPr lang="en-CA" dirty="0"/>
              <a:t> = "models/</a:t>
            </a:r>
            <a:r>
              <a:rPr lang="en-CA" dirty="0" err="1"/>
              <a:t>dqn</a:t>
            </a:r>
            <a:r>
              <a:rPr lang="en-CA" dirty="0"/>
              <a:t>"</a:t>
            </a:r>
          </a:p>
          <a:p>
            <a:r>
              <a:rPr lang="en-CA" dirty="0" err="1"/>
              <a:t>logs_dir</a:t>
            </a:r>
            <a:r>
              <a:rPr lang="en-CA" dirty="0"/>
              <a:t> = "logs/</a:t>
            </a:r>
            <a:r>
              <a:rPr lang="en-CA" dirty="0" err="1"/>
              <a:t>dqn</a:t>
            </a:r>
            <a:r>
              <a:rPr lang="en-CA" dirty="0"/>
              <a:t>"</a:t>
            </a:r>
          </a:p>
          <a:p>
            <a:r>
              <a:rPr lang="en-CA" dirty="0" err="1"/>
              <a:t>os.makedirs</a:t>
            </a:r>
            <a:r>
              <a:rPr lang="en-CA" dirty="0"/>
              <a:t>(</a:t>
            </a:r>
            <a:r>
              <a:rPr lang="en-CA" dirty="0" err="1"/>
              <a:t>models_dir</a:t>
            </a:r>
            <a:r>
              <a:rPr lang="en-CA" dirty="0"/>
              <a:t>, </a:t>
            </a:r>
            <a:r>
              <a:rPr lang="en-CA" dirty="0" err="1"/>
              <a:t>exist_ok</a:t>
            </a:r>
            <a:r>
              <a:rPr lang="en-CA" dirty="0"/>
              <a:t>=True)</a:t>
            </a:r>
          </a:p>
          <a:p>
            <a:r>
              <a:rPr lang="en-CA" dirty="0" err="1"/>
              <a:t>os.makedirs</a:t>
            </a:r>
            <a:r>
              <a:rPr lang="en-CA" dirty="0"/>
              <a:t>(</a:t>
            </a:r>
            <a:r>
              <a:rPr lang="en-CA" dirty="0" err="1"/>
              <a:t>logs_dir</a:t>
            </a:r>
            <a:r>
              <a:rPr lang="en-CA" dirty="0"/>
              <a:t>, </a:t>
            </a:r>
            <a:r>
              <a:rPr lang="en-CA" dirty="0" err="1"/>
              <a:t>exist_ok</a:t>
            </a:r>
            <a:r>
              <a:rPr lang="en-CA" dirty="0"/>
              <a:t>=True)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63B826-787C-14E2-D5BB-4CB67ABA572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803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88DDD-DA1B-3817-651A-6EFDC335E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648" y="159711"/>
            <a:ext cx="9475914" cy="1335973"/>
          </a:xfrm>
        </p:spPr>
        <p:txBody>
          <a:bodyPr/>
          <a:lstStyle/>
          <a:p>
            <a:r>
              <a:rPr lang="en-US" dirty="0"/>
              <a:t>DQN hyperparameters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2F46F-4225-961A-192E-98F9AF55EC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99082" y="1038278"/>
            <a:ext cx="15769464" cy="7065816"/>
          </a:xfrm>
        </p:spPr>
        <p:txBody>
          <a:bodyPr/>
          <a:lstStyle/>
          <a:p>
            <a:r>
              <a:rPr lang="en-CA" dirty="0"/>
              <a:t>model = DQN("</a:t>
            </a:r>
            <a:r>
              <a:rPr lang="en-CA" dirty="0" err="1"/>
              <a:t>MultiInputPolicy</a:t>
            </a:r>
            <a:r>
              <a:rPr lang="en-CA" dirty="0"/>
              <a:t>", env, </a:t>
            </a:r>
            <a:r>
              <a:rPr lang="en-CA" dirty="0" err="1"/>
              <a:t>learning_starts</a:t>
            </a:r>
            <a:r>
              <a:rPr lang="en-CA" dirty="0"/>
              <a:t>=100, device=”</a:t>
            </a:r>
            <a:r>
              <a:rPr lang="en-CA" dirty="0" err="1"/>
              <a:t>cuda</a:t>
            </a:r>
            <a:r>
              <a:rPr lang="en-CA" dirty="0"/>
              <a:t>", </a:t>
            </a:r>
            <a:r>
              <a:rPr lang="en-CA" dirty="0" err="1"/>
              <a:t>batch_size</a:t>
            </a:r>
            <a:r>
              <a:rPr lang="en-CA" dirty="0"/>
              <a:t>=512, verbose=1, </a:t>
            </a:r>
            <a:r>
              <a:rPr lang="en-CA" dirty="0" err="1"/>
              <a:t>tensorboard_log</a:t>
            </a:r>
            <a:r>
              <a:rPr lang="en-CA" dirty="0"/>
              <a:t>=</a:t>
            </a:r>
            <a:r>
              <a:rPr lang="en-CA" dirty="0" err="1"/>
              <a:t>logs_dir</a:t>
            </a:r>
            <a:r>
              <a:rPr lang="en-CA" dirty="0"/>
              <a:t>)</a:t>
            </a:r>
          </a:p>
          <a:p>
            <a:r>
              <a:rPr lang="en-CA" dirty="0"/>
              <a:t>https://stable-baselines3.readthedocs.io/</a:t>
            </a:r>
            <a:r>
              <a:rPr lang="en-CA" dirty="0" err="1"/>
              <a:t>en</a:t>
            </a:r>
            <a:r>
              <a:rPr lang="en-CA" dirty="0"/>
              <a:t>/master/modules/</a:t>
            </a:r>
            <a:r>
              <a:rPr lang="en-CA" dirty="0" err="1"/>
              <a:t>dqn.html</a:t>
            </a:r>
            <a:endParaRPr lang="en-CA" dirty="0"/>
          </a:p>
          <a:p>
            <a:r>
              <a:rPr lang="en-CA" dirty="0" err="1"/>
              <a:t>MultiInputPolicy</a:t>
            </a:r>
            <a:r>
              <a:rPr lang="en-CA" dirty="0"/>
              <a:t>: observations are a dictionary with current and target</a:t>
            </a:r>
          </a:p>
          <a:p>
            <a:r>
              <a:rPr lang="en-CA" dirty="0"/>
              <a:t>env: our wrapped environment</a:t>
            </a:r>
          </a:p>
          <a:p>
            <a:r>
              <a:rPr lang="en-CA" dirty="0" err="1"/>
              <a:t>learning_starts</a:t>
            </a:r>
            <a:r>
              <a:rPr lang="en-CA" dirty="0"/>
              <a:t>: number of random actions before </a:t>
            </a:r>
            <a:r>
              <a:rPr lang="en-CA"/>
              <a:t>learning starts</a:t>
            </a:r>
            <a:endParaRPr lang="en-CA" dirty="0"/>
          </a:p>
          <a:p>
            <a:r>
              <a:rPr lang="en-CA" dirty="0"/>
              <a:t>device=“</a:t>
            </a:r>
            <a:r>
              <a:rPr lang="en-CA" dirty="0" err="1"/>
              <a:t>cuda</a:t>
            </a:r>
            <a:r>
              <a:rPr lang="en-CA" dirty="0"/>
              <a:t>”: use CUDA GPU (would be “</a:t>
            </a:r>
            <a:r>
              <a:rPr lang="en-CA" dirty="0" err="1"/>
              <a:t>mps</a:t>
            </a:r>
            <a:r>
              <a:rPr lang="en-CA" dirty="0"/>
              <a:t>” on a Mac), or “auto”, or “</a:t>
            </a:r>
            <a:r>
              <a:rPr lang="en-CA" dirty="0" err="1"/>
              <a:t>cpu</a:t>
            </a:r>
            <a:r>
              <a:rPr lang="en-CA" dirty="0"/>
              <a:t>”</a:t>
            </a:r>
          </a:p>
          <a:p>
            <a:r>
              <a:rPr lang="en-CA" dirty="0" err="1"/>
              <a:t>batch_size</a:t>
            </a:r>
            <a:r>
              <a:rPr lang="en-CA" dirty="0"/>
              <a:t>=512: batch size for update</a:t>
            </a:r>
          </a:p>
          <a:p>
            <a:r>
              <a:rPr lang="en-CA" dirty="0" err="1"/>
              <a:t>tensorboard_log</a:t>
            </a:r>
            <a:r>
              <a:rPr lang="en-CA" dirty="0"/>
              <a:t>=</a:t>
            </a:r>
            <a:r>
              <a:rPr lang="en-CA" dirty="0" err="1"/>
              <a:t>logs_dir</a:t>
            </a:r>
            <a:r>
              <a:rPr lang="en-CA" dirty="0"/>
              <a:t>: log training progress to the specified directory for viewing with </a:t>
            </a:r>
            <a:r>
              <a:rPr lang="en-CA" dirty="0" err="1"/>
              <a:t>tensorboard</a:t>
            </a:r>
            <a:endParaRPr lang="en-CA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4E7F8B-C256-6C05-5E06-0A40C968060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326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3BFD2-1B40-2B76-5C6B-A7F3F2AE7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Tensorboard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87EBA-74F0-1CCE-A55A-F86F39CF86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404534"/>
            <a:ext cx="13996812" cy="51308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Tensorboard</a:t>
            </a:r>
            <a:r>
              <a:rPr lang="en-US" dirty="0"/>
              <a:t> can plot information stored in the appropriate format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Can view graphs of training progress, comparing several runs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32BD1-8703-B127-0785-FE9D4D16D19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426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2C13A-D994-DE0C-A05E-61691E8D9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3261707" cy="1335973"/>
          </a:xfrm>
        </p:spPr>
        <p:txBody>
          <a:bodyPr/>
          <a:lstStyle/>
          <a:p>
            <a:r>
              <a:rPr lang="en-US" dirty="0"/>
              <a:t>Training the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E2EC3-08EB-9351-D302-A89CCE3261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404534"/>
            <a:ext cx="14982930" cy="5130800"/>
          </a:xfrm>
        </p:spPr>
        <p:txBody>
          <a:bodyPr/>
          <a:lstStyle/>
          <a:p>
            <a:r>
              <a:rPr lang="en-CA" dirty="0"/>
              <a:t># Train for 1,000,000 timesteps with progress reports every 10,000 steps</a:t>
            </a:r>
          </a:p>
          <a:p>
            <a:r>
              <a:rPr lang="en-CA" dirty="0"/>
              <a:t>    callback = </a:t>
            </a:r>
            <a:r>
              <a:rPr lang="en-CA" dirty="0" err="1"/>
              <a:t>ProgressCallback</a:t>
            </a:r>
            <a:r>
              <a:rPr lang="en-CA" dirty="0"/>
              <a:t>(</a:t>
            </a:r>
            <a:r>
              <a:rPr lang="en-CA" dirty="0" err="1"/>
              <a:t>check_freq</a:t>
            </a:r>
            <a:r>
              <a:rPr lang="en-CA" dirty="0"/>
              <a:t>=10000)</a:t>
            </a:r>
          </a:p>
          <a:p>
            <a:r>
              <a:rPr lang="en-CA" dirty="0"/>
              <a:t>    </a:t>
            </a:r>
            <a:r>
              <a:rPr lang="en-CA" dirty="0" err="1"/>
              <a:t>model.learn</a:t>
            </a:r>
            <a:r>
              <a:rPr lang="en-CA" dirty="0"/>
              <a:t>(</a:t>
            </a:r>
            <a:r>
              <a:rPr lang="en-CA" dirty="0" err="1"/>
              <a:t>total_timesteps</a:t>
            </a:r>
            <a:r>
              <a:rPr lang="en-CA" dirty="0"/>
              <a:t>=1000000, </a:t>
            </a:r>
            <a:r>
              <a:rPr lang="en-CA" dirty="0" err="1"/>
              <a:t>log_interval</a:t>
            </a:r>
            <a:r>
              <a:rPr lang="en-CA" dirty="0"/>
              <a:t>=1, callback=callback)</a:t>
            </a:r>
          </a:p>
          <a:p>
            <a:r>
              <a:rPr lang="en-CA" dirty="0"/>
              <a:t>    </a:t>
            </a:r>
            <a:r>
              <a:rPr lang="en-CA" dirty="0" err="1"/>
              <a:t>model.save</a:t>
            </a:r>
            <a:r>
              <a:rPr lang="en-CA" dirty="0"/>
              <a:t>(f"{</a:t>
            </a:r>
            <a:r>
              <a:rPr lang="en-CA" dirty="0" err="1"/>
              <a:t>models_dir</a:t>
            </a:r>
            <a:r>
              <a:rPr lang="en-CA" dirty="0"/>
              <a:t>}/</a:t>
            </a:r>
            <a:r>
              <a:rPr lang="en-CA" dirty="0" err="1"/>
              <a:t>dqn_blocks_world</a:t>
            </a:r>
            <a:r>
              <a:rPr lang="en-CA" dirty="0"/>
              <a:t>")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AA86D0-A9D0-F180-FA64-EB4DCC522D3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17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74874-3B41-2CC4-CB05-6C3C590C4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197225"/>
            <a:ext cx="9475914" cy="788893"/>
          </a:xfrm>
        </p:spPr>
        <p:txBody>
          <a:bodyPr/>
          <a:lstStyle/>
          <a:p>
            <a:r>
              <a:rPr lang="en-US" dirty="0"/>
              <a:t>Logging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13242-C607-7693-6636-F854F97E83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6519" y="1308847"/>
            <a:ext cx="15437222" cy="6884894"/>
          </a:xfrm>
        </p:spPr>
        <p:txBody>
          <a:bodyPr/>
          <a:lstStyle/>
          <a:p>
            <a:r>
              <a:rPr lang="en-CA" dirty="0"/>
              <a:t>With </a:t>
            </a:r>
            <a:r>
              <a:rPr lang="en-CA" b="1" dirty="0" err="1"/>
              <a:t>tensorboard_log</a:t>
            </a:r>
            <a:r>
              <a:rPr lang="en-CA" b="1" dirty="0"/>
              <a:t>=</a:t>
            </a:r>
            <a:r>
              <a:rPr lang="en-CA" b="1" dirty="0" err="1"/>
              <a:t>logs_dir</a:t>
            </a:r>
            <a:r>
              <a:rPr lang="en-CA" dirty="0"/>
              <a:t>, SB3 initializes a global logger that handles multiple output formats simultaneously: </a:t>
            </a:r>
            <a:r>
              <a:rPr lang="en-CA" b="1" dirty="0"/>
              <a:t>terminal (</a:t>
            </a:r>
            <a:r>
              <a:rPr lang="en-CA" b="1" dirty="0" err="1"/>
              <a:t>stdout</a:t>
            </a:r>
            <a:r>
              <a:rPr lang="en-CA" b="1" dirty="0"/>
              <a:t>)</a:t>
            </a:r>
            <a:r>
              <a:rPr lang="en-CA" dirty="0"/>
              <a:t> and </a:t>
            </a:r>
            <a:r>
              <a:rPr lang="en-CA" b="1" dirty="0" err="1"/>
              <a:t>TensorBoard</a:t>
            </a:r>
            <a:r>
              <a:rPr lang="en-CA" b="1" dirty="0"/>
              <a:t> binary files</a:t>
            </a:r>
          </a:p>
          <a:p>
            <a:r>
              <a:rPr lang="en-CA" b="1" dirty="0" err="1"/>
              <a:t>ProgressCallback</a:t>
            </a:r>
            <a:r>
              <a:rPr lang="en-CA" dirty="0"/>
              <a:t> has access to this same logger via </a:t>
            </a:r>
            <a:r>
              <a:rPr lang="en-CA" dirty="0" err="1"/>
              <a:t>self.logger</a:t>
            </a:r>
            <a:r>
              <a:rPr lang="en-CA" dirty="0"/>
              <a:t>. Any custom metrics recorded in the callback using </a:t>
            </a:r>
            <a:r>
              <a:rPr lang="en-CA" dirty="0" err="1"/>
              <a:t>self.logger.record</a:t>
            </a:r>
            <a:r>
              <a:rPr lang="en-CA" dirty="0"/>
              <a:t>("key", value) will automatically appear in </a:t>
            </a:r>
            <a:r>
              <a:rPr lang="en-CA" dirty="0" err="1"/>
              <a:t>TensorBoard</a:t>
            </a:r>
            <a:r>
              <a:rPr lang="en-CA" dirty="0"/>
              <a:t> graphs.</a:t>
            </a:r>
          </a:p>
          <a:p>
            <a:r>
              <a:rPr lang="en-CA" b="1" dirty="0" err="1"/>
              <a:t>log_interval</a:t>
            </a:r>
            <a:r>
              <a:rPr lang="en-CA" b="1" dirty="0"/>
              <a:t>=1:</a:t>
            </a:r>
            <a:r>
              <a:rPr lang="en-CA" dirty="0"/>
              <a:t> For DQN, this tells SB3 to write a data point to </a:t>
            </a:r>
            <a:r>
              <a:rPr lang="en-CA" dirty="0" err="1"/>
              <a:t>TensorBoard</a:t>
            </a:r>
            <a:r>
              <a:rPr lang="en-CA" dirty="0"/>
              <a:t> every </a:t>
            </a:r>
            <a:r>
              <a:rPr lang="en-CA" b="1" dirty="0"/>
              <a:t>1 episode</a:t>
            </a:r>
            <a:r>
              <a:rPr lang="en-CA" dirty="0"/>
              <a:t>. This includes standard metrics like rollout/</a:t>
            </a:r>
            <a:r>
              <a:rPr lang="en-CA" dirty="0" err="1"/>
              <a:t>ep_rew_mean</a:t>
            </a:r>
            <a:r>
              <a:rPr lang="en-CA" dirty="0"/>
              <a:t> and train/loss.</a:t>
            </a:r>
          </a:p>
          <a:p>
            <a:r>
              <a:rPr lang="en-CA" b="1" dirty="0" err="1"/>
              <a:t>check_freq</a:t>
            </a:r>
            <a:r>
              <a:rPr lang="en-CA" b="1" dirty="0"/>
              <a:t>=10000:</a:t>
            </a:r>
            <a:r>
              <a:rPr lang="en-CA" dirty="0"/>
              <a:t>  callback only triggers its logic every </a:t>
            </a:r>
            <a:r>
              <a:rPr lang="en-CA" b="1" dirty="0"/>
              <a:t>10,000 timesteps</a:t>
            </a:r>
            <a:r>
              <a:rPr lang="en-CA" dirty="0"/>
              <a:t>.</a:t>
            </a:r>
          </a:p>
          <a:p>
            <a:r>
              <a:rPr lang="en-CA" b="1" dirty="0"/>
              <a:t>The Result:</a:t>
            </a:r>
            <a:r>
              <a:rPr lang="en-CA" dirty="0"/>
              <a:t> high-resolution data in </a:t>
            </a:r>
            <a:r>
              <a:rPr lang="en-CA" dirty="0" err="1"/>
              <a:t>TensorBoard</a:t>
            </a:r>
            <a:r>
              <a:rPr lang="en-CA" dirty="0"/>
              <a:t> (every episode), while terminal/callback reports will only update in massive 10,000-step jumps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586D6-DC8B-0B70-A8E3-4BB31FD948E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877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6BF05-ED36-7DC4-1A1C-A591558B3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trained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C1E41-912E-21B8-2420-CC756E2625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104338"/>
            <a:ext cx="14534694" cy="5430996"/>
          </a:xfrm>
        </p:spPr>
        <p:txBody>
          <a:bodyPr/>
          <a:lstStyle/>
          <a:p>
            <a:r>
              <a:rPr lang="en-CA" dirty="0"/>
              <a:t>model = </a:t>
            </a:r>
            <a:r>
              <a:rPr lang="en-CA" dirty="0" err="1"/>
              <a:t>DQN.load</a:t>
            </a:r>
            <a:r>
              <a:rPr lang="en-CA" dirty="0"/>
              <a:t>(f"{</a:t>
            </a:r>
            <a:r>
              <a:rPr lang="en-CA" dirty="0" err="1"/>
              <a:t>models_dir</a:t>
            </a:r>
            <a:r>
              <a:rPr lang="en-CA" dirty="0"/>
              <a:t>}/</a:t>
            </a:r>
            <a:r>
              <a:rPr lang="en-CA" dirty="0" err="1"/>
              <a:t>dqn_blocks_world</a:t>
            </a:r>
            <a:r>
              <a:rPr lang="en-CA" dirty="0"/>
              <a:t>", env)</a:t>
            </a:r>
          </a:p>
          <a:p>
            <a:r>
              <a:rPr lang="en-CA" dirty="0" err="1"/>
              <a:t>obs</a:t>
            </a:r>
            <a:r>
              <a:rPr lang="en-CA" dirty="0"/>
              <a:t> = </a:t>
            </a:r>
            <a:r>
              <a:rPr lang="en-CA" dirty="0" err="1"/>
              <a:t>env.reset</a:t>
            </a:r>
            <a:r>
              <a:rPr lang="en-CA" dirty="0"/>
              <a:t>()</a:t>
            </a:r>
          </a:p>
          <a:p>
            <a:r>
              <a:rPr lang="en-CA" dirty="0"/>
              <a:t>for _ in range(1000):</a:t>
            </a:r>
          </a:p>
          <a:p>
            <a:r>
              <a:rPr lang="en-CA" dirty="0"/>
              <a:t>    action, _states = </a:t>
            </a:r>
            <a:r>
              <a:rPr lang="en-CA" dirty="0" err="1"/>
              <a:t>model.predict</a:t>
            </a:r>
            <a:r>
              <a:rPr lang="en-CA" dirty="0"/>
              <a:t>(</a:t>
            </a:r>
            <a:r>
              <a:rPr lang="en-CA" dirty="0" err="1"/>
              <a:t>obs</a:t>
            </a:r>
            <a:r>
              <a:rPr lang="en-CA" dirty="0"/>
              <a:t>, deterministic=True)</a:t>
            </a:r>
          </a:p>
          <a:p>
            <a:r>
              <a:rPr lang="en-CA" dirty="0"/>
              <a:t>    #</a:t>
            </a:r>
            <a:r>
              <a:rPr lang="en-CA" dirty="0" err="1"/>
              <a:t>obs</a:t>
            </a:r>
            <a:r>
              <a:rPr lang="en-CA" dirty="0"/>
              <a:t>, reward, terminated, truncated, info = </a:t>
            </a:r>
            <a:r>
              <a:rPr lang="en-CA" dirty="0" err="1"/>
              <a:t>env.step</a:t>
            </a:r>
            <a:r>
              <a:rPr lang="en-CA" dirty="0"/>
              <a:t>(action)</a:t>
            </a:r>
          </a:p>
          <a:p>
            <a:r>
              <a:rPr lang="en-CA" dirty="0"/>
              <a:t>    </a:t>
            </a:r>
            <a:r>
              <a:rPr lang="en-CA" dirty="0" err="1"/>
              <a:t>obs</a:t>
            </a:r>
            <a:r>
              <a:rPr lang="en-CA" dirty="0"/>
              <a:t>, reward, terminated, info = </a:t>
            </a:r>
            <a:r>
              <a:rPr lang="en-CA" dirty="0" err="1"/>
              <a:t>env.step</a:t>
            </a:r>
            <a:r>
              <a:rPr lang="en-CA" dirty="0"/>
              <a:t>(action)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CE82B-BC25-F3FB-A6E6-7DB227DDF04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063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61812</TotalTime>
  <Words>1092</Words>
  <Application>Microsoft Macintosh PowerPoint</Application>
  <PresentationFormat>Custom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 Math</vt:lpstr>
      <vt:lpstr>Google Sans</vt:lpstr>
      <vt:lpstr>Wingdings</vt:lpstr>
      <vt:lpstr>Office Theme</vt:lpstr>
      <vt:lpstr>Stable-Baselines3 DQN</vt:lpstr>
      <vt:lpstr>Blocks with Target 2x4, 4x4, 5x5, …. 10x10</vt:lpstr>
      <vt:lpstr>DQN</vt:lpstr>
      <vt:lpstr>DQN action space must be Discrete</vt:lpstr>
      <vt:lpstr>DiscreteActionWrapper</vt:lpstr>
      <vt:lpstr>Applying wrappers to an environment</vt:lpstr>
      <vt:lpstr>Logs and trained model storage</vt:lpstr>
      <vt:lpstr>DQN hyperparameters</vt:lpstr>
      <vt:lpstr>Tensorboard</vt:lpstr>
      <vt:lpstr>Training the model</vt:lpstr>
      <vt:lpstr>Logging</vt:lpstr>
      <vt:lpstr>Running trained models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Todd Kelley</cp:lastModifiedBy>
  <cp:revision>251</cp:revision>
  <cp:lastPrinted>2024-01-16T20:20:34Z</cp:lastPrinted>
  <dcterms:created xsi:type="dcterms:W3CDTF">2016-12-21T16:02:28Z</dcterms:created>
  <dcterms:modified xsi:type="dcterms:W3CDTF">2026-02-19T18:38:57Z</dcterms:modified>
</cp:coreProperties>
</file>
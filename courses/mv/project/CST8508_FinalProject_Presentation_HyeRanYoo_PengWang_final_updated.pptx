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7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36" autoAdjust="0"/>
  </p:normalViewPr>
  <p:slideViewPr>
    <p:cSldViewPr snapToGrid="0" snapToObjects="1">
      <p:cViewPr varScale="1">
        <p:scale>
          <a:sx n="89" d="100"/>
          <a:sy n="89" d="100"/>
        </p:scale>
        <p:origin x="8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6BD7-848C-4A18-8B39-CA2166607BD3}" type="datetimeFigureOut">
              <a:rPr lang="en-CA" smtClean="0"/>
              <a:t>2026-04-16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CF164-DCE4-483D-B4B3-0B42947CE5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091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CF164-DCE4-483D-B4B3-0B42947CE58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7078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CF164-DCE4-483D-B4B3-0B42947CE58D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7608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CF164-DCE4-483D-B4B3-0B42947CE58D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956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CST8508 – Machine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Webcam-Based Person Detection,</a:t>
            </a:r>
            <a:br/>
            <a:r>
              <a:t>Tracking, and Centering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Calibri"/>
              </a:defRPr>
            </a:pPr>
            <a: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Hye Ran Yoo   </a:t>
            </a:r>
            <a:r>
              <a:rPr lang="en-CA" dirty="0"/>
              <a:t> </a:t>
            </a:r>
            <a:r>
              <a:rPr dirty="0"/>
              <a:t>041145212</a:t>
            </a:r>
            <a:br>
              <a:rPr dirty="0"/>
            </a:br>
            <a:r>
              <a:rPr dirty="0"/>
              <a:t>Peng Wang      041107730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does this system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14400" y="1768055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Real-time person detection &amp; tracking system using a laptop webcam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61247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0391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Detects persons using mmdetection’s pre-trained RTMDet-s model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554439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Tracks detected persons with ByteTrack (stable unique IDs)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947631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8254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Selects the largest bounding box when multiple persons detected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340823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218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Calculates offset between person center and frame center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34015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Displays direction messages: left, right, up, down + pixel amount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127207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005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Provides a cropped “Person Focus” zoomed view following the target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520399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398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Simulates a virtual pan-tilt camera that auto-follows a person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End-to-End Pipeline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14300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Webcam</a:t>
            </a:r>
            <a:br/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286000"/>
            <a:ext cx="1143000" cy="8229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RTMDet-s</a:t>
            </a:r>
            <a:br/>
            <a: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286000"/>
            <a:ext cx="114300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Person</a:t>
            </a:r>
            <a:br/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86000"/>
            <a:ext cx="114300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ByteTrack</a:t>
            </a:r>
            <a:br/>
            <a: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286000"/>
            <a:ext cx="11430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Largest</a:t>
            </a:r>
            <a:br/>
            <a:r>
              <a:t>BBox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1143000" cy="8229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Center</a:t>
            </a:r>
            <a:br/>
            <a:r>
              <a:t>Calc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286000"/>
            <a:ext cx="1143000" cy="82296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Direction</a:t>
            </a:r>
            <a:br/>
            <a:r>
              <a:t>Msg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286000"/>
            <a:ext cx="114300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Display</a:t>
            </a:r>
            <a:br/>
            <a:r>
              <a:t>2 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640×480 webcam stream via DirectShow (Windows)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RTMDet-s: CSPNeXt backbone, 44.6% AP, person class (label=0), conf ≥ 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ByteTrack: IoU-based association, handles occlusion, stable IDs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657600"/>
            <a:ext cx="265176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828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View (annotated) + Person Focus (cropped 480×480 zoom)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Software &amp;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Peng Wang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0" cy="49377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Installation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4663440" cy="4114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conda create -p mv_env_py311 python=3.11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opencv-python numpy supervision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openmim setuptools==69.5.1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torch==2.2.2 torchvision==0.17.2 \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  --index-url https://download.pytorch.org/whl/cpu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mmcv==2.2.0   # prebuilt wheel (CPU)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pip install mmengine mmdet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5760720" cy="49377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Key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3.11.15 (3.13 incompatible with MMCV)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2.2.2+cpu / torchvision 0.17.2+cpu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MMCV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2.2.0 (prebuilt wheel)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mmdetection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611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3.2.0 / mmengine 0.10.7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supervision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0.27.0 ByteTrack tracker (CPU)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4.13.0 Webcam capture &amp;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120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1.26.4 Array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Detection Module – RTMDet-s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Pre-trained Object Detector from mmdetection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t>Presenter: Hye Ran Yoo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5854"/>
            <a:ext cx="530352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/>
              <a:t>What is </a:t>
            </a:r>
            <a:r>
              <a:rPr lang="en-CA" dirty="0" err="1"/>
              <a:t>RTMDet</a:t>
            </a:r>
            <a:r>
              <a:rPr lang="en-CA" dirty="0"/>
              <a:t>-s?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1929129"/>
            <a:ext cx="5074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- Pre-trained AI model from </a:t>
            </a:r>
            <a:r>
              <a:rPr lang="en-US" sz="1400" dirty="0" err="1">
                <a:solidFill>
                  <a:schemeClr val="bg1"/>
                </a:solidFill>
              </a:rPr>
              <a:t>mmdetection</a:t>
            </a:r>
            <a:r>
              <a:rPr lang="en-US" sz="1400" dirty="0">
                <a:solidFill>
                  <a:schemeClr val="bg1"/>
                </a:solidFill>
              </a:rPr>
              <a:t> library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</a:t>
            </a:r>
            <a:r>
              <a:rPr lang="en-US" sz="1400" dirty="0" err="1">
                <a:solidFill>
                  <a:schemeClr val="bg1"/>
                </a:solidFill>
              </a:rPr>
              <a:t>RTMDet</a:t>
            </a:r>
            <a:r>
              <a:rPr lang="en-US" sz="1400" dirty="0">
                <a:solidFill>
                  <a:schemeClr val="bg1"/>
                </a:solidFill>
              </a:rPr>
              <a:t>-s = Real-Time Detection, Small version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Already trained to detect 80 types of objects (COCO dataset)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We only use class label 0 = "person"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- Confidence threshold: 0.5 (only keep detections ≥ 50% sure)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Code: detect_persons()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def detect_persons(inferencer, frame, config):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result = inferencer(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frame, show=False,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no_save_vis=True,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no_save_pred=True,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print_result=False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pred = result['predictions'][0]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bboxes = np.array(pred['bboxes'])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scores = np.array(pred['scores'])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labels = np.array(pred['labels'])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# Filter: person class only + confidence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person_id = config["person_class_id"]  # 0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threshold = config["confidence_threshold"]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mask = (labels == person_id) &amp; \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   (scores &gt;= threshold)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return bboxes[mask], scores[mask], labels[mask]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6BBA2E-A306-33D2-AFE3-0273A0A0B275}"/>
              </a:ext>
            </a:extLst>
          </p:cNvPr>
          <p:cNvSpPr txBox="1"/>
          <p:nvPr/>
        </p:nvSpPr>
        <p:spPr>
          <a:xfrm>
            <a:off x="670560" y="42893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/>
              <a:t>Why </a:t>
            </a:r>
            <a:r>
              <a:rPr lang="en-CA" dirty="0" err="1"/>
              <a:t>RTMDet</a:t>
            </a:r>
            <a:r>
              <a:rPr lang="en-CA" dirty="0"/>
              <a:t>-s?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03FF9A-3F14-5D75-730F-F420E878FED4}"/>
              </a:ext>
            </a:extLst>
          </p:cNvPr>
          <p:cNvSpPr txBox="1"/>
          <p:nvPr/>
        </p:nvSpPr>
        <p:spPr>
          <a:xfrm>
            <a:off x="731520" y="4650582"/>
            <a:ext cx="5074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Fast enough to run on laptop CPU in real-time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Small &amp; lightweight model (no GPU required)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Recommended by the professor's project guide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Tracking Module – ByteTrack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Multi-Object Tracking with Stable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How ByteTrack Works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9490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39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Two-stage data association algorithm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0638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396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Stage 1: Match HIGH confidence boxes to tracks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1786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415" y="2834640"/>
            <a:ext cx="509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Stage 2: Match LOW confidence boxes (recover misses)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2934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96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Uses IoU (Intersection over Union) for matching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4082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39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Assigns persistent unique ID per person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5230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96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Handles occlusion &amp; temporary disappearance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63785"/>
            <a:ext cx="127000" cy="127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396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Gating mechanism filters redundant detections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610914" cy="2560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Code: init &amp; track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11680"/>
            <a:ext cx="521208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4095" y="2094905"/>
            <a:ext cx="5667658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tracker = </a:t>
            </a:r>
            <a:r>
              <a:rPr dirty="0" err="1"/>
              <a:t>sv.ByteTrack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track_activation_threshold</a:t>
            </a:r>
            <a:r>
              <a:rPr dirty="0"/>
              <a:t>=0.25,</a:t>
            </a:r>
            <a:r>
              <a:rPr lang="en-CA" dirty="0"/>
              <a:t> </a:t>
            </a:r>
            <a:r>
              <a:rPr lang="en-CA" sz="1000" b="1" dirty="0"/>
              <a:t># detection confidence: new?</a:t>
            </a:r>
            <a:endParaRPr sz="1000" b="1" dirty="0"/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lost_track_buffer</a:t>
            </a:r>
            <a:r>
              <a:rPr dirty="0"/>
              <a:t>=30,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minimum_matching_threshold</a:t>
            </a:r>
            <a:r>
              <a:rPr dirty="0"/>
              <a:t>=0.8,</a:t>
            </a:r>
            <a:r>
              <a:rPr lang="en-CA" dirty="0"/>
              <a:t>  </a:t>
            </a:r>
            <a:r>
              <a:rPr lang="en-CA" sz="1000" dirty="0"/>
              <a:t># position overlap: same?</a:t>
            </a:r>
            <a:endParaRPr sz="1000" dirty="0"/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frame_rate</a:t>
            </a:r>
            <a:r>
              <a:rPr dirty="0"/>
              <a:t>=30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)</a:t>
            </a:r>
          </a:p>
          <a:p>
            <a:pPr>
              <a:spcAft>
                <a:spcPts val="1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rPr dirty="0"/>
              <a:t>tracked = </a:t>
            </a:r>
            <a:r>
              <a:rPr dirty="0" err="1"/>
              <a:t>tracker.update_with_detections</a:t>
            </a:r>
            <a:r>
              <a:rPr dirty="0"/>
              <a:t>(dets)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06240"/>
            <a:ext cx="5610914" cy="2286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track_activation_threshold</a:t>
            </a:r>
            <a:endParaRPr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8987710" y="4709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6895" y="4709160"/>
            <a:ext cx="2273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Min conf to start new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93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lost_track_buffer</a:t>
            </a:r>
            <a:endParaRPr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8987710" y="50932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6895" y="5093208"/>
            <a:ext cx="259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Frames to keep lost track alive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772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minimum_matching_threshold</a:t>
            </a:r>
            <a:endParaRPr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8987710" y="54772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16895" y="5477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Min </a:t>
            </a:r>
            <a:r>
              <a:rPr sz="1400" dirty="0" err="1"/>
              <a:t>IoU</a:t>
            </a:r>
            <a:r>
              <a:rPr sz="1400" dirty="0"/>
              <a:t> for matching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861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rPr sz="1400" dirty="0" err="1"/>
              <a:t>frame_rate</a:t>
            </a:r>
            <a:endParaRPr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8987710" y="58613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6895" y="5861304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sz="1400" dirty="0"/>
              <a:t>Expected FPS for motion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Largest Bounding Box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Focus on the most prominent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14400" y="17884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When multiple persons detected, select the LARGEST bounding box</a:t>
            </a:r>
            <a:r>
              <a:rPr lang="en-CA" dirty="0"/>
              <a:t> 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The largest box is the closest person</a:t>
            </a:r>
            <a:endParaRPr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914400" y="22456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Area = (x2 − x1) × (y2 − y1)  →  np.argmax(areas)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028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Assumption: largest box = closest / most prominent person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600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Selected person marked with RED box + 'TARGET ID:X' label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617297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All other persons shown with GREEN boxes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14800"/>
            <a:ext cx="640080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612648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select_largest_person</a:t>
            </a:r>
            <a:r>
              <a:rPr dirty="0"/>
              <a:t>(detections):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len</a:t>
            </a:r>
            <a:r>
              <a:rPr dirty="0"/>
              <a:t>(detections) == 0: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return None, None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widths  = </a:t>
            </a:r>
            <a:r>
              <a:rPr dirty="0" err="1"/>
              <a:t>detections.xyxy</a:t>
            </a:r>
            <a:r>
              <a:rPr dirty="0"/>
              <a:t>[:, 2] - </a:t>
            </a:r>
            <a:r>
              <a:rPr dirty="0" err="1"/>
              <a:t>detections.xyxy</a:t>
            </a:r>
            <a:r>
              <a:rPr dirty="0"/>
              <a:t>[:, 0]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heights = </a:t>
            </a:r>
            <a:r>
              <a:rPr dirty="0" err="1"/>
              <a:t>detections.xyxy</a:t>
            </a:r>
            <a:r>
              <a:rPr dirty="0"/>
              <a:t>[:, 3] - </a:t>
            </a:r>
            <a:r>
              <a:rPr dirty="0" err="1"/>
              <a:t>detections.xyxy</a:t>
            </a:r>
            <a:r>
              <a:rPr dirty="0"/>
              <a:t>[:, 1]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areas = widths * heights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>
                <a:highlight>
                  <a:srgbClr val="000080"/>
                </a:highlight>
              </a:rPr>
              <a:t>np.argmax</a:t>
            </a:r>
            <a:r>
              <a:rPr dirty="0"/>
              <a:t>(areas)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bbox</a:t>
            </a:r>
            <a:r>
              <a:rPr dirty="0"/>
              <a:t> = </a:t>
            </a:r>
            <a:r>
              <a:rPr dirty="0" err="1"/>
              <a:t>detections.xyxy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tracker_id</a:t>
            </a:r>
            <a:r>
              <a:rPr dirty="0"/>
              <a:t> = </a:t>
            </a:r>
            <a:r>
              <a:rPr dirty="0" err="1"/>
              <a:t>detections.tracker_id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return </a:t>
            </a:r>
            <a:r>
              <a:rPr dirty="0" err="1"/>
              <a:t>bbox</a:t>
            </a:r>
            <a:r>
              <a:rPr dirty="0"/>
              <a:t>, </a:t>
            </a:r>
            <a:r>
              <a:rPr dirty="0" err="1"/>
              <a:t>tracker_id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Camera Centering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Direction &amp; Movement Amount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t>Presenter: Hye Ran Yoo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dirty="0"/>
              <a:t>Center Calculation</a:t>
            </a:r>
          </a:p>
        </p:txBody>
      </p:sp>
      <p:sp>
        <p:nvSpPr>
          <p:cNvPr id="9" name="Oval 8"/>
          <p:cNvSpPr/>
          <p:nvPr/>
        </p:nvSpPr>
        <p:spPr>
          <a:xfrm>
            <a:off x="699095" y="2200639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8565" y="209598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Image center: (width/2, height/2)</a:t>
            </a:r>
          </a:p>
        </p:txBody>
      </p:sp>
      <p:sp>
        <p:nvSpPr>
          <p:cNvPr id="11" name="Oval 10"/>
          <p:cNvSpPr/>
          <p:nvPr/>
        </p:nvSpPr>
        <p:spPr>
          <a:xfrm>
            <a:off x="699095" y="2538967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8565" y="243431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Person center: (x1 + box_w/2, y1 + box_h/2)</a:t>
            </a:r>
          </a:p>
        </p:txBody>
      </p:sp>
      <p:sp>
        <p:nvSpPr>
          <p:cNvPr id="13" name="Oval 12"/>
          <p:cNvSpPr/>
          <p:nvPr/>
        </p:nvSpPr>
        <p:spPr>
          <a:xfrm>
            <a:off x="699095" y="2877295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565" y="277264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dx = person_cx − img_cx  (+ = right)</a:t>
            </a:r>
          </a:p>
        </p:txBody>
      </p:sp>
      <p:sp>
        <p:nvSpPr>
          <p:cNvPr id="15" name="Oval 14"/>
          <p:cNvSpPr/>
          <p:nvPr/>
        </p:nvSpPr>
        <p:spPr>
          <a:xfrm>
            <a:off x="699095" y="3215623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565" y="311096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dy = person_cy − img_cy  (+ = below)</a:t>
            </a:r>
          </a:p>
        </p:txBody>
      </p:sp>
      <p:sp>
        <p:nvSpPr>
          <p:cNvPr id="17" name="Oval 16"/>
          <p:cNvSpPr/>
          <p:nvPr/>
        </p:nvSpPr>
        <p:spPr>
          <a:xfrm>
            <a:off x="699095" y="3553951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565" y="3449297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>
                <a:highlight>
                  <a:srgbClr val="000080"/>
                </a:highlight>
              </a:rPr>
              <a:t>Tolerance zone</a:t>
            </a:r>
            <a:r>
              <a:rPr dirty="0"/>
              <a:t>: 5% of frame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870" y="3457878"/>
            <a:ext cx="2468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→ Prevents jittery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72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▶ If person LEFT of center → GREEN msg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1120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▶ If person RIGHT of center → GREEN msg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495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▶ If person ABOVE center → RED msg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8786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▶ If person BELOW center → RED msg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261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▶ Each msg includes pixel offset 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Code: calculate_centering()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272484"/>
            <a:ext cx="4846320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calculate_centering</a:t>
            </a:r>
            <a:r>
              <a:rPr dirty="0"/>
              <a:t>(</a:t>
            </a:r>
            <a:r>
              <a:rPr dirty="0" err="1"/>
              <a:t>bbox</a:t>
            </a:r>
            <a:r>
              <a:rPr dirty="0"/>
              <a:t>, w, h, </a:t>
            </a:r>
            <a:r>
              <a:rPr dirty="0" err="1"/>
              <a:t>tol_ratio</a:t>
            </a:r>
            <a:r>
              <a:rPr dirty="0"/>
              <a:t>):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img_cx</a:t>
            </a:r>
            <a:r>
              <a:rPr dirty="0"/>
              <a:t>, </a:t>
            </a:r>
            <a:r>
              <a:rPr dirty="0" err="1"/>
              <a:t>img_cy</a:t>
            </a:r>
            <a:r>
              <a:rPr dirty="0"/>
              <a:t> = w / 2, h / 2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x1, y1, x2, y2 = </a:t>
            </a:r>
            <a:r>
              <a:rPr dirty="0" err="1"/>
              <a:t>bbox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person_cx</a:t>
            </a:r>
            <a:r>
              <a:rPr dirty="0"/>
              <a:t> = x1 + (x2-x1) / 2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person_cy</a:t>
            </a:r>
            <a:r>
              <a:rPr dirty="0"/>
              <a:t> = y1 + (y2-y1) / 2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dx = </a:t>
            </a:r>
            <a:r>
              <a:rPr dirty="0" err="1"/>
              <a:t>person_cx</a:t>
            </a:r>
            <a:r>
              <a:rPr dirty="0"/>
              <a:t> - </a:t>
            </a:r>
            <a:r>
              <a:rPr dirty="0" err="1"/>
              <a:t>img_cx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dy</a:t>
            </a:r>
            <a:r>
              <a:rPr dirty="0"/>
              <a:t> = </a:t>
            </a:r>
            <a:r>
              <a:rPr dirty="0" err="1"/>
              <a:t>person_cy</a:t>
            </a:r>
            <a:r>
              <a:rPr dirty="0"/>
              <a:t> - </a:t>
            </a:r>
            <a:r>
              <a:rPr dirty="0" err="1"/>
              <a:t>img_cy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>
                <a:highlight>
                  <a:srgbClr val="000080"/>
                </a:highlight>
              </a:rPr>
              <a:t>tol_x</a:t>
            </a:r>
            <a:r>
              <a:rPr dirty="0"/>
              <a:t> = w * </a:t>
            </a:r>
            <a:r>
              <a:rPr dirty="0" err="1"/>
              <a:t>tol_ratio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>
                <a:highlight>
                  <a:srgbClr val="000080"/>
                </a:highlight>
              </a:rPr>
              <a:t>tol_y</a:t>
            </a:r>
            <a:r>
              <a:rPr dirty="0"/>
              <a:t> = h * </a:t>
            </a:r>
            <a:r>
              <a:rPr dirty="0" err="1"/>
              <a:t>tol_ratio</a:t>
            </a:r>
            <a:endParaRPr lang="en-CA"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directions = []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person_cx</a:t>
            </a:r>
            <a:r>
              <a:rPr dirty="0"/>
              <a:t> &lt; </a:t>
            </a:r>
            <a:r>
              <a:rPr dirty="0" err="1"/>
              <a:t>img_cx</a:t>
            </a:r>
            <a:r>
              <a:rPr dirty="0"/>
              <a:t> - </a:t>
            </a:r>
            <a:r>
              <a:rPr dirty="0" err="1"/>
              <a:t>tol_x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left ({abs(dx):.0f}</a:t>
            </a:r>
            <a:r>
              <a:rPr dirty="0" err="1"/>
              <a:t>px</a:t>
            </a:r>
            <a:r>
              <a:rPr dirty="0"/>
              <a:t>)")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person_cx</a:t>
            </a:r>
            <a:r>
              <a:rPr dirty="0"/>
              <a:t> &gt; </a:t>
            </a:r>
            <a:r>
              <a:rPr dirty="0" err="1"/>
              <a:t>img_cx</a:t>
            </a:r>
            <a:r>
              <a:rPr dirty="0"/>
              <a:t> + </a:t>
            </a:r>
            <a:r>
              <a:rPr dirty="0" err="1"/>
              <a:t>tol_x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right ({abs(dx):.0f}</a:t>
            </a:r>
            <a:r>
              <a:rPr dirty="0" err="1"/>
              <a:t>px</a:t>
            </a:r>
            <a:r>
              <a:rPr dirty="0"/>
              <a:t>)")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person_cy</a:t>
            </a:r>
            <a:r>
              <a:rPr dirty="0"/>
              <a:t> &lt; </a:t>
            </a:r>
            <a:r>
              <a:rPr dirty="0" err="1"/>
              <a:t>img_cy</a:t>
            </a:r>
            <a:r>
              <a:rPr dirty="0"/>
              <a:t> - </a:t>
            </a:r>
            <a:r>
              <a:rPr dirty="0" err="1"/>
              <a:t>tol_y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up ({abs(</a:t>
            </a:r>
            <a:r>
              <a:rPr dirty="0" err="1"/>
              <a:t>dy</a:t>
            </a:r>
            <a:r>
              <a:rPr dirty="0"/>
              <a:t>):.0f}</a:t>
            </a:r>
            <a:r>
              <a:rPr dirty="0" err="1"/>
              <a:t>px</a:t>
            </a:r>
            <a:r>
              <a:rPr dirty="0"/>
              <a:t>)")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person_cy</a:t>
            </a:r>
            <a:r>
              <a:rPr dirty="0"/>
              <a:t> &gt; </a:t>
            </a:r>
            <a:r>
              <a:rPr dirty="0" err="1"/>
              <a:t>img_cy</a:t>
            </a:r>
            <a:r>
              <a:rPr dirty="0"/>
              <a:t> + </a:t>
            </a:r>
            <a:r>
              <a:rPr dirty="0" err="1"/>
              <a:t>tol_y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directions.append</a:t>
            </a:r>
            <a:r>
              <a:rPr dirty="0"/>
              <a:t>(</a:t>
            </a:r>
            <a:r>
              <a:rPr dirty="0" err="1"/>
              <a:t>f"move</a:t>
            </a:r>
            <a:r>
              <a:rPr dirty="0"/>
              <a:t> down ({abs(</a:t>
            </a:r>
            <a:r>
              <a:rPr dirty="0" err="1"/>
              <a:t>dy</a:t>
            </a:r>
            <a:r>
              <a:rPr dirty="0"/>
              <a:t>):.0f}</a:t>
            </a:r>
            <a:r>
              <a:rPr dirty="0" err="1"/>
              <a:t>px</a:t>
            </a:r>
            <a:r>
              <a:rPr dirty="0"/>
              <a:t>)")</a:t>
            </a:r>
            <a:endParaRPr lang="en-CA"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rPr dirty="0"/>
              <a:t>    return directions, dx, </a:t>
            </a:r>
            <a:r>
              <a:rPr dirty="0" err="1"/>
              <a:t>dy</a:t>
            </a:r>
            <a:r>
              <a:rPr dirty="0"/>
              <a:t>, </a:t>
            </a:r>
            <a:r>
              <a:rPr dirty="0" err="1"/>
              <a:t>len</a:t>
            </a:r>
            <a:r>
              <a:rPr dirty="0"/>
              <a:t>(directions)==0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Crop &amp; Center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Virtual Pan-Tilt Camera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14400" y="17563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Crops the video frame around the detected person’s bounding box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135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Configurable padding ratio (</a:t>
            </a:r>
            <a:r>
              <a:rPr dirty="0" err="1">
                <a:highlight>
                  <a:srgbClr val="000080"/>
                </a:highlight>
              </a:rPr>
              <a:t>crop_padding_ratio</a:t>
            </a:r>
            <a:r>
              <a:rPr dirty="0">
                <a:highlight>
                  <a:srgbClr val="000080"/>
                </a:highlight>
              </a:rPr>
              <a:t> </a:t>
            </a:r>
            <a:r>
              <a:rPr dirty="0"/>
              <a:t>= 0.8)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707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Resized to fixed 480×480 display size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279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Simulates a virtual camera that auto-follows the target person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585154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Overlays: Target ID, offset values, direction guidance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14800"/>
            <a:ext cx="6858000" cy="21031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658368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crop_centered_view</a:t>
            </a:r>
            <a:r>
              <a:rPr dirty="0"/>
              <a:t>(frame, </a:t>
            </a:r>
            <a:r>
              <a:rPr dirty="0" err="1"/>
              <a:t>bbox</a:t>
            </a:r>
            <a:r>
              <a:rPr dirty="0"/>
              <a:t>, config):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h, w = </a:t>
            </a:r>
            <a:r>
              <a:rPr dirty="0" err="1"/>
              <a:t>frame.shape</a:t>
            </a:r>
            <a:r>
              <a:rPr dirty="0"/>
              <a:t>[:2]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x1, y1, x2, y2 = </a:t>
            </a:r>
            <a:r>
              <a:rPr dirty="0" err="1"/>
              <a:t>bbox</a:t>
            </a:r>
            <a:endParaRPr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>
                <a:highlight>
                  <a:srgbClr val="000080"/>
                </a:highlight>
              </a:rPr>
              <a:t>pad</a:t>
            </a:r>
            <a:r>
              <a:rPr dirty="0"/>
              <a:t> = config["</a:t>
            </a:r>
            <a:r>
              <a:rPr dirty="0" err="1"/>
              <a:t>crop_padding_ratio</a:t>
            </a:r>
            <a:r>
              <a:rPr dirty="0"/>
              <a:t>"]  # 0.8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pad_w</a:t>
            </a:r>
            <a:r>
              <a:rPr dirty="0"/>
              <a:t> = int((x2-x1) * </a:t>
            </a:r>
            <a:r>
              <a:rPr dirty="0">
                <a:highlight>
                  <a:srgbClr val="000080"/>
                </a:highlight>
              </a:rPr>
              <a:t>pad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pad_h</a:t>
            </a:r>
            <a:r>
              <a:rPr dirty="0"/>
              <a:t> = int((y2-y1) * </a:t>
            </a:r>
            <a:r>
              <a:rPr dirty="0">
                <a:highlight>
                  <a:srgbClr val="000080"/>
                </a:highlight>
              </a:rPr>
              <a:t>pad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crop = frame[max(0,int(y1</a:t>
            </a:r>
            <a:r>
              <a:rPr dirty="0">
                <a:highlight>
                  <a:srgbClr val="000080"/>
                </a:highlight>
              </a:rPr>
              <a:t>-pad_h</a:t>
            </a:r>
            <a:r>
              <a:rPr dirty="0"/>
              <a:t>)):min(</a:t>
            </a:r>
            <a:r>
              <a:rPr dirty="0" err="1"/>
              <a:t>h,int</a:t>
            </a:r>
            <a:r>
              <a:rPr dirty="0"/>
              <a:t>(y2</a:t>
            </a:r>
            <a:r>
              <a:rPr dirty="0">
                <a:highlight>
                  <a:srgbClr val="000080"/>
                </a:highlight>
              </a:rPr>
              <a:t>+pad_h</a:t>
            </a:r>
            <a:r>
              <a:rPr dirty="0"/>
              <a:t>)),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         max(0,int(x1</a:t>
            </a:r>
            <a:r>
              <a:rPr dirty="0">
                <a:highlight>
                  <a:srgbClr val="000080"/>
                </a:highlight>
              </a:rPr>
              <a:t>-pad_w</a:t>
            </a:r>
            <a:r>
              <a:rPr dirty="0"/>
              <a:t>)):min(</a:t>
            </a:r>
            <a:r>
              <a:rPr dirty="0" err="1"/>
              <a:t>w,int</a:t>
            </a:r>
            <a:r>
              <a:rPr dirty="0"/>
              <a:t>(x2</a:t>
            </a:r>
            <a:r>
              <a:rPr dirty="0">
                <a:highlight>
                  <a:srgbClr val="000080"/>
                </a:highlight>
              </a:rPr>
              <a:t>+pad_w</a:t>
            </a:r>
            <a:r>
              <a:rPr dirty="0"/>
              <a:t>))]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dirty="0"/>
              <a:t>    return cv2.resize(crop, (480, 480))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Configuration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External </a:t>
            </a:r>
            <a:r>
              <a:rPr dirty="0" err="1"/>
              <a:t>config.json</a:t>
            </a:r>
            <a:r>
              <a:rPr dirty="0"/>
              <a:t> for </a:t>
            </a:r>
            <a:r>
              <a:rPr b="1" dirty="0"/>
              <a:t>Easy </a:t>
            </a:r>
            <a:r>
              <a:rPr lang="en-CA" b="1" dirty="0"/>
              <a:t>Parameter </a:t>
            </a:r>
            <a:r>
              <a:rPr b="1" dirty="0"/>
              <a:t>Tuning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74840" y="1645920"/>
            <a:ext cx="5137500" cy="4572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00" y="17373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model_name</a:t>
            </a:r>
            <a:r>
              <a:rPr dirty="0"/>
              <a:t>": "rtmdet_s_8xb32-300e_coco",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"device": "</a:t>
            </a:r>
            <a:r>
              <a:rPr dirty="0" err="1"/>
              <a:t>cpu</a:t>
            </a:r>
            <a:r>
              <a:rPr dirty="0"/>
              <a:t>",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person_class_id</a:t>
            </a:r>
            <a:r>
              <a:rPr dirty="0"/>
              <a:t>": 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confidence_threshold</a:t>
            </a:r>
            <a:r>
              <a:rPr dirty="0"/>
              <a:t>": 0.5,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camera_id</a:t>
            </a:r>
            <a:r>
              <a:rPr dirty="0"/>
              <a:t>": 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frame_width</a:t>
            </a:r>
            <a:r>
              <a:rPr dirty="0"/>
              <a:t>": 640,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frame_height</a:t>
            </a:r>
            <a:r>
              <a:rPr dirty="0"/>
              <a:t>": 480,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center_tolerance_ratio</a:t>
            </a:r>
            <a:r>
              <a:rPr dirty="0"/>
              <a:t>": 0.05,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crop_padding_ratio</a:t>
            </a:r>
            <a:r>
              <a:rPr dirty="0"/>
              <a:t>": 0.8,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crop_display_size</a:t>
            </a:r>
            <a:r>
              <a:rPr dirty="0"/>
              <a:t>": [480, 480],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bytetrack</a:t>
            </a:r>
            <a:r>
              <a:rPr dirty="0"/>
              <a:t>": {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/>
              <a:t>track_activation_threshold</a:t>
            </a:r>
            <a:r>
              <a:rPr dirty="0"/>
              <a:t>": 0.25,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/>
              <a:t>lost_track_buffer</a:t>
            </a:r>
            <a:r>
              <a:rPr dirty="0"/>
              <a:t>": 30,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/>
              <a:t>minimum_matching_threshold</a:t>
            </a:r>
            <a:r>
              <a:rPr dirty="0"/>
              <a:t>": 0.8,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  "</a:t>
            </a:r>
            <a:r>
              <a:rPr dirty="0" err="1"/>
              <a:t>frame_rate</a:t>
            </a:r>
            <a:r>
              <a:rPr dirty="0"/>
              <a:t>": 30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  }</a:t>
            </a:r>
          </a:p>
          <a:p>
            <a:pPr>
              <a:spcAft>
                <a:spcPts val="1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778235" y="370143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05234" y="3536335"/>
            <a:ext cx="63710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 err="1">
                <a:solidFill>
                  <a:schemeClr val="bg1"/>
                </a:solidFill>
              </a:rPr>
              <a:t>confidence_threshold</a:t>
            </a:r>
            <a:r>
              <a:rPr lang="en-CA" sz="1600" dirty="0">
                <a:solidFill>
                  <a:schemeClr val="bg1"/>
                </a:solidFill>
              </a:rPr>
              <a:t> = 0.5 → </a:t>
            </a:r>
            <a:r>
              <a:rPr lang="da-DK" sz="1600" dirty="0">
                <a:solidFill>
                  <a:schemeClr val="bg1"/>
                </a:solidFill>
              </a:rPr>
              <a:t>Min. score for </a:t>
            </a:r>
            <a:r>
              <a:rPr lang="da-DK" sz="1600" b="1" dirty="0">
                <a:solidFill>
                  <a:schemeClr val="bg1"/>
                </a:solidFill>
              </a:rPr>
              <a:t>valid detection</a:t>
            </a:r>
            <a:endParaRPr lang="en-CA" sz="1600" dirty="0">
              <a:solidFill>
                <a:schemeClr val="bg1"/>
              </a:solidFill>
            </a:endParaRP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center_tolerance_ratio</a:t>
            </a:r>
            <a:r>
              <a:rPr lang="en-CA" sz="1600" dirty="0">
                <a:solidFill>
                  <a:schemeClr val="bg1"/>
                </a:solidFill>
              </a:rPr>
              <a:t> = 0.05 → 5% dead-zone to prevent camera jitter</a:t>
            </a: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crop_padding_ratio</a:t>
            </a:r>
            <a:r>
              <a:rPr lang="en-CA" sz="1600" dirty="0">
                <a:solidFill>
                  <a:schemeClr val="bg1"/>
                </a:solidFill>
              </a:rPr>
              <a:t> = 0.8 → </a:t>
            </a:r>
            <a:r>
              <a:rPr lang="en-US" sz="1600" dirty="0">
                <a:solidFill>
                  <a:schemeClr val="bg1"/>
                </a:solidFill>
              </a:rPr>
              <a:t>80% margin around target crop</a:t>
            </a:r>
            <a:endParaRPr lang="en-CA" sz="1600" dirty="0">
              <a:solidFill>
                <a:schemeClr val="bg1"/>
              </a:solidFill>
            </a:endParaRP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track_activation_threshold</a:t>
            </a:r>
            <a:r>
              <a:rPr lang="en-CA" sz="1600" dirty="0">
                <a:solidFill>
                  <a:schemeClr val="bg1"/>
                </a:solidFill>
              </a:rPr>
              <a:t> = 0.25 → Min confidence to start new track</a:t>
            </a: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lost_track_buffer</a:t>
            </a:r>
            <a:r>
              <a:rPr lang="en-CA" sz="1600" dirty="0">
                <a:solidFill>
                  <a:schemeClr val="bg1"/>
                </a:solidFill>
              </a:rPr>
              <a:t> = 30 → </a:t>
            </a:r>
            <a:r>
              <a:rPr lang="en-US" sz="1600" dirty="0">
                <a:solidFill>
                  <a:schemeClr val="bg1"/>
                </a:solidFill>
              </a:rPr>
              <a:t>Frames to maintain ID </a:t>
            </a:r>
            <a:r>
              <a:rPr lang="en-US" sz="1600" b="1" dirty="0">
                <a:solidFill>
                  <a:schemeClr val="bg1"/>
                </a:solidFill>
              </a:rPr>
              <a:t>during occlusion</a:t>
            </a:r>
            <a:r>
              <a:rPr lang="en-US" sz="1600" dirty="0">
                <a:solidFill>
                  <a:schemeClr val="bg1"/>
                </a:solidFill>
              </a:rPr>
              <a:t> </a:t>
            </a:r>
            <a:endParaRPr lang="en-CA" sz="1600" dirty="0">
              <a:solidFill>
                <a:schemeClr val="bg1"/>
              </a:solidFill>
            </a:endParaRPr>
          </a:p>
          <a:p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 err="1">
                <a:solidFill>
                  <a:schemeClr val="bg1"/>
                </a:solidFill>
              </a:rPr>
              <a:t>minimum_matching_threshold</a:t>
            </a:r>
            <a:r>
              <a:rPr lang="en-CA" sz="1600" dirty="0">
                <a:solidFill>
                  <a:schemeClr val="bg1"/>
                </a:solidFill>
              </a:rPr>
              <a:t> = 0.8 → </a:t>
            </a:r>
            <a:r>
              <a:rPr lang="en-US" sz="1600" dirty="0">
                <a:solidFill>
                  <a:schemeClr val="bg1"/>
                </a:solidFill>
              </a:rPr>
              <a:t>Min. </a:t>
            </a:r>
            <a:r>
              <a:rPr lang="en-US" sz="1600" dirty="0" err="1">
                <a:solidFill>
                  <a:schemeClr val="bg1"/>
                </a:solidFill>
              </a:rPr>
              <a:t>IoU</a:t>
            </a:r>
            <a:r>
              <a:rPr lang="en-US" sz="1600" dirty="0">
                <a:solidFill>
                  <a:schemeClr val="bg1"/>
                </a:solidFill>
              </a:rPr>
              <a:t> for </a:t>
            </a:r>
            <a:r>
              <a:rPr lang="en-US" sz="1600" b="1" dirty="0">
                <a:solidFill>
                  <a:schemeClr val="bg1"/>
                </a:solidFill>
              </a:rPr>
              <a:t>track association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78235" y="417160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78235" y="466966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78235" y="5129779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78235" y="562167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2C0381-0E94-FD32-2EC0-E6CC6BE3EE41}"/>
              </a:ext>
            </a:extLst>
          </p:cNvPr>
          <p:cNvSpPr/>
          <p:nvPr/>
        </p:nvSpPr>
        <p:spPr>
          <a:xfrm>
            <a:off x="5768075" y="611357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F4B9E-8BBD-3DBB-82FE-1E708B5BDB53}"/>
              </a:ext>
            </a:extLst>
          </p:cNvPr>
          <p:cNvSpPr txBox="1"/>
          <p:nvPr/>
        </p:nvSpPr>
        <p:spPr>
          <a:xfrm>
            <a:off x="5911719" y="2020098"/>
            <a:ext cx="39374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>
                <a:solidFill>
                  <a:schemeClr val="bg1"/>
                </a:solidFill>
              </a:rPr>
              <a:t>Separates Code &amp; Settings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Enables Rapid Threshold Tuning for Inference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3C7BE-249D-B7A2-D2B6-C0172FE8F5AE}"/>
              </a:ext>
            </a:extLst>
          </p:cNvPr>
          <p:cNvSpPr txBox="1"/>
          <p:nvPr/>
        </p:nvSpPr>
        <p:spPr>
          <a:xfrm>
            <a:off x="5680634" y="3191182"/>
            <a:ext cx="14983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/>
              <a:t>Parameters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7A4355-A939-11CF-06A5-0646CAA974FF}"/>
              </a:ext>
            </a:extLst>
          </p:cNvPr>
          <p:cNvSpPr txBox="1"/>
          <p:nvPr/>
        </p:nvSpPr>
        <p:spPr>
          <a:xfrm>
            <a:off x="5690361" y="1607919"/>
            <a:ext cx="14983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lang="en-CA" dirty="0" err="1"/>
              <a:t>config.json</a:t>
            </a:r>
            <a:endParaRPr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78AC95-99FC-CD05-B462-59252D415065}"/>
              </a:ext>
            </a:extLst>
          </p:cNvPr>
          <p:cNvSpPr/>
          <p:nvPr/>
        </p:nvSpPr>
        <p:spPr>
          <a:xfrm>
            <a:off x="5774560" y="2134505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F1FC77B-7C6A-7302-BCD4-5D30D3D295F7}"/>
              </a:ext>
            </a:extLst>
          </p:cNvPr>
          <p:cNvSpPr/>
          <p:nvPr/>
        </p:nvSpPr>
        <p:spPr>
          <a:xfrm>
            <a:off x="5784719" y="2634761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Main Video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Code Walkthrough – video_stream()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Hye Ran Yoo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36535"/>
            <a:ext cx="11247120" cy="5178273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0621" y="1463040"/>
            <a:ext cx="10972800" cy="560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def </a:t>
            </a:r>
            <a:r>
              <a:rPr sz="1200" dirty="0" err="1"/>
              <a:t>video_stream</a:t>
            </a:r>
            <a:r>
              <a:rPr sz="1200" dirty="0"/>
              <a:t>():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config = </a:t>
            </a:r>
            <a:r>
              <a:rPr sz="1200" dirty="0" err="1"/>
              <a:t>load_config</a:t>
            </a:r>
            <a:r>
              <a:rPr sz="1200" dirty="0"/>
              <a:t>()                 # Load </a:t>
            </a:r>
            <a:r>
              <a:rPr sz="1200" dirty="0" err="1"/>
              <a:t>config.json</a:t>
            </a: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inferencer</a:t>
            </a:r>
            <a:r>
              <a:rPr sz="1200" dirty="0"/>
              <a:t> = </a:t>
            </a:r>
            <a:r>
              <a:rPr sz="1200" dirty="0" err="1"/>
              <a:t>init_detector</a:t>
            </a:r>
            <a:r>
              <a:rPr sz="1200" dirty="0"/>
              <a:t>(config)     # Load </a:t>
            </a:r>
            <a:r>
              <a:rPr sz="1200" dirty="0" err="1"/>
              <a:t>RTMDet</a:t>
            </a:r>
            <a:r>
              <a:rPr sz="1200" dirty="0"/>
              <a:t>-s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tracker = </a:t>
            </a:r>
            <a:r>
              <a:rPr sz="1200" dirty="0" err="1"/>
              <a:t>init_tracker</a:t>
            </a:r>
            <a:r>
              <a:rPr sz="1200" dirty="0"/>
              <a:t>(config)         # Init </a:t>
            </a:r>
            <a:r>
              <a:rPr sz="1200" dirty="0" err="1"/>
              <a:t>ByteTrack</a:t>
            </a: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cap = cv2.VideoCapture(0, cv2.CAP_DSHOW)  # Open webcam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while True: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ret, frame = </a:t>
            </a:r>
            <a:r>
              <a:rPr sz="1200" dirty="0" err="1"/>
              <a:t>cap.read</a:t>
            </a:r>
            <a:r>
              <a:rPr sz="1200" dirty="0"/>
              <a:t>()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1) Detect persons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</a:t>
            </a:r>
            <a:r>
              <a:rPr sz="1200" dirty="0" err="1"/>
              <a:t>bboxes</a:t>
            </a:r>
            <a:r>
              <a:rPr sz="1200" dirty="0"/>
              <a:t>, scores, labels = </a:t>
            </a:r>
            <a:r>
              <a:rPr sz="1200" dirty="0" err="1">
                <a:highlight>
                  <a:srgbClr val="000080"/>
                </a:highlight>
              </a:rPr>
              <a:t>detect_persons</a:t>
            </a:r>
            <a:r>
              <a:rPr sz="1200" dirty="0"/>
              <a:t>(</a:t>
            </a:r>
            <a:r>
              <a:rPr sz="1200" dirty="0" err="1"/>
              <a:t>inferencer</a:t>
            </a:r>
            <a:r>
              <a:rPr sz="1200" dirty="0"/>
              <a:t>, frame, config)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2) Track across frames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tracked = </a:t>
            </a:r>
            <a:r>
              <a:rPr sz="1200" dirty="0" err="1">
                <a:highlight>
                  <a:srgbClr val="000080"/>
                </a:highlight>
              </a:rPr>
              <a:t>track_persons</a:t>
            </a:r>
            <a:r>
              <a:rPr sz="1200" dirty="0"/>
              <a:t>(tracker, </a:t>
            </a:r>
            <a:r>
              <a:rPr sz="1200" dirty="0" err="1"/>
              <a:t>bboxes</a:t>
            </a:r>
            <a:r>
              <a:rPr sz="1200" dirty="0"/>
              <a:t>, scores, labels)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3) Draw all person boxes (green)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for </a:t>
            </a:r>
            <a:r>
              <a:rPr sz="1200" dirty="0" err="1"/>
              <a:t>i</a:t>
            </a:r>
            <a:r>
              <a:rPr sz="1200" dirty="0"/>
              <a:t> in range(</a:t>
            </a:r>
            <a:r>
              <a:rPr sz="1200" dirty="0" err="1"/>
              <a:t>len</a:t>
            </a:r>
            <a:r>
              <a:rPr sz="1200" dirty="0"/>
              <a:t>(tracked)):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    cv2.rectangle(frame, ...)   # Green box + ID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lang="en-US" sz="1200" dirty="0"/>
              <a:t>        # 4) Select largest person : </a:t>
            </a:r>
            <a:r>
              <a:rPr lang="en-US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Overwrite the biggest person with a Red box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</a:t>
            </a:r>
            <a:r>
              <a:rPr sz="1200" dirty="0" err="1"/>
              <a:t>target_bbox</a:t>
            </a:r>
            <a:r>
              <a:rPr sz="1200" dirty="0"/>
              <a:t>, </a:t>
            </a:r>
            <a:r>
              <a:rPr sz="1200" dirty="0" err="1"/>
              <a:t>target_id</a:t>
            </a:r>
            <a:r>
              <a:rPr sz="1200" dirty="0"/>
              <a:t> = </a:t>
            </a:r>
            <a:r>
              <a:rPr sz="1200" dirty="0" err="1">
                <a:highlight>
                  <a:srgbClr val="000080"/>
                </a:highlight>
              </a:rPr>
              <a:t>select_largest_person</a:t>
            </a:r>
            <a:r>
              <a:rPr sz="1200" dirty="0"/>
              <a:t>(tracked)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5) Calculate centering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directions, dx, </a:t>
            </a:r>
            <a:r>
              <a:rPr sz="1200" dirty="0" err="1"/>
              <a:t>dy</a:t>
            </a:r>
            <a:r>
              <a:rPr sz="1200" dirty="0"/>
              <a:t>, centered = </a:t>
            </a:r>
            <a:r>
              <a:rPr sz="1200" dirty="0" err="1">
                <a:highlight>
                  <a:srgbClr val="000080"/>
                </a:highlight>
              </a:rPr>
              <a:t>calculate_centering</a:t>
            </a:r>
            <a:r>
              <a:rPr sz="1200" dirty="0"/>
              <a:t>(...)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6) </a:t>
            </a:r>
            <a:r>
              <a:rPr sz="1200" dirty="0">
                <a:highlight>
                  <a:srgbClr val="000080"/>
                </a:highlight>
              </a:rPr>
              <a:t>Draw</a:t>
            </a:r>
            <a:r>
              <a:rPr sz="1200" dirty="0"/>
              <a:t>: red TARGET box, crosshair, direction </a:t>
            </a:r>
            <a:r>
              <a:rPr sz="1200" dirty="0" err="1"/>
              <a:t>msgs</a:t>
            </a:r>
            <a:endParaRPr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# 7) Generate cropped "Person Focus" view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cropped = </a:t>
            </a:r>
            <a:r>
              <a:rPr sz="1200" dirty="0" err="1">
                <a:highlight>
                  <a:srgbClr val="000080"/>
                </a:highlight>
              </a:rPr>
              <a:t>crop_centered_view</a:t>
            </a:r>
            <a:r>
              <a:rPr sz="1200" dirty="0"/>
              <a:t>(</a:t>
            </a:r>
            <a:r>
              <a:rPr sz="1200" dirty="0" err="1"/>
              <a:t>clean_frame</a:t>
            </a:r>
            <a:r>
              <a:rPr sz="1200" dirty="0"/>
              <a:t>, </a:t>
            </a:r>
            <a:r>
              <a:rPr sz="1200" dirty="0" err="1"/>
              <a:t>target_bbox</a:t>
            </a:r>
            <a:r>
              <a:rPr sz="1200" dirty="0"/>
              <a:t>, config)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cv2.imshow("Full View", frame)</a:t>
            </a:r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rPr sz="1200" dirty="0"/>
              <a:t>        cv2.imshow("Person Focus", cropped)</a:t>
            </a:r>
            <a:endParaRPr lang="en-CA"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lang="en-US"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lang="en-US" sz="1200" dirty="0"/>
          </a:p>
          <a:p>
            <a:pPr>
              <a:spcAft>
                <a:spcPts val="1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endParaRPr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Live Demo / Demo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System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950654"/>
            <a:ext cx="82296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86000" y="517011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50464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Two simultaneous windows: Full View + Person Focus (Cropped)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558159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54579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Real-time bounding boxes with tracking IDs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599307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58693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Direction messages with pixel offsets update per frame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0" y="6404550"/>
            <a:ext cx="127000" cy="127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0" y="62808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Automatic target switching when largest person changes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8B1DE-1426-EAA1-C15F-E89A88FEAFAA}"/>
              </a:ext>
            </a:extLst>
          </p:cNvPr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Hye Ran Yoo</a:t>
            </a:r>
          </a:p>
        </p:txBody>
      </p:sp>
      <p:pic>
        <p:nvPicPr>
          <p:cNvPr id="7" name="recording_final">
            <a:hlinkClick r:id="" action="ppaction://media"/>
            <a:extLst>
              <a:ext uri="{FF2B5EF4-FFF2-40B4-BE49-F238E27FC236}">
                <a16:creationId xmlns:a16="http://schemas.microsoft.com/office/drawing/2014/main" id="{786D2F63-1ECD-210A-13E4-5129D44518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89200" y="1600200"/>
            <a:ext cx="6332537" cy="28770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CF3BE19-A924-4784-9DF0-1CF8B6A7D2CA}"/>
              </a:ext>
            </a:extLst>
          </p:cNvPr>
          <p:cNvSpPr txBox="1"/>
          <p:nvPr/>
        </p:nvSpPr>
        <p:spPr>
          <a:xfrm>
            <a:off x="788477" y="1617664"/>
            <a:ext cx="150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Cropped 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7C7D7-0B71-1C9E-D36B-59C97049BEDE}"/>
              </a:ext>
            </a:extLst>
          </p:cNvPr>
          <p:cNvSpPr txBox="1"/>
          <p:nvPr/>
        </p:nvSpPr>
        <p:spPr>
          <a:xfrm>
            <a:off x="8961437" y="1597929"/>
            <a:ext cx="195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Main Camera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Results – Visual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appears on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■ Green bounding boxes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Person ID:X (confidence) for all tracked persons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Calibri"/>
              </a:defRPr>
            </a:pPr>
            <a:r>
              <a:t>■ Red bounding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TARGET ID:X on the largest (selected)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00"/>
                </a:solidFill>
                <a:latin typeface="Calibri"/>
              </a:defRPr>
            </a:pPr>
            <a:r>
              <a:t>+ Yellow crosshair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Frame center 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00FF"/>
                </a:solidFill>
                <a:latin typeface="Calibri"/>
              </a:defRPr>
            </a:pPr>
            <a:r>
              <a:t>● Magenta dot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Person’s bounding box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FFF"/>
                </a:solidFill>
                <a:latin typeface="Calibri"/>
              </a:defRPr>
            </a:pPr>
            <a:r>
              <a:t>— Cyan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Connects frame center to person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Calibri"/>
              </a:defRPr>
            </a:pPr>
            <a:r>
              <a:t>▶ Orange direction msgs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Camera must move left/right/up/down (Xpx)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dx, dy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Pixel offset displayed in top-right corner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CCCCC"/>
                </a:solidFill>
                <a:latin typeface="Calibri"/>
              </a:defRPr>
            </a:pPr>
            <a:r>
              <a:t>HUD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Person count, FPS, model name, tracker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→ Insert screenshot of running system here (Figure 1 from report)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12. Challenges &amp;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we faced &amp; what we gained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C97B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9248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39C12"/>
                </a:solidFill>
              </a:rPr>
              <a:t>Challenges</a:t>
            </a:r>
          </a:p>
        </p:txBody>
      </p:sp>
      <p:sp>
        <p:nvSpPr>
          <p:cNvPr id="8" name="Oval 7"/>
          <p:cNvSpPr/>
          <p:nvPr/>
        </p:nvSpPr>
        <p:spPr>
          <a:xfrm>
            <a:off x="792480" y="19699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80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mmdetection 3.2.0 Windows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C++ extensions require exact compiler &amp; version matching</a:t>
            </a:r>
          </a:p>
        </p:txBody>
      </p:sp>
      <p:sp>
        <p:nvSpPr>
          <p:cNvPr id="11" name="Oval 10"/>
          <p:cNvSpPr/>
          <p:nvPr/>
        </p:nvSpPr>
        <p:spPr>
          <a:xfrm>
            <a:off x="792480" y="26557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2592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Python 3.13 breaks MMCV 2.2.0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8400" y="2884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Pre-built wheels only exist for Python &lt;=3.11</a:t>
            </a:r>
          </a:p>
        </p:txBody>
      </p:sp>
      <p:sp>
        <p:nvSpPr>
          <p:cNvPr id="14" name="Oval 13"/>
          <p:cNvSpPr/>
          <p:nvPr/>
        </p:nvSpPr>
        <p:spPr>
          <a:xfrm>
            <a:off x="792480" y="33415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6800" y="327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Camera warm-up: dark first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400" y="357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Auto-exposure needs 10-20 frames to stabilize</a:t>
            </a:r>
          </a:p>
        </p:txBody>
      </p:sp>
      <p:sp>
        <p:nvSpPr>
          <p:cNvPr id="17" name="Oval 16"/>
          <p:cNvSpPr/>
          <p:nvPr/>
        </p:nvSpPr>
        <p:spPr>
          <a:xfrm>
            <a:off x="792480" y="4027300"/>
            <a:ext cx="127000" cy="127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3963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Confidence threshold balancing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8400" y="4255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0.3 = false positives, 0.7 = misses distant persons, 0.5 optimal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C97B"/>
                </a:solidFill>
              </a:rPr>
              <a:t>Lessons Learned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0" y="19699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432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End-to-end CV pipeline thinking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592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Each module's output feeds the next; one failure cascades</a:t>
            </a:r>
          </a:p>
        </p:txBody>
      </p:sp>
      <p:sp>
        <p:nvSpPr>
          <p:cNvPr id="24" name="Oval 23"/>
          <p:cNvSpPr/>
          <p:nvPr/>
        </p:nvSpPr>
        <p:spPr>
          <a:xfrm>
            <a:off x="6200000" y="26557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4320" y="2592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Version matrix is 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5920" y="2884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PyTorch 2.2.2 - MMCV 2.2.0 - mmdet 3.2.0 must match exactly</a:t>
            </a:r>
          </a:p>
        </p:txBody>
      </p:sp>
      <p:sp>
        <p:nvSpPr>
          <p:cNvPr id="27" name="Oval 26"/>
          <p:cNvSpPr/>
          <p:nvPr/>
        </p:nvSpPr>
        <p:spPr>
          <a:xfrm>
            <a:off x="6200000" y="33415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4320" y="327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Config/code separation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5920" y="357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External JSON lets you tune thresholds without touching code</a:t>
            </a:r>
          </a:p>
        </p:txBody>
      </p:sp>
      <p:sp>
        <p:nvSpPr>
          <p:cNvPr id="30" name="Oval 29"/>
          <p:cNvSpPr/>
          <p:nvPr/>
        </p:nvSpPr>
        <p:spPr>
          <a:xfrm>
            <a:off x="6200000" y="40273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4320" y="3963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Real-time debugging needs HUD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5920" y="4255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Can't set breakpoints in video loop; visual overlay is essential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20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13.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Verified package versions from project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77724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C97B"/>
                </a:solidFill>
              </a:rPr>
              <a:t>Presenter: Peng Wang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308988"/>
              </p:ext>
            </p:extLst>
          </p:nvPr>
        </p:nvGraphicFramePr>
        <p:xfrm>
          <a:off x="914400" y="1889760"/>
          <a:ext cx="103632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</a:p>
                  </a:txBody>
                  <a:tcPr marL="101600" marR="508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marL="101600" marR="508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 in Project</a:t>
                      </a:r>
                    </a:p>
                  </a:txBody>
                  <a:tcPr marL="101600" marR="50800" marT="38100" marB="38100"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3.11.15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Runtime (3.13 incompatible with MMCV C++ extensions)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PyTorch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2.2.2+cpu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Deep learning framework for RTMDet-s inference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torchvision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0.17.2+cpu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Image transforms &amp; model utilities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MMCV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2.2.0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OpenMMLab foundation library (pre-built CPU wheel)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mmdetection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3.2.0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Object detection toolbox providing RTMDet-s model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mmengine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0.10.7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OpenMMLab training/inference engine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supervision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0.27.0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ByteTrack multi-object tracker implementation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OpenCV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4.13.0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Webcam capture, frame display, image drawing</a:t>
                      </a:r>
                    </a:p>
                  </a:txBody>
                  <a:tcPr marL="101600" marR="50800" marT="38100" marB="38100">
                    <a:solidFill>
                      <a:srgbClr val="33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NumPy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C97B"/>
                          </a:solidFill>
                          <a:latin typeface="Consolas"/>
                        </a:rPr>
                        <a:t>1.26.4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Consolas"/>
                        </a:rPr>
                        <a:t>Array operations for bbox math &amp; filtering</a:t>
                      </a:r>
                    </a:p>
                  </a:txBody>
                  <a:tcPr marL="101600" marR="50800" marT="38100" marB="38100">
                    <a:solidFill>
                      <a:srgbClr val="2A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14.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System Performance &amp;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C97B"/>
                </a:solidFill>
              </a:rPr>
              <a:t>Strengths</a:t>
            </a:r>
          </a:p>
        </p:txBody>
      </p:sp>
      <p:sp>
        <p:nvSpPr>
          <p:cNvPr id="7" name="Oval 6"/>
          <p:cNvSpPr/>
          <p:nvPr/>
        </p:nvSpPr>
        <p:spPr>
          <a:xfrm>
            <a:off x="792480" y="19699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RTMDet-s: 44.6% AP on COCO, CPU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Pre-trained model, no GPU or fine-tuning required</a:t>
            </a:r>
          </a:p>
        </p:txBody>
      </p:sp>
      <p:sp>
        <p:nvSpPr>
          <p:cNvPr id="10" name="Oval 9"/>
          <p:cNvSpPr/>
          <p:nvPr/>
        </p:nvSpPr>
        <p:spPr>
          <a:xfrm>
            <a:off x="792480" y="26303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2566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ByteTrack (supervision 0.27.0): stable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400" y="2858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Two-stage IoU association + 30-frame occlusion buffer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" y="32907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6800" y="3227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5% dead zone prevents direction jitter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3519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Only fires when offset exceeds frame_size x 0.05</a:t>
            </a:r>
          </a:p>
        </p:txBody>
      </p:sp>
      <p:sp>
        <p:nvSpPr>
          <p:cNvPr id="16" name="Oval 15"/>
          <p:cNvSpPr/>
          <p:nvPr/>
        </p:nvSpPr>
        <p:spPr>
          <a:xfrm>
            <a:off x="792480" y="39511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6800" y="38876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Modular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8400" y="41797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Can swap RTMDet-s for YOLOv8 or ByteTrack for DeepSORT</a:t>
            </a:r>
          </a:p>
        </p:txBody>
      </p:sp>
      <p:sp>
        <p:nvSpPr>
          <p:cNvPr id="19" name="Oval 18"/>
          <p:cNvSpPr/>
          <p:nvPr/>
        </p:nvSpPr>
        <p:spPr>
          <a:xfrm>
            <a:off x="792480" y="4611500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6800" y="454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Dual-window: Full View + Person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8400" y="484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Context + detail simultaneously, 640x480 + 480x480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1500000"/>
            <a:ext cx="480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74C3C"/>
                </a:solidFill>
              </a:rPr>
              <a:t>Limitations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0" y="19699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4320" y="19064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CPU-only: ~10-15 FPS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20" y="21985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GPU (CUDA) would push to 30+ FPS for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200000" y="26303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4320" y="25668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No depth estimation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5920" y="28589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Single 2D camera can't determine real-world distance</a:t>
            </a:r>
          </a:p>
        </p:txBody>
      </p:sp>
      <p:sp>
        <p:nvSpPr>
          <p:cNvPr id="29" name="Oval 28"/>
          <p:cNvSpPr/>
          <p:nvPr/>
        </p:nvSpPr>
        <p:spPr>
          <a:xfrm>
            <a:off x="6200000" y="32907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4320" y="32272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Largest bbox heuristic can 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5920" y="35193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Closer bystander takes over when target walks away</a:t>
            </a:r>
          </a:p>
        </p:txBody>
      </p:sp>
      <p:sp>
        <p:nvSpPr>
          <p:cNvPr id="32" name="Oval 31"/>
          <p:cNvSpPr/>
          <p:nvPr/>
        </p:nvSpPr>
        <p:spPr>
          <a:xfrm>
            <a:off x="6200000" y="39511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4320" y="38876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No re-identification (ReID)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5920" y="41797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Target leaving &amp; returning gets assigned a new tracker ID</a:t>
            </a:r>
          </a:p>
        </p:txBody>
      </p:sp>
      <p:sp>
        <p:nvSpPr>
          <p:cNvPr id="35" name="Oval 34"/>
          <p:cNvSpPr/>
          <p:nvPr/>
        </p:nvSpPr>
        <p:spPr>
          <a:xfrm>
            <a:off x="6200000" y="4611500"/>
            <a:ext cx="127000" cy="127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4320" y="4548000"/>
            <a:ext cx="480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No servo/motor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5920" y="4840100"/>
            <a:ext cx="469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Direction messages are visual only; no physical PTZ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6576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Hye Ran Yoo  041145212  |  Peng Wang  041107730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CST8508 – Machine Vision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2670</Words>
  <Application>Microsoft Office PowerPoint</Application>
  <PresentationFormat>와이드스크린</PresentationFormat>
  <Paragraphs>393</Paragraphs>
  <Slides>17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Peng Wang</cp:lastModifiedBy>
  <cp:revision>106</cp:revision>
  <dcterms:created xsi:type="dcterms:W3CDTF">2013-01-27T09:14:16Z</dcterms:created>
  <dcterms:modified xsi:type="dcterms:W3CDTF">2026-04-16T15:49:35Z</dcterms:modified>
  <cp:category/>
</cp:coreProperties>
</file>
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80" r:id="rId2"/>
    <p:sldId id="283" r:id="rId3"/>
    <p:sldId id="257" r:id="rId4"/>
    <p:sldId id="258" r:id="rId5"/>
    <p:sldId id="259" r:id="rId6"/>
    <p:sldId id="260" r:id="rId7"/>
    <p:sldId id="261" r:id="rId8"/>
    <p:sldId id="262" r:id="rId9"/>
    <p:sldId id="281" r:id="rId10"/>
    <p:sldId id="263" r:id="rId11"/>
    <p:sldId id="264" r:id="rId12"/>
    <p:sldId id="265" r:id="rId13"/>
    <p:sldId id="266" r:id="rId14"/>
    <p:sldId id="267" r:id="rId15"/>
    <p:sldId id="268" r:id="rId16"/>
    <p:sldId id="269" r:id="rId17"/>
    <p:sldId id="270" r:id="rId18"/>
    <p:sldId id="284" r:id="rId19"/>
    <p:sldId id="288" r:id="rId20"/>
    <p:sldId id="285" r:id="rId21"/>
    <p:sldId id="271" r:id="rId22"/>
    <p:sldId id="282" r:id="rId23"/>
    <p:sldId id="286" r:id="rId24"/>
    <p:sldId id="287" r:id="rId25"/>
    <p:sldId id="273" r:id="rId26"/>
    <p:sldId id="274" r:id="rId27"/>
    <p:sldId id="275" r:id="rId28"/>
  </p:sldIdLst>
  <p:sldSz cx="12192000" cy="6858000"/>
  <p:notesSz cx="6858000" cy="9144000"/>
  <p:defaultText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11984"/>
            <a:ext cx="12192000" cy="1304320"/>
          </a:xfrm>
          <a:prstGeom prst="rect">
            <a:avLst/>
          </a:prstGeom>
        </p:spPr>
      </p:pic>
      <p:sp>
        <p:nvSpPr>
          <p:cNvPr id="2" name="Title 1"/>
          <p:cNvSpPr>
            <a:spLocks noGrp="1"/>
          </p:cNvSpPr>
          <p:nvPr>
            <p:ph type="ctrTitle" hasCustomPrompt="1"/>
          </p:nvPr>
        </p:nvSpPr>
        <p:spPr>
          <a:xfrm>
            <a:off x="609602" y="1287430"/>
            <a:ext cx="7250674" cy="1635518"/>
          </a:xfrm>
        </p:spPr>
        <p:txBody>
          <a:bodyPr anchor="b"/>
          <a:lstStyle>
            <a:lvl1pPr>
              <a:defRPr>
                <a:solidFill>
                  <a:schemeClr val="bg1"/>
                </a:solidFill>
              </a:defRPr>
            </a:lvl1pPr>
          </a:lstStyle>
          <a:p>
            <a:r>
              <a:rPr lang="en-CA" dirty="0"/>
              <a:t>This is your presentation title</a:t>
            </a:r>
            <a:endParaRPr lang="en-US" dirty="0"/>
          </a:p>
        </p:txBody>
      </p:sp>
      <p:sp>
        <p:nvSpPr>
          <p:cNvPr id="3" name="Subtitle 2"/>
          <p:cNvSpPr>
            <a:spLocks noGrp="1"/>
          </p:cNvSpPr>
          <p:nvPr>
            <p:ph type="subTitle" idx="1" hasCustomPrompt="1"/>
          </p:nvPr>
        </p:nvSpPr>
        <p:spPr>
          <a:xfrm>
            <a:off x="609602" y="3024545"/>
            <a:ext cx="9117331" cy="1752600"/>
          </a:xfrm>
        </p:spPr>
        <p:txBody>
          <a:bodyPr lIns="0" tIns="0" rIns="0" bIns="0">
            <a:noAutofit/>
          </a:bodyPr>
          <a:lstStyle>
            <a:lvl1pPr marL="0" indent="0" algn="l">
              <a:lnSpc>
                <a:spcPct val="100000"/>
              </a:lnSpc>
              <a:buNone/>
              <a:defRPr sz="3600" baseline="0">
                <a:solidFill>
                  <a:schemeClr val="accent3"/>
                </a:solidFill>
              </a:defRPr>
            </a:lvl1pPr>
            <a:lvl2pPr marL="586109" indent="0" algn="ctr">
              <a:buNone/>
              <a:defRPr>
                <a:solidFill>
                  <a:schemeClr val="tx1">
                    <a:tint val="75000"/>
                  </a:schemeClr>
                </a:solidFill>
              </a:defRPr>
            </a:lvl2pPr>
            <a:lvl3pPr marL="1172219" indent="0" algn="ctr">
              <a:buNone/>
              <a:defRPr>
                <a:solidFill>
                  <a:schemeClr val="tx1">
                    <a:tint val="75000"/>
                  </a:schemeClr>
                </a:solidFill>
              </a:defRPr>
            </a:lvl3pPr>
            <a:lvl4pPr marL="1758328" indent="0" algn="ctr">
              <a:buNone/>
              <a:defRPr>
                <a:solidFill>
                  <a:schemeClr val="tx1">
                    <a:tint val="75000"/>
                  </a:schemeClr>
                </a:solidFill>
              </a:defRPr>
            </a:lvl4pPr>
            <a:lvl5pPr marL="2344438" indent="0" algn="ctr">
              <a:buNone/>
              <a:defRPr>
                <a:solidFill>
                  <a:schemeClr val="tx1">
                    <a:tint val="75000"/>
                  </a:schemeClr>
                </a:solidFill>
              </a:defRPr>
            </a:lvl5pPr>
            <a:lvl6pPr marL="2930547" indent="0" algn="ctr">
              <a:buNone/>
              <a:defRPr>
                <a:solidFill>
                  <a:schemeClr val="tx1">
                    <a:tint val="75000"/>
                  </a:schemeClr>
                </a:solidFill>
              </a:defRPr>
            </a:lvl6pPr>
            <a:lvl7pPr marL="3516656" indent="0" algn="ctr">
              <a:buNone/>
              <a:defRPr>
                <a:solidFill>
                  <a:schemeClr val="tx1">
                    <a:tint val="75000"/>
                  </a:schemeClr>
                </a:solidFill>
              </a:defRPr>
            </a:lvl7pPr>
            <a:lvl8pPr marL="4102766" indent="0" algn="ctr">
              <a:buNone/>
              <a:defRPr>
                <a:solidFill>
                  <a:schemeClr val="tx1">
                    <a:tint val="75000"/>
                  </a:schemeClr>
                </a:solidFill>
              </a:defRPr>
            </a:lvl8pPr>
            <a:lvl9pPr marL="4688875" indent="0" algn="ctr">
              <a:buNone/>
              <a:defRPr>
                <a:solidFill>
                  <a:schemeClr val="tx1">
                    <a:tint val="75000"/>
                  </a:schemeClr>
                </a:solidFill>
              </a:defRPr>
            </a:lvl9pPr>
          </a:lstStyle>
          <a:p>
            <a:r>
              <a:rPr lang="en-CA" dirty="0"/>
              <a:t>Presentation subtitle or brief one-sentence description.</a:t>
            </a:r>
            <a:endParaRPr lang="en-US" dirty="0"/>
          </a:p>
        </p:txBody>
      </p:sp>
      <p:sp>
        <p:nvSpPr>
          <p:cNvPr id="5" name="Text Placeholder 4"/>
          <p:cNvSpPr>
            <a:spLocks noGrp="1"/>
          </p:cNvSpPr>
          <p:nvPr>
            <p:ph type="body" sz="quarter" idx="10" hasCustomPrompt="1"/>
          </p:nvPr>
        </p:nvSpPr>
        <p:spPr>
          <a:xfrm>
            <a:off x="622239" y="5509909"/>
            <a:ext cx="5358682" cy="745331"/>
          </a:xfrm>
        </p:spPr>
        <p:txBody>
          <a:bodyPr anchor="b"/>
          <a:lstStyle>
            <a:lvl1pPr>
              <a:defRPr baseline="0">
                <a:solidFill>
                  <a:schemeClr val="bg1"/>
                </a:solidFill>
              </a:defRPr>
            </a:lvl1pPr>
          </a:lstStyle>
          <a:p>
            <a:pPr lvl="0"/>
            <a:r>
              <a:rPr lang="en-CA" dirty="0"/>
              <a:t>Month 24th, 2017</a:t>
            </a:r>
            <a:endParaRPr lang="en-US" dirty="0"/>
          </a:p>
        </p:txBody>
      </p:sp>
      <p:pic>
        <p:nvPicPr>
          <p:cNvPr id="4" name="Picture 3" descr="ac-log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42412" y="619055"/>
            <a:ext cx="2542927" cy="533400"/>
          </a:xfrm>
          <a:prstGeom prst="rect">
            <a:avLst/>
          </a:prstGeom>
        </p:spPr>
      </p:pic>
    </p:spTree>
    <p:extLst>
      <p:ext uri="{BB962C8B-B14F-4D97-AF65-F5344CB8AC3E}">
        <p14:creationId xmlns:p14="http://schemas.microsoft.com/office/powerpoint/2010/main" val="5910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Separator">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4" name="Picture 13"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11984"/>
            <a:ext cx="12192000" cy="1304320"/>
          </a:xfrm>
          <a:prstGeom prst="rect">
            <a:avLst/>
          </a:prstGeom>
        </p:spPr>
      </p:pic>
      <p:sp>
        <p:nvSpPr>
          <p:cNvPr id="2" name="Title 1"/>
          <p:cNvSpPr>
            <a:spLocks noGrp="1"/>
          </p:cNvSpPr>
          <p:nvPr>
            <p:ph type="title" hasCustomPrompt="1"/>
          </p:nvPr>
        </p:nvSpPr>
        <p:spPr>
          <a:xfrm>
            <a:off x="609601" y="1544637"/>
            <a:ext cx="7250676" cy="1362076"/>
          </a:xfrm>
        </p:spPr>
        <p:txBody>
          <a:bodyPr anchor="b">
            <a:noAutofit/>
          </a:bodyPr>
          <a:lstStyle>
            <a:lvl1pPr algn="l">
              <a:lnSpc>
                <a:spcPct val="100000"/>
              </a:lnSpc>
              <a:defRPr sz="3600" b="1" cap="none" baseline="0">
                <a:solidFill>
                  <a:srgbClr val="FFFFFF"/>
                </a:solidFill>
              </a:defRPr>
            </a:lvl1pPr>
          </a:lstStyle>
          <a:p>
            <a:r>
              <a:rPr lang="en-CA" dirty="0"/>
              <a:t>Chapter or Section title</a:t>
            </a:r>
            <a:endParaRPr lang="en-US" dirty="0"/>
          </a:p>
        </p:txBody>
      </p:sp>
      <p:sp>
        <p:nvSpPr>
          <p:cNvPr id="3" name="Text Placeholder 2"/>
          <p:cNvSpPr>
            <a:spLocks noGrp="1"/>
          </p:cNvSpPr>
          <p:nvPr>
            <p:ph type="body" idx="1" hasCustomPrompt="1"/>
          </p:nvPr>
        </p:nvSpPr>
        <p:spPr>
          <a:xfrm>
            <a:off x="609601" y="3062821"/>
            <a:ext cx="7250676" cy="1500188"/>
          </a:xfrm>
        </p:spPr>
        <p:txBody>
          <a:bodyPr lIns="0" tIns="0" rIns="0" bIns="0" anchor="t"/>
          <a:lstStyle>
            <a:lvl1pPr marL="0" indent="0">
              <a:lnSpc>
                <a:spcPct val="100000"/>
              </a:lnSpc>
              <a:buNone/>
              <a:defRPr sz="2550" baseline="0">
                <a:solidFill>
                  <a:srgbClr val="A6C8BC"/>
                </a:solidFill>
              </a:defRPr>
            </a:lvl1pPr>
            <a:lvl2pPr marL="586109" indent="0">
              <a:buNone/>
              <a:defRPr sz="2325">
                <a:solidFill>
                  <a:schemeClr val="tx1">
                    <a:tint val="75000"/>
                  </a:schemeClr>
                </a:solidFill>
              </a:defRPr>
            </a:lvl2pPr>
            <a:lvl3pPr marL="1172219" indent="0">
              <a:buNone/>
              <a:defRPr sz="2025">
                <a:solidFill>
                  <a:schemeClr val="tx1">
                    <a:tint val="75000"/>
                  </a:schemeClr>
                </a:solidFill>
              </a:defRPr>
            </a:lvl3pPr>
            <a:lvl4pPr marL="1758328" indent="0">
              <a:buNone/>
              <a:defRPr sz="1800">
                <a:solidFill>
                  <a:schemeClr val="tx1">
                    <a:tint val="75000"/>
                  </a:schemeClr>
                </a:solidFill>
              </a:defRPr>
            </a:lvl4pPr>
            <a:lvl5pPr marL="2344438" indent="0">
              <a:buNone/>
              <a:defRPr sz="1800">
                <a:solidFill>
                  <a:schemeClr val="tx1">
                    <a:tint val="75000"/>
                  </a:schemeClr>
                </a:solidFill>
              </a:defRPr>
            </a:lvl5pPr>
            <a:lvl6pPr marL="2930547" indent="0">
              <a:buNone/>
              <a:defRPr sz="1800">
                <a:solidFill>
                  <a:schemeClr val="tx1">
                    <a:tint val="75000"/>
                  </a:schemeClr>
                </a:solidFill>
              </a:defRPr>
            </a:lvl6pPr>
            <a:lvl7pPr marL="3516656" indent="0">
              <a:buNone/>
              <a:defRPr sz="1800">
                <a:solidFill>
                  <a:schemeClr val="tx1">
                    <a:tint val="75000"/>
                  </a:schemeClr>
                </a:solidFill>
              </a:defRPr>
            </a:lvl7pPr>
            <a:lvl8pPr marL="4102766" indent="0">
              <a:buNone/>
              <a:defRPr sz="1800">
                <a:solidFill>
                  <a:schemeClr val="tx1">
                    <a:tint val="75000"/>
                  </a:schemeClr>
                </a:solidFill>
              </a:defRPr>
            </a:lvl8pPr>
            <a:lvl9pPr marL="4688875" indent="0">
              <a:buNone/>
              <a:defRPr sz="1800">
                <a:solidFill>
                  <a:schemeClr val="tx1">
                    <a:tint val="75000"/>
                  </a:schemeClr>
                </a:solidFill>
              </a:defRPr>
            </a:lvl9pPr>
          </a:lstStyle>
          <a:p>
            <a:pPr lvl="0"/>
            <a:r>
              <a:rPr lang="en-CA" dirty="0"/>
              <a:t>Brief description or intro to this section</a:t>
            </a:r>
          </a:p>
        </p:txBody>
      </p:sp>
      <p:pic>
        <p:nvPicPr>
          <p:cNvPr id="10" name="Picture 9"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3099" y="517457"/>
            <a:ext cx="723829" cy="533400"/>
          </a:xfrm>
          <a:prstGeom prst="rect">
            <a:avLst/>
          </a:prstGeom>
        </p:spPr>
      </p:pic>
      <p:sp>
        <p:nvSpPr>
          <p:cNvPr id="15" name="Slide Number Placeholder 8"/>
          <p:cNvSpPr>
            <a:spLocks noGrp="1"/>
          </p:cNvSpPr>
          <p:nvPr>
            <p:ph type="sldNum" sz="quarter" idx="11"/>
          </p:nvPr>
        </p:nvSpPr>
        <p:spPr>
          <a:xfrm>
            <a:off x="149297" y="6373091"/>
            <a:ext cx="396810" cy="365126"/>
          </a:xfrm>
        </p:spPr>
        <p:txBody>
          <a:bodyPr/>
          <a:lstStyle>
            <a:lvl1pPr>
              <a:defRPr>
                <a:solidFill>
                  <a:srgbClr val="96B7A6"/>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3993266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 Author">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2501574" y="1803401"/>
            <a:ext cx="3474729" cy="3227685"/>
          </a:xfrm>
        </p:spPr>
        <p:txBody>
          <a:bodyPr/>
          <a:lstStyle/>
          <a:p>
            <a:r>
              <a:rPr lang="en-US" dirty="0"/>
              <a:t>Author Photo</a:t>
            </a:r>
          </a:p>
        </p:txBody>
      </p:sp>
      <p:sp>
        <p:nvSpPr>
          <p:cNvPr id="11" name="Text Placeholder 10"/>
          <p:cNvSpPr>
            <a:spLocks noGrp="1"/>
          </p:cNvSpPr>
          <p:nvPr>
            <p:ph type="body" sz="quarter" idx="17" hasCustomPrompt="1"/>
          </p:nvPr>
        </p:nvSpPr>
        <p:spPr>
          <a:xfrm>
            <a:off x="6222189" y="2336800"/>
            <a:ext cx="3504744" cy="2160887"/>
          </a:xfrm>
        </p:spPr>
        <p:txBody>
          <a:bodyPr anchor="ctr"/>
          <a:lstStyle/>
          <a:p>
            <a:pPr lvl="0"/>
            <a:r>
              <a:rPr lang="en-CA" dirty="0"/>
              <a:t>Author description</a:t>
            </a:r>
          </a:p>
        </p:txBody>
      </p:sp>
      <p:sp>
        <p:nvSpPr>
          <p:cNvPr id="8" name="Title 1"/>
          <p:cNvSpPr>
            <a:spLocks noGrp="1"/>
          </p:cNvSpPr>
          <p:nvPr>
            <p:ph type="title" hasCustomPrompt="1"/>
          </p:nvPr>
        </p:nvSpPr>
        <p:spPr>
          <a:xfrm>
            <a:off x="609601" y="576274"/>
            <a:ext cx="7106241" cy="1001980"/>
          </a:xfrm>
        </p:spPr>
        <p:txBody>
          <a:bodyPr anchor="t">
            <a:noAutofit/>
          </a:bodyPr>
          <a:lstStyle>
            <a:lvl1pPr>
              <a:defRPr sz="3600" b="1" baseline="0">
                <a:solidFill>
                  <a:schemeClr val="tx2"/>
                </a:solidFill>
              </a:defRPr>
            </a:lvl1pPr>
          </a:lstStyle>
          <a:p>
            <a:r>
              <a:rPr lang="en-CA" dirty="0"/>
              <a:t>About the Author (1 author)</a:t>
            </a:r>
            <a:endParaRPr lang="en-US" dirty="0"/>
          </a:p>
        </p:txBody>
      </p:sp>
      <p:sp>
        <p:nvSpPr>
          <p:cNvPr id="7" name="Text Placeholder 6"/>
          <p:cNvSpPr>
            <a:spLocks noGrp="1"/>
          </p:cNvSpPr>
          <p:nvPr>
            <p:ph type="body" sz="quarter" idx="18" hasCustomPrompt="1"/>
          </p:nvPr>
        </p:nvSpPr>
        <p:spPr>
          <a:xfrm>
            <a:off x="6221598" y="1803797"/>
            <a:ext cx="3504858" cy="533003"/>
          </a:xfrm>
        </p:spPr>
        <p:txBody>
          <a:bodyPr/>
          <a:lstStyle>
            <a:lvl1pPr>
              <a:defRPr b="1">
                <a:solidFill>
                  <a:srgbClr val="599A83"/>
                </a:solidFill>
              </a:defRPr>
            </a:lvl1pPr>
          </a:lstStyle>
          <a:p>
            <a:pPr lvl="0"/>
            <a:r>
              <a:rPr lang="en-CA" dirty="0"/>
              <a:t>Author Name</a:t>
            </a:r>
          </a:p>
        </p:txBody>
      </p:sp>
      <p:sp>
        <p:nvSpPr>
          <p:cNvPr id="13" name="Text Placeholder 12"/>
          <p:cNvSpPr>
            <a:spLocks noGrp="1"/>
          </p:cNvSpPr>
          <p:nvPr>
            <p:ph type="body" sz="quarter" idx="19" hasCustomPrompt="1"/>
          </p:nvPr>
        </p:nvSpPr>
        <p:spPr>
          <a:xfrm>
            <a:off x="6221598" y="4498182"/>
            <a:ext cx="3504858" cy="532904"/>
          </a:xfrm>
        </p:spPr>
        <p:txBody>
          <a:bodyPr anchor="b"/>
          <a:lstStyle>
            <a:lvl1pPr>
              <a:defRPr sz="1575"/>
            </a:lvl1pPr>
          </a:lstStyle>
          <a:p>
            <a:pPr lvl="0"/>
            <a:r>
              <a:rPr lang="en-CA" dirty="0"/>
              <a:t>Author email</a:t>
            </a:r>
          </a:p>
        </p:txBody>
      </p:sp>
    </p:spTree>
    <p:extLst>
      <p:ext uri="{BB962C8B-B14F-4D97-AF65-F5344CB8AC3E}">
        <p14:creationId xmlns:p14="http://schemas.microsoft.com/office/powerpoint/2010/main" val="207311497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Authors">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622300" y="1803797"/>
            <a:ext cx="1625307" cy="1509752"/>
          </a:xfrm>
        </p:spPr>
        <p:txBody>
          <a:bodyPr/>
          <a:lstStyle/>
          <a:p>
            <a:r>
              <a:rPr lang="en-US" dirty="0"/>
              <a:t>Author Photo</a:t>
            </a:r>
          </a:p>
        </p:txBody>
      </p:sp>
      <p:sp>
        <p:nvSpPr>
          <p:cNvPr id="11" name="Text Placeholder 10"/>
          <p:cNvSpPr>
            <a:spLocks noGrp="1"/>
          </p:cNvSpPr>
          <p:nvPr>
            <p:ph type="body" sz="quarter" idx="17" hasCustomPrompt="1"/>
          </p:nvPr>
        </p:nvSpPr>
        <p:spPr>
          <a:xfrm>
            <a:off x="2488956" y="2336800"/>
            <a:ext cx="3504744" cy="1790700"/>
          </a:xfrm>
        </p:spPr>
        <p:txBody>
          <a:bodyPr anchor="t"/>
          <a:lstStyle/>
          <a:p>
            <a:pPr lvl="0"/>
            <a:r>
              <a:rPr lang="en-CA" dirty="0"/>
              <a:t>Author description</a:t>
            </a:r>
          </a:p>
        </p:txBody>
      </p:sp>
      <p:sp>
        <p:nvSpPr>
          <p:cNvPr id="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About the Author (2 authors)</a:t>
            </a:r>
            <a:endParaRPr lang="en-US" dirty="0"/>
          </a:p>
        </p:txBody>
      </p:sp>
      <p:sp>
        <p:nvSpPr>
          <p:cNvPr id="7" name="Text Placeholder 6"/>
          <p:cNvSpPr>
            <a:spLocks noGrp="1"/>
          </p:cNvSpPr>
          <p:nvPr>
            <p:ph type="body" sz="quarter" idx="18" hasCustomPrompt="1"/>
          </p:nvPr>
        </p:nvSpPr>
        <p:spPr>
          <a:xfrm>
            <a:off x="2488365" y="1803797"/>
            <a:ext cx="3504858" cy="533003"/>
          </a:xfrm>
        </p:spPr>
        <p:txBody>
          <a:bodyPr/>
          <a:lstStyle>
            <a:lvl1pPr>
              <a:defRPr b="1">
                <a:solidFill>
                  <a:srgbClr val="599A83"/>
                </a:solidFill>
              </a:defRPr>
            </a:lvl1pPr>
          </a:lstStyle>
          <a:p>
            <a:pPr lvl="0"/>
            <a:r>
              <a:rPr lang="en-CA" dirty="0"/>
              <a:t>Author 1 Name</a:t>
            </a:r>
          </a:p>
        </p:txBody>
      </p:sp>
      <p:sp>
        <p:nvSpPr>
          <p:cNvPr id="13" name="Text Placeholder 12"/>
          <p:cNvSpPr>
            <a:spLocks noGrp="1"/>
          </p:cNvSpPr>
          <p:nvPr>
            <p:ph type="body" sz="quarter" idx="19" hasCustomPrompt="1"/>
          </p:nvPr>
        </p:nvSpPr>
        <p:spPr>
          <a:xfrm>
            <a:off x="2488365" y="4127500"/>
            <a:ext cx="3504858" cy="532904"/>
          </a:xfrm>
        </p:spPr>
        <p:txBody>
          <a:bodyPr anchor="b"/>
          <a:lstStyle>
            <a:lvl1pPr>
              <a:defRPr sz="1575"/>
            </a:lvl1pPr>
          </a:lstStyle>
          <a:p>
            <a:pPr lvl="0"/>
            <a:r>
              <a:rPr lang="en-CA" dirty="0"/>
              <a:t>Author email</a:t>
            </a:r>
          </a:p>
        </p:txBody>
      </p:sp>
      <p:sp>
        <p:nvSpPr>
          <p:cNvPr id="9" name="Picture Placeholder 4"/>
          <p:cNvSpPr>
            <a:spLocks noGrp="1"/>
          </p:cNvSpPr>
          <p:nvPr>
            <p:ph type="pic" sz="quarter" idx="20" hasCustomPrompt="1"/>
          </p:nvPr>
        </p:nvSpPr>
        <p:spPr>
          <a:xfrm>
            <a:off x="6222271" y="1803797"/>
            <a:ext cx="1625307" cy="1509752"/>
          </a:xfrm>
        </p:spPr>
        <p:txBody>
          <a:bodyPr/>
          <a:lstStyle/>
          <a:p>
            <a:r>
              <a:rPr lang="en-US" dirty="0"/>
              <a:t>Author Photo</a:t>
            </a:r>
          </a:p>
        </p:txBody>
      </p:sp>
      <p:sp>
        <p:nvSpPr>
          <p:cNvPr id="10" name="Text Placeholder 10"/>
          <p:cNvSpPr>
            <a:spLocks noGrp="1"/>
          </p:cNvSpPr>
          <p:nvPr>
            <p:ph type="body" sz="quarter" idx="21" hasCustomPrompt="1"/>
          </p:nvPr>
        </p:nvSpPr>
        <p:spPr>
          <a:xfrm>
            <a:off x="8088927" y="2336800"/>
            <a:ext cx="3504744" cy="1790700"/>
          </a:xfrm>
        </p:spPr>
        <p:txBody>
          <a:bodyPr anchor="t"/>
          <a:lstStyle/>
          <a:p>
            <a:pPr lvl="0"/>
            <a:r>
              <a:rPr lang="en-CA" dirty="0"/>
              <a:t>Author description</a:t>
            </a:r>
          </a:p>
        </p:txBody>
      </p:sp>
      <p:sp>
        <p:nvSpPr>
          <p:cNvPr id="12" name="Text Placeholder 6"/>
          <p:cNvSpPr>
            <a:spLocks noGrp="1"/>
          </p:cNvSpPr>
          <p:nvPr>
            <p:ph type="body" sz="quarter" idx="22" hasCustomPrompt="1"/>
          </p:nvPr>
        </p:nvSpPr>
        <p:spPr>
          <a:xfrm>
            <a:off x="8088336" y="1803797"/>
            <a:ext cx="3504858" cy="533003"/>
          </a:xfrm>
        </p:spPr>
        <p:txBody>
          <a:bodyPr/>
          <a:lstStyle>
            <a:lvl1pPr>
              <a:defRPr b="1">
                <a:solidFill>
                  <a:srgbClr val="599A83"/>
                </a:solidFill>
              </a:defRPr>
            </a:lvl1pPr>
          </a:lstStyle>
          <a:p>
            <a:pPr lvl="0"/>
            <a:r>
              <a:rPr lang="en-CA" dirty="0"/>
              <a:t>Author 2 Name</a:t>
            </a:r>
          </a:p>
        </p:txBody>
      </p:sp>
      <p:sp>
        <p:nvSpPr>
          <p:cNvPr id="14" name="Text Placeholder 12"/>
          <p:cNvSpPr>
            <a:spLocks noGrp="1"/>
          </p:cNvSpPr>
          <p:nvPr>
            <p:ph type="body" sz="quarter" idx="23" hasCustomPrompt="1"/>
          </p:nvPr>
        </p:nvSpPr>
        <p:spPr>
          <a:xfrm>
            <a:off x="8088336" y="4127500"/>
            <a:ext cx="3504858" cy="532904"/>
          </a:xfrm>
        </p:spPr>
        <p:txBody>
          <a:bodyPr anchor="b"/>
          <a:lstStyle>
            <a:lvl1pPr>
              <a:defRPr sz="1575"/>
            </a:lvl1pPr>
          </a:lstStyle>
          <a:p>
            <a:pPr lvl="0"/>
            <a:r>
              <a:rPr lang="en-CA" dirty="0"/>
              <a:t>Author email</a:t>
            </a:r>
          </a:p>
        </p:txBody>
      </p:sp>
      <p:pic>
        <p:nvPicPr>
          <p:cNvPr id="15" name="Picture 14" descr="curtain-100.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524369"/>
            <a:ext cx="12192000" cy="1333631"/>
          </a:xfrm>
          <a:prstGeom prst="rect">
            <a:avLst/>
          </a:prstGeom>
        </p:spPr>
      </p:pic>
    </p:spTree>
    <p:extLst>
      <p:ext uri="{BB962C8B-B14F-4D97-AF65-F5344CB8AC3E}">
        <p14:creationId xmlns:p14="http://schemas.microsoft.com/office/powerpoint/2010/main" val="1222564013"/>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Col Key Poi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1-column key point text slide</a:t>
            </a:r>
            <a:endParaRPr lang="en-US" dirty="0"/>
          </a:p>
        </p:txBody>
      </p:sp>
      <p:sp>
        <p:nvSpPr>
          <p:cNvPr id="12" name="Text Placeholder 5"/>
          <p:cNvSpPr>
            <a:spLocks noGrp="1"/>
          </p:cNvSpPr>
          <p:nvPr>
            <p:ph type="body" sz="quarter" idx="15" hasCustomPrompt="1"/>
          </p:nvPr>
        </p:nvSpPr>
        <p:spPr>
          <a:xfrm>
            <a:off x="609602" y="1803401"/>
            <a:ext cx="8710984"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89278"/>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5" name="Picture 14"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3231611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Col Key Point, No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609602" y="495299"/>
            <a:ext cx="8710984" cy="5156201"/>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A basic 1-column key point slide with no title. 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4" name="Picture 1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736041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2-column key point slide</a:t>
            </a:r>
            <a:endParaRPr lang="en-US" dirty="0"/>
          </a:p>
        </p:txBody>
      </p:sp>
      <p:sp>
        <p:nvSpPr>
          <p:cNvPr id="14" name="Text Placeholder 5"/>
          <p:cNvSpPr>
            <a:spLocks noGrp="1"/>
          </p:cNvSpPr>
          <p:nvPr>
            <p:ph type="body" sz="quarter" idx="15" hasCustomPrompt="1"/>
          </p:nvPr>
        </p:nvSpPr>
        <p:spPr>
          <a:xfrm>
            <a:off x="609602" y="1803401"/>
            <a:ext cx="5371319"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6222270" y="1803401"/>
            <a:ext cx="5360131"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7" name="Picture 16"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8" name="Picture 1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9"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4038934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basic 2-column key point text slide with subtitles</a:t>
            </a:r>
            <a:endParaRPr lang="en-US" dirty="0"/>
          </a:p>
        </p:txBody>
      </p:sp>
      <p:sp>
        <p:nvSpPr>
          <p:cNvPr id="14" name="Text Placeholder 5"/>
          <p:cNvSpPr>
            <a:spLocks noGrp="1"/>
          </p:cNvSpPr>
          <p:nvPr>
            <p:ph type="body" sz="quarter" idx="15" hasCustomPrompt="1"/>
          </p:nvPr>
        </p:nvSpPr>
        <p:spPr>
          <a:xfrm>
            <a:off x="609602" y="2336799"/>
            <a:ext cx="5371319" cy="3314701"/>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6222270" y="2336799"/>
            <a:ext cx="5360131" cy="3314702"/>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6"/>
          <p:cNvSpPr>
            <a:spLocks noGrp="1"/>
          </p:cNvSpPr>
          <p:nvPr>
            <p:ph type="body" sz="quarter" idx="18" hasCustomPrompt="1"/>
          </p:nvPr>
        </p:nvSpPr>
        <p:spPr>
          <a:xfrm>
            <a:off x="609603" y="1803797"/>
            <a:ext cx="5371319" cy="533003"/>
          </a:xfrm>
        </p:spPr>
        <p:txBody>
          <a:bodyPr/>
          <a:lstStyle>
            <a:lvl1pPr>
              <a:defRPr b="1">
                <a:solidFill>
                  <a:srgbClr val="599A83"/>
                </a:solidFill>
              </a:defRPr>
            </a:lvl1pPr>
          </a:lstStyle>
          <a:p>
            <a:pPr lvl="0"/>
            <a:r>
              <a:rPr lang="en-CA" dirty="0"/>
              <a:t>Subtitle</a:t>
            </a:r>
          </a:p>
        </p:txBody>
      </p:sp>
      <p:sp>
        <p:nvSpPr>
          <p:cNvPr id="11" name="Text Placeholder 6"/>
          <p:cNvSpPr>
            <a:spLocks noGrp="1"/>
          </p:cNvSpPr>
          <p:nvPr>
            <p:ph type="body" sz="quarter" idx="19" hasCustomPrompt="1"/>
          </p:nvPr>
        </p:nvSpPr>
        <p:spPr>
          <a:xfrm>
            <a:off x="6222270" y="1803797"/>
            <a:ext cx="5360131" cy="533003"/>
          </a:xfrm>
        </p:spPr>
        <p:txBody>
          <a:bodyPr/>
          <a:lstStyle>
            <a:lvl1pPr>
              <a:defRPr b="1">
                <a:solidFill>
                  <a:srgbClr val="599A83"/>
                </a:solidFill>
              </a:defRPr>
            </a:lvl1pPr>
          </a:lstStyle>
          <a:p>
            <a:pPr lvl="0"/>
            <a:r>
              <a:rPr lang="en-CA" dirty="0"/>
              <a:t>Subtitle</a:t>
            </a:r>
          </a:p>
        </p:txBody>
      </p:sp>
      <p:pic>
        <p:nvPicPr>
          <p:cNvPr id="12" name="Picture 11"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3" name="Picture 12"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20"/>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2797116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key point slide</a:t>
            </a:r>
            <a:endParaRPr lang="en-US" dirty="0"/>
          </a:p>
        </p:txBody>
      </p:sp>
      <p:sp>
        <p:nvSpPr>
          <p:cNvPr id="14" name="Text Placeholder 5"/>
          <p:cNvSpPr>
            <a:spLocks noGrp="1"/>
          </p:cNvSpPr>
          <p:nvPr>
            <p:ph type="body" sz="quarter" idx="15" hasCustomPrompt="1"/>
          </p:nvPr>
        </p:nvSpPr>
        <p:spPr>
          <a:xfrm>
            <a:off x="609602" y="1803401"/>
            <a:ext cx="3504662"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4355533" y="1803401"/>
            <a:ext cx="3482660"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8088847" y="1803401"/>
            <a:ext cx="3504744"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1" name="Picture 10"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2" name="Picture 11"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3"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92080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key point slide with subtitles</a:t>
            </a:r>
            <a:endParaRPr lang="en-US" dirty="0"/>
          </a:p>
        </p:txBody>
      </p:sp>
      <p:sp>
        <p:nvSpPr>
          <p:cNvPr id="14" name="Text Placeholder 5"/>
          <p:cNvSpPr>
            <a:spLocks noGrp="1"/>
          </p:cNvSpPr>
          <p:nvPr>
            <p:ph type="body" sz="quarter" idx="15" hasCustomPrompt="1"/>
          </p:nvPr>
        </p:nvSpPr>
        <p:spPr>
          <a:xfrm>
            <a:off x="609602" y="2336799"/>
            <a:ext cx="3504662"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4355533" y="2336799"/>
            <a:ext cx="3482660"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8088847" y="2336799"/>
            <a:ext cx="3504744"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6"/>
          <p:cNvSpPr>
            <a:spLocks noGrp="1"/>
          </p:cNvSpPr>
          <p:nvPr>
            <p:ph type="body" sz="quarter" idx="18" hasCustomPrompt="1"/>
          </p:nvPr>
        </p:nvSpPr>
        <p:spPr>
          <a:xfrm>
            <a:off x="609603" y="1803797"/>
            <a:ext cx="3504661" cy="533003"/>
          </a:xfrm>
        </p:spPr>
        <p:txBody>
          <a:bodyPr/>
          <a:lstStyle>
            <a:lvl1pPr>
              <a:defRPr b="1">
                <a:solidFill>
                  <a:srgbClr val="599A83"/>
                </a:solidFill>
              </a:defRPr>
            </a:lvl1pPr>
          </a:lstStyle>
          <a:p>
            <a:pPr lvl="0"/>
            <a:r>
              <a:rPr lang="en-CA" dirty="0"/>
              <a:t>Subtitle</a:t>
            </a:r>
          </a:p>
        </p:txBody>
      </p:sp>
      <p:sp>
        <p:nvSpPr>
          <p:cNvPr id="12" name="Text Placeholder 6"/>
          <p:cNvSpPr>
            <a:spLocks noGrp="1"/>
          </p:cNvSpPr>
          <p:nvPr>
            <p:ph type="body" sz="quarter" idx="19" hasCustomPrompt="1"/>
          </p:nvPr>
        </p:nvSpPr>
        <p:spPr>
          <a:xfrm>
            <a:off x="4355533" y="1803797"/>
            <a:ext cx="3482660" cy="533003"/>
          </a:xfrm>
        </p:spPr>
        <p:txBody>
          <a:bodyPr/>
          <a:lstStyle>
            <a:lvl1pPr>
              <a:defRPr b="1">
                <a:solidFill>
                  <a:srgbClr val="599A83"/>
                </a:solidFill>
              </a:defRPr>
            </a:lvl1pPr>
          </a:lstStyle>
          <a:p>
            <a:pPr lvl="0"/>
            <a:r>
              <a:rPr lang="en-CA" dirty="0"/>
              <a:t>Subtitle</a:t>
            </a:r>
          </a:p>
        </p:txBody>
      </p:sp>
      <p:sp>
        <p:nvSpPr>
          <p:cNvPr id="13" name="Text Placeholder 6"/>
          <p:cNvSpPr>
            <a:spLocks noGrp="1"/>
          </p:cNvSpPr>
          <p:nvPr>
            <p:ph type="body" sz="quarter" idx="20" hasCustomPrompt="1"/>
          </p:nvPr>
        </p:nvSpPr>
        <p:spPr>
          <a:xfrm>
            <a:off x="8088847" y="1803797"/>
            <a:ext cx="3504661" cy="533003"/>
          </a:xfrm>
        </p:spPr>
        <p:txBody>
          <a:bodyPr/>
          <a:lstStyle>
            <a:lvl1pPr>
              <a:defRPr b="1">
                <a:solidFill>
                  <a:srgbClr val="599A83"/>
                </a:solidFill>
              </a:defRPr>
            </a:lvl1pPr>
          </a:lstStyle>
          <a:p>
            <a:pPr lvl="0"/>
            <a:r>
              <a:rPr lang="en-CA" dirty="0"/>
              <a:t>Subtitle</a:t>
            </a:r>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21"/>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175999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Point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6-column key point slide</a:t>
            </a:r>
            <a:endParaRPr lang="en-US" dirty="0"/>
          </a:p>
        </p:txBody>
      </p:sp>
      <p:sp>
        <p:nvSpPr>
          <p:cNvPr id="14" name="Text Placeholder 5"/>
          <p:cNvSpPr>
            <a:spLocks noGrp="1"/>
          </p:cNvSpPr>
          <p:nvPr>
            <p:ph type="body" sz="quarter" idx="15" hasCustomPrompt="1"/>
          </p:nvPr>
        </p:nvSpPr>
        <p:spPr>
          <a:xfrm>
            <a:off x="609602" y="1803401"/>
            <a:ext cx="3504662"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4355533" y="1803401"/>
            <a:ext cx="3482660"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8088847" y="1803401"/>
            <a:ext cx="3504744"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609602" y="3848101"/>
            <a:ext cx="3504662"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4355533" y="3848101"/>
            <a:ext cx="3482660"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8088847" y="3848101"/>
            <a:ext cx="3504744"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21"/>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2918638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6-Point Key Point w/ 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6-point key point slide with subtitles</a:t>
            </a:r>
            <a:endParaRPr lang="en-US" dirty="0"/>
          </a:p>
        </p:txBody>
      </p:sp>
      <p:sp>
        <p:nvSpPr>
          <p:cNvPr id="14" name="Text Placeholder 5"/>
          <p:cNvSpPr>
            <a:spLocks noGrp="1"/>
          </p:cNvSpPr>
          <p:nvPr>
            <p:ph type="body" sz="quarter" idx="15" hasCustomPrompt="1"/>
          </p:nvPr>
        </p:nvSpPr>
        <p:spPr>
          <a:xfrm>
            <a:off x="609602" y="2336800"/>
            <a:ext cx="3504662"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4355533" y="2336800"/>
            <a:ext cx="3482660"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8088847" y="2336800"/>
            <a:ext cx="3504744"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609602" y="4393805"/>
            <a:ext cx="3504662"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4355533" y="4393805"/>
            <a:ext cx="3482660"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8088847" y="4393805"/>
            <a:ext cx="3504744"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7" name="Text Placeholder 6"/>
          <p:cNvSpPr>
            <a:spLocks noGrp="1"/>
          </p:cNvSpPr>
          <p:nvPr>
            <p:ph type="body" sz="quarter" idx="21" hasCustomPrompt="1"/>
          </p:nvPr>
        </p:nvSpPr>
        <p:spPr>
          <a:xfrm>
            <a:off x="609603" y="1803797"/>
            <a:ext cx="3504661" cy="533003"/>
          </a:xfrm>
        </p:spPr>
        <p:txBody>
          <a:bodyPr/>
          <a:lstStyle>
            <a:lvl1pPr>
              <a:defRPr b="1">
                <a:solidFill>
                  <a:srgbClr val="599A83"/>
                </a:solidFill>
              </a:defRPr>
            </a:lvl1pPr>
          </a:lstStyle>
          <a:p>
            <a:pPr lvl="0"/>
            <a:r>
              <a:rPr lang="en-CA" dirty="0"/>
              <a:t>Subtitle</a:t>
            </a:r>
          </a:p>
        </p:txBody>
      </p:sp>
      <p:sp>
        <p:nvSpPr>
          <p:cNvPr id="18" name="Text Placeholder 6"/>
          <p:cNvSpPr>
            <a:spLocks noGrp="1"/>
          </p:cNvSpPr>
          <p:nvPr>
            <p:ph type="body" sz="quarter" idx="22" hasCustomPrompt="1"/>
          </p:nvPr>
        </p:nvSpPr>
        <p:spPr>
          <a:xfrm>
            <a:off x="4355533" y="1803797"/>
            <a:ext cx="3482660" cy="533003"/>
          </a:xfrm>
        </p:spPr>
        <p:txBody>
          <a:bodyPr/>
          <a:lstStyle>
            <a:lvl1pPr>
              <a:defRPr b="1">
                <a:solidFill>
                  <a:srgbClr val="599A83"/>
                </a:solidFill>
              </a:defRPr>
            </a:lvl1pPr>
          </a:lstStyle>
          <a:p>
            <a:pPr lvl="0"/>
            <a:r>
              <a:rPr lang="en-CA" dirty="0"/>
              <a:t>Subtitle</a:t>
            </a:r>
          </a:p>
        </p:txBody>
      </p:sp>
      <p:sp>
        <p:nvSpPr>
          <p:cNvPr id="19" name="Text Placeholder 6"/>
          <p:cNvSpPr>
            <a:spLocks noGrp="1"/>
          </p:cNvSpPr>
          <p:nvPr>
            <p:ph type="body" sz="quarter" idx="23" hasCustomPrompt="1"/>
          </p:nvPr>
        </p:nvSpPr>
        <p:spPr>
          <a:xfrm>
            <a:off x="8088847" y="1803797"/>
            <a:ext cx="3504661" cy="533003"/>
          </a:xfrm>
        </p:spPr>
        <p:txBody>
          <a:bodyPr/>
          <a:lstStyle>
            <a:lvl1pPr>
              <a:defRPr b="1">
                <a:solidFill>
                  <a:srgbClr val="599A83"/>
                </a:solidFill>
              </a:defRPr>
            </a:lvl1pPr>
          </a:lstStyle>
          <a:p>
            <a:pPr lvl="0"/>
            <a:r>
              <a:rPr lang="en-CA" dirty="0"/>
              <a:t>Subtitle</a:t>
            </a:r>
          </a:p>
        </p:txBody>
      </p:sp>
      <p:sp>
        <p:nvSpPr>
          <p:cNvPr id="20" name="Text Placeholder 6"/>
          <p:cNvSpPr>
            <a:spLocks noGrp="1"/>
          </p:cNvSpPr>
          <p:nvPr>
            <p:ph type="body" sz="quarter" idx="24" hasCustomPrompt="1"/>
          </p:nvPr>
        </p:nvSpPr>
        <p:spPr>
          <a:xfrm>
            <a:off x="609603" y="3860802"/>
            <a:ext cx="3504661" cy="533003"/>
          </a:xfrm>
        </p:spPr>
        <p:txBody>
          <a:bodyPr/>
          <a:lstStyle>
            <a:lvl1pPr>
              <a:defRPr b="1">
                <a:solidFill>
                  <a:srgbClr val="599A83"/>
                </a:solidFill>
              </a:defRPr>
            </a:lvl1pPr>
          </a:lstStyle>
          <a:p>
            <a:pPr lvl="0"/>
            <a:r>
              <a:rPr lang="en-CA" dirty="0"/>
              <a:t>Subtitle</a:t>
            </a:r>
          </a:p>
        </p:txBody>
      </p:sp>
      <p:sp>
        <p:nvSpPr>
          <p:cNvPr id="21" name="Text Placeholder 6"/>
          <p:cNvSpPr>
            <a:spLocks noGrp="1"/>
          </p:cNvSpPr>
          <p:nvPr>
            <p:ph type="body" sz="quarter" idx="25" hasCustomPrompt="1"/>
          </p:nvPr>
        </p:nvSpPr>
        <p:spPr>
          <a:xfrm>
            <a:off x="4355533" y="3860802"/>
            <a:ext cx="3482660" cy="533003"/>
          </a:xfrm>
        </p:spPr>
        <p:txBody>
          <a:bodyPr/>
          <a:lstStyle>
            <a:lvl1pPr>
              <a:defRPr b="1">
                <a:solidFill>
                  <a:srgbClr val="599A83"/>
                </a:solidFill>
              </a:defRPr>
            </a:lvl1pPr>
          </a:lstStyle>
          <a:p>
            <a:pPr lvl="0"/>
            <a:r>
              <a:rPr lang="en-CA" dirty="0"/>
              <a:t>Subtitle</a:t>
            </a:r>
          </a:p>
        </p:txBody>
      </p:sp>
      <p:sp>
        <p:nvSpPr>
          <p:cNvPr id="22" name="Text Placeholder 6"/>
          <p:cNvSpPr>
            <a:spLocks noGrp="1"/>
          </p:cNvSpPr>
          <p:nvPr>
            <p:ph type="body" sz="quarter" idx="26" hasCustomPrompt="1"/>
          </p:nvPr>
        </p:nvSpPr>
        <p:spPr>
          <a:xfrm>
            <a:off x="8088847" y="3860802"/>
            <a:ext cx="3504661" cy="533003"/>
          </a:xfrm>
        </p:spPr>
        <p:txBody>
          <a:bodyPr/>
          <a:lstStyle>
            <a:lvl1pPr>
              <a:defRPr b="1">
                <a:solidFill>
                  <a:srgbClr val="599A83"/>
                </a:solidFill>
              </a:defRPr>
            </a:lvl1pPr>
          </a:lstStyle>
          <a:p>
            <a:pPr lvl="0"/>
            <a:r>
              <a:rPr lang="en-CA" dirty="0"/>
              <a:t>Subtitle</a:t>
            </a:r>
          </a:p>
        </p:txBody>
      </p:sp>
      <p:pic>
        <p:nvPicPr>
          <p:cNvPr id="23" name="Picture 2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4" name="Picture 2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5" name="Slide Number Placeholder 8"/>
          <p:cNvSpPr>
            <a:spLocks noGrp="1"/>
          </p:cNvSpPr>
          <p:nvPr>
            <p:ph type="sldNum" sz="quarter" idx="27"/>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24987489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Col Bulk Conte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1-column bulk content slide for long content.</a:t>
            </a:r>
            <a:endParaRPr lang="en-US" dirty="0"/>
          </a:p>
        </p:txBody>
      </p:sp>
      <p:sp>
        <p:nvSpPr>
          <p:cNvPr id="12" name="Text Placeholder 5"/>
          <p:cNvSpPr>
            <a:spLocks noGrp="1"/>
          </p:cNvSpPr>
          <p:nvPr>
            <p:ph type="body" sz="quarter" idx="15" hasCustomPrompt="1"/>
          </p:nvPr>
        </p:nvSpPr>
        <p:spPr>
          <a:xfrm>
            <a:off x="609602" y="1803401"/>
            <a:ext cx="8710984" cy="3848100"/>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solidFill>
                  <a:srgbClr val="599A83"/>
                </a:solidFill>
              </a:defRPr>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4" name="Picture 1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23196645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Col Bulk Content, No Title">
    <p:bg>
      <p:bgPr>
        <a:solidFill>
          <a:schemeClr val="bg1"/>
        </a:solidFill>
        <a:effectLst/>
      </p:bgPr>
    </p:bg>
    <p:spTree>
      <p:nvGrpSpPr>
        <p:cNvPr id="1" name=""/>
        <p:cNvGrpSpPr/>
        <p:nvPr/>
      </p:nvGrpSpPr>
      <p:grpSpPr>
        <a:xfrm>
          <a:off x="0" y="0"/>
          <a:ext cx="0" cy="0"/>
          <a:chOff x="0" y="0"/>
          <a:chExt cx="0" cy="0"/>
        </a:xfrm>
      </p:grpSpPr>
      <p:sp>
        <p:nvSpPr>
          <p:cNvPr id="11" name="Text Placeholder 5"/>
          <p:cNvSpPr>
            <a:spLocks noGrp="1"/>
          </p:cNvSpPr>
          <p:nvPr>
            <p:ph type="body" sz="quarter" idx="15" hasCustomPrompt="1"/>
          </p:nvPr>
        </p:nvSpPr>
        <p:spPr>
          <a:xfrm>
            <a:off x="609602" y="495299"/>
            <a:ext cx="8710984" cy="5156202"/>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solidFill>
                  <a:srgbClr val="599A83"/>
                </a:solidFill>
              </a:defRPr>
            </a:lvl4pPr>
          </a:lstStyle>
          <a:p>
            <a:pPr lvl="0"/>
            <a:r>
              <a:rPr lang="en-CA" dirty="0"/>
              <a:t>This is a 1-column bulk content slide without a title. 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5" name="Picture 14"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24311755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2-column bulk content slide for long content.</a:t>
            </a:r>
            <a:endParaRPr lang="en-US" dirty="0"/>
          </a:p>
        </p:txBody>
      </p:sp>
      <p:sp>
        <p:nvSpPr>
          <p:cNvPr id="12" name="Text Placeholder 5"/>
          <p:cNvSpPr>
            <a:spLocks noGrp="1"/>
          </p:cNvSpPr>
          <p:nvPr>
            <p:ph type="body" sz="quarter" idx="15" hasCustomPrompt="1"/>
          </p:nvPr>
        </p:nvSpPr>
        <p:spPr>
          <a:xfrm>
            <a:off x="609602" y="2336799"/>
            <a:ext cx="5371319"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6222269" y="2336799"/>
            <a:ext cx="5360131"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609602" y="1803797"/>
            <a:ext cx="5371318"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6222268" y="1803797"/>
            <a:ext cx="5360131" cy="533003"/>
          </a:xfrm>
        </p:spPr>
        <p:txBody>
          <a:bodyPr/>
          <a:lstStyle>
            <a:lvl1pPr>
              <a:defRPr sz="1575" b="1">
                <a:solidFill>
                  <a:srgbClr val="599A83"/>
                </a:solidFill>
              </a:defRPr>
            </a:lvl1pPr>
          </a:lstStyle>
          <a:p>
            <a:pPr lvl="0"/>
            <a:r>
              <a:rPr lang="en-CA" dirty="0"/>
              <a:t>Bulk content columns always have subtitles</a:t>
            </a:r>
          </a:p>
        </p:txBody>
      </p:sp>
      <p:pic>
        <p:nvPicPr>
          <p:cNvPr id="17" name="Picture 16"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8" name="Picture 1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9"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1492165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bulk content slide for long content.</a:t>
            </a:r>
            <a:endParaRPr lang="en-US" dirty="0"/>
          </a:p>
        </p:txBody>
      </p:sp>
      <p:sp>
        <p:nvSpPr>
          <p:cNvPr id="12" name="Text Placeholder 5"/>
          <p:cNvSpPr>
            <a:spLocks noGrp="1"/>
          </p:cNvSpPr>
          <p:nvPr>
            <p:ph type="body" sz="quarter" idx="15" hasCustomPrompt="1"/>
          </p:nvPr>
        </p:nvSpPr>
        <p:spPr>
          <a:xfrm>
            <a:off x="609602" y="2336799"/>
            <a:ext cx="3504662"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8088848" y="2336799"/>
            <a:ext cx="3493552"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609603" y="1803797"/>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088847" y="1803797"/>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4355535" y="2336799"/>
            <a:ext cx="3482658"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8" name="Text Placeholder 6"/>
          <p:cNvSpPr>
            <a:spLocks noGrp="1"/>
          </p:cNvSpPr>
          <p:nvPr>
            <p:ph type="body" sz="quarter" idx="25" hasCustomPrompt="1"/>
          </p:nvPr>
        </p:nvSpPr>
        <p:spPr>
          <a:xfrm>
            <a:off x="4355534" y="1803797"/>
            <a:ext cx="3482658" cy="533003"/>
          </a:xfrm>
        </p:spPr>
        <p:txBody>
          <a:bodyPr/>
          <a:lstStyle>
            <a:lvl1pPr>
              <a:defRPr sz="1575" b="1">
                <a:solidFill>
                  <a:srgbClr val="599A83"/>
                </a:solidFill>
              </a:defRPr>
            </a:lvl1pPr>
          </a:lstStyle>
          <a:p>
            <a:pPr lvl="0"/>
            <a:r>
              <a:rPr lang="en-CA" dirty="0"/>
              <a:t>Bulk content columns always have subtitles</a:t>
            </a:r>
          </a:p>
        </p:txBody>
      </p:sp>
      <p:pic>
        <p:nvPicPr>
          <p:cNvPr id="19" name="Picture 18"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0" name="Picture 19"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1"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17281163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6-Point Bulk Content">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30" hasCustomPrompt="1"/>
          </p:nvPr>
        </p:nvSpPr>
        <p:spPr>
          <a:xfrm>
            <a:off x="609602" y="4393804"/>
            <a:ext cx="350466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28" name="Text Placeholder 5"/>
          <p:cNvSpPr>
            <a:spLocks noGrp="1"/>
          </p:cNvSpPr>
          <p:nvPr>
            <p:ph type="body" sz="quarter" idx="31" hasCustomPrompt="1"/>
          </p:nvPr>
        </p:nvSpPr>
        <p:spPr>
          <a:xfrm>
            <a:off x="8088848" y="4393804"/>
            <a:ext cx="349355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29" name="Text Placeholder 6"/>
          <p:cNvSpPr>
            <a:spLocks noGrp="1"/>
          </p:cNvSpPr>
          <p:nvPr>
            <p:ph type="body" sz="quarter" idx="32" hasCustomPrompt="1"/>
          </p:nvPr>
        </p:nvSpPr>
        <p:spPr>
          <a:xfrm>
            <a:off x="609603" y="3860802"/>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30" name="Text Placeholder 6"/>
          <p:cNvSpPr>
            <a:spLocks noGrp="1"/>
          </p:cNvSpPr>
          <p:nvPr>
            <p:ph type="body" sz="quarter" idx="33" hasCustomPrompt="1"/>
          </p:nvPr>
        </p:nvSpPr>
        <p:spPr>
          <a:xfrm>
            <a:off x="8088847" y="3860802"/>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31" name="Text Placeholder 5"/>
          <p:cNvSpPr>
            <a:spLocks noGrp="1"/>
          </p:cNvSpPr>
          <p:nvPr>
            <p:ph type="body" sz="quarter" idx="34" hasCustomPrompt="1"/>
          </p:nvPr>
        </p:nvSpPr>
        <p:spPr>
          <a:xfrm>
            <a:off x="4355535" y="4393804"/>
            <a:ext cx="3482658"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32" name="Text Placeholder 6"/>
          <p:cNvSpPr>
            <a:spLocks noGrp="1"/>
          </p:cNvSpPr>
          <p:nvPr>
            <p:ph type="body" sz="quarter" idx="35" hasCustomPrompt="1"/>
          </p:nvPr>
        </p:nvSpPr>
        <p:spPr>
          <a:xfrm>
            <a:off x="4355534" y="3860802"/>
            <a:ext cx="3482658" cy="533003"/>
          </a:xfrm>
        </p:spPr>
        <p:txBody>
          <a:bodyPr/>
          <a:lstStyle>
            <a:lvl1pPr>
              <a:defRPr sz="1575" b="1">
                <a:solidFill>
                  <a:srgbClr val="599A83"/>
                </a:solidFill>
              </a:defRPr>
            </a:lvl1pPr>
          </a:lstStyle>
          <a:p>
            <a:pPr lvl="0"/>
            <a:r>
              <a:rPr lang="en-CA" dirty="0"/>
              <a:t>Bulk content columns always have subtitles</a:t>
            </a:r>
          </a:p>
        </p:txBody>
      </p:sp>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6-point bulk content slide for long content.</a:t>
            </a:r>
            <a:endParaRPr lang="en-US" dirty="0"/>
          </a:p>
        </p:txBody>
      </p:sp>
      <p:sp>
        <p:nvSpPr>
          <p:cNvPr id="12" name="Text Placeholder 5"/>
          <p:cNvSpPr>
            <a:spLocks noGrp="1"/>
          </p:cNvSpPr>
          <p:nvPr>
            <p:ph type="body" sz="quarter" idx="15" hasCustomPrompt="1"/>
          </p:nvPr>
        </p:nvSpPr>
        <p:spPr>
          <a:xfrm>
            <a:off x="609602" y="2336800"/>
            <a:ext cx="350466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4" name="Text Placeholder 5"/>
          <p:cNvSpPr>
            <a:spLocks noGrp="1"/>
          </p:cNvSpPr>
          <p:nvPr>
            <p:ph type="body" sz="quarter" idx="18" hasCustomPrompt="1"/>
          </p:nvPr>
        </p:nvSpPr>
        <p:spPr>
          <a:xfrm>
            <a:off x="8088848" y="2336800"/>
            <a:ext cx="349355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5" name="Text Placeholder 6"/>
          <p:cNvSpPr>
            <a:spLocks noGrp="1"/>
          </p:cNvSpPr>
          <p:nvPr>
            <p:ph type="body" sz="quarter" idx="21" hasCustomPrompt="1"/>
          </p:nvPr>
        </p:nvSpPr>
        <p:spPr>
          <a:xfrm>
            <a:off x="609603" y="1803797"/>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088847" y="1803797"/>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4355535" y="2336800"/>
            <a:ext cx="3482658"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8" name="Text Placeholder 6"/>
          <p:cNvSpPr>
            <a:spLocks noGrp="1"/>
          </p:cNvSpPr>
          <p:nvPr>
            <p:ph type="body" sz="quarter" idx="25" hasCustomPrompt="1"/>
          </p:nvPr>
        </p:nvSpPr>
        <p:spPr>
          <a:xfrm>
            <a:off x="4355534" y="1803797"/>
            <a:ext cx="3482658" cy="533003"/>
          </a:xfrm>
        </p:spPr>
        <p:txBody>
          <a:bodyPr/>
          <a:lstStyle>
            <a:lvl1pPr>
              <a:defRPr sz="1575" b="1">
                <a:solidFill>
                  <a:srgbClr val="599A83"/>
                </a:solidFill>
              </a:defRPr>
            </a:lvl1pPr>
          </a:lstStyle>
          <a:p>
            <a:pPr lvl="0"/>
            <a:r>
              <a:rPr lang="en-CA" dirty="0"/>
              <a:t>Bulk content columns always have subtitles</a:t>
            </a:r>
          </a:p>
        </p:txBody>
      </p:sp>
      <p:pic>
        <p:nvPicPr>
          <p:cNvPr id="33" name="Picture 3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34" name="Picture 3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3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11668559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Key Numbers Large">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2895600"/>
            <a:ext cx="3504662" cy="2759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4355533" y="2895600"/>
            <a:ext cx="3482660" cy="2759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8088847" y="2895600"/>
            <a:ext cx="3504744" cy="2759354"/>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609601" y="1856581"/>
            <a:ext cx="3504663" cy="919747"/>
          </a:xfrm>
        </p:spPr>
        <p:txBody>
          <a:bodyPr anchor="b"/>
          <a:lstStyle>
            <a:lvl1pPr>
              <a:lnSpc>
                <a:spcPct val="80000"/>
              </a:lnSpc>
              <a:defRPr sz="8399">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4355534" y="1856581"/>
            <a:ext cx="3482659" cy="919747"/>
          </a:xfrm>
        </p:spPr>
        <p:txBody>
          <a:bodyPr anchor="b"/>
          <a:lstStyle>
            <a:lvl1pPr>
              <a:lnSpc>
                <a:spcPct val="80000"/>
              </a:lnSpc>
              <a:defRPr sz="8399">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8088847" y="1856581"/>
            <a:ext cx="3504744" cy="919747"/>
          </a:xfrm>
        </p:spPr>
        <p:txBody>
          <a:bodyPr anchor="b"/>
          <a:lstStyle>
            <a:lvl1pPr>
              <a:lnSpc>
                <a:spcPct val="80000"/>
              </a:lnSpc>
              <a:defRPr sz="8399">
                <a:solidFill>
                  <a:srgbClr val="599A83"/>
                </a:solidFill>
              </a:defRPr>
            </a:lvl1pPr>
          </a:lstStyle>
          <a:p>
            <a:pPr lvl="0"/>
            <a:r>
              <a:rPr lang="en-CA" dirty="0"/>
              <a:t>#,###</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key numbers slide for short numbers.</a:t>
            </a:r>
            <a:endParaRPr lang="en-US" dirty="0"/>
          </a:p>
        </p:txBody>
      </p:sp>
      <p:pic>
        <p:nvPicPr>
          <p:cNvPr id="33" name="Picture 3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34" name="Picture 3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35" name="Slide Number Placeholder 8"/>
          <p:cNvSpPr>
            <a:spLocks noGrp="1"/>
          </p:cNvSpPr>
          <p:nvPr>
            <p:ph type="sldNum" sz="quarter" idx="24"/>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25097971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Key Numbers Medium">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2776327"/>
            <a:ext cx="3504662" cy="2878627"/>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4355533" y="2776327"/>
            <a:ext cx="3482660" cy="2878627"/>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8088847" y="2776327"/>
            <a:ext cx="3504744" cy="2878627"/>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609601" y="1831182"/>
            <a:ext cx="3504663" cy="945146"/>
          </a:xfrm>
        </p:spPr>
        <p:txBody>
          <a:bodyPr anchor="t"/>
          <a:lstStyle>
            <a:lvl1pPr>
              <a:lnSpc>
                <a:spcPct val="80000"/>
              </a:lnSpc>
              <a:defRPr sz="5399">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4355534" y="1856581"/>
            <a:ext cx="3482659" cy="919747"/>
          </a:xfrm>
        </p:spPr>
        <p:txBody>
          <a:bodyPr anchor="t"/>
          <a:lstStyle>
            <a:lvl1pPr>
              <a:lnSpc>
                <a:spcPct val="80000"/>
              </a:lnSpc>
              <a:defRPr sz="5399">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8088847" y="1856581"/>
            <a:ext cx="3504744" cy="919747"/>
          </a:xfrm>
        </p:spPr>
        <p:txBody>
          <a:bodyPr anchor="t"/>
          <a:lstStyle>
            <a:lvl1pPr>
              <a:lnSpc>
                <a:spcPct val="80000"/>
              </a:lnSpc>
              <a:defRPr sz="5399">
                <a:solidFill>
                  <a:srgbClr val="599A83"/>
                </a:solidFill>
              </a:defRPr>
            </a:lvl1pPr>
          </a:lstStyle>
          <a:p>
            <a:pPr lvl="0"/>
            <a:r>
              <a:rPr lang="en-CA" dirty="0"/>
              <a:t>#,###,####</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key numbers slide for long numbers.</a:t>
            </a:r>
            <a:endParaRPr lang="en-US" dirty="0"/>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6" name="Picture 15"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7" name="Slide Number Placeholder 8"/>
          <p:cNvSpPr>
            <a:spLocks noGrp="1"/>
          </p:cNvSpPr>
          <p:nvPr>
            <p:ph type="sldNum" sz="quarter" idx="24"/>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15829491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Key Points with Icons">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3403600"/>
            <a:ext cx="3504662" cy="2251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3" name="Text Placeholder 5"/>
          <p:cNvSpPr>
            <a:spLocks noGrp="1"/>
          </p:cNvSpPr>
          <p:nvPr>
            <p:ph type="body" sz="quarter" idx="19" hasCustomPrompt="1"/>
          </p:nvPr>
        </p:nvSpPr>
        <p:spPr>
          <a:xfrm>
            <a:off x="4355533" y="3403600"/>
            <a:ext cx="3482660" cy="2251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6" name="Text Placeholder 5"/>
          <p:cNvSpPr>
            <a:spLocks noGrp="1"/>
          </p:cNvSpPr>
          <p:nvPr>
            <p:ph type="body" sz="quarter" idx="23" hasCustomPrompt="1"/>
          </p:nvPr>
        </p:nvSpPr>
        <p:spPr>
          <a:xfrm>
            <a:off x="8088847" y="3403600"/>
            <a:ext cx="3504744" cy="2251354"/>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chemeClr val="accent1"/>
                </a:solidFill>
              </a:defRPr>
            </a:lvl1pPr>
          </a:lstStyle>
          <a:p>
            <a:r>
              <a:rPr lang="en-CA" dirty="0"/>
              <a:t>This is a key point slide with icons to illustrate points.</a:t>
            </a:r>
            <a:endParaRPr lang="en-US" dirty="0"/>
          </a:p>
        </p:txBody>
      </p:sp>
      <p:sp>
        <p:nvSpPr>
          <p:cNvPr id="12" name="Oval 11"/>
          <p:cNvSpPr/>
          <p:nvPr/>
        </p:nvSpPr>
        <p:spPr>
          <a:xfrm>
            <a:off x="546048"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3" name="Picture Placeholder 3"/>
          <p:cNvSpPr>
            <a:spLocks noGrp="1" noChangeAspect="1"/>
          </p:cNvSpPr>
          <p:nvPr>
            <p:ph type="pic" sz="quarter" idx="26" hasCustomPrompt="1"/>
          </p:nvPr>
        </p:nvSpPr>
        <p:spPr>
          <a:xfrm>
            <a:off x="880138" y="2175520"/>
            <a:ext cx="648524" cy="648000"/>
          </a:xfrm>
        </p:spPr>
        <p:txBody>
          <a:bodyPr/>
          <a:lstStyle>
            <a:lvl1pPr>
              <a:defRPr>
                <a:solidFill>
                  <a:schemeClr val="bg1"/>
                </a:solidFill>
              </a:defRPr>
            </a:lvl1pPr>
          </a:lstStyle>
          <a:p>
            <a:r>
              <a:rPr lang="en-US" dirty="0"/>
              <a:t>Icon</a:t>
            </a:r>
          </a:p>
        </p:txBody>
      </p:sp>
      <p:sp>
        <p:nvSpPr>
          <p:cNvPr id="14" name="Oval 13"/>
          <p:cNvSpPr/>
          <p:nvPr/>
        </p:nvSpPr>
        <p:spPr>
          <a:xfrm>
            <a:off x="4292041"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5" name="Picture Placeholder 3"/>
          <p:cNvSpPr>
            <a:spLocks noGrp="1" noChangeAspect="1"/>
          </p:cNvSpPr>
          <p:nvPr>
            <p:ph type="pic" sz="quarter" idx="27" hasCustomPrompt="1"/>
          </p:nvPr>
        </p:nvSpPr>
        <p:spPr>
          <a:xfrm>
            <a:off x="4626130" y="2175520"/>
            <a:ext cx="648523" cy="648000"/>
          </a:xfrm>
        </p:spPr>
        <p:txBody>
          <a:bodyPr/>
          <a:lstStyle>
            <a:lvl1pPr>
              <a:defRPr>
                <a:solidFill>
                  <a:schemeClr val="bg1"/>
                </a:solidFill>
              </a:defRPr>
            </a:lvl1pPr>
          </a:lstStyle>
          <a:p>
            <a:r>
              <a:rPr lang="en-US" dirty="0"/>
              <a:t>Icon</a:t>
            </a:r>
          </a:p>
        </p:txBody>
      </p:sp>
      <p:sp>
        <p:nvSpPr>
          <p:cNvPr id="16" name="Oval 15"/>
          <p:cNvSpPr/>
          <p:nvPr/>
        </p:nvSpPr>
        <p:spPr>
          <a:xfrm>
            <a:off x="8025355"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7" name="Picture Placeholder 3"/>
          <p:cNvSpPr>
            <a:spLocks noGrp="1" noChangeAspect="1"/>
          </p:cNvSpPr>
          <p:nvPr>
            <p:ph type="pic" sz="quarter" idx="28" hasCustomPrompt="1"/>
          </p:nvPr>
        </p:nvSpPr>
        <p:spPr>
          <a:xfrm>
            <a:off x="8359737" y="2175520"/>
            <a:ext cx="647937" cy="648000"/>
          </a:xfrm>
        </p:spPr>
        <p:txBody>
          <a:bodyPr/>
          <a:lstStyle>
            <a:lvl1pPr>
              <a:defRPr>
                <a:solidFill>
                  <a:schemeClr val="bg1"/>
                </a:solidFill>
              </a:defRPr>
            </a:lvl1pPr>
          </a:lstStyle>
          <a:p>
            <a:r>
              <a:rPr lang="en-US" dirty="0"/>
              <a:t>Icon</a:t>
            </a:r>
          </a:p>
        </p:txBody>
      </p:sp>
      <p:pic>
        <p:nvPicPr>
          <p:cNvPr id="18" name="Picture 17"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9" name="Picture 18"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0" name="Slide Number Placeholder 8"/>
          <p:cNvSpPr>
            <a:spLocks noGrp="1"/>
          </p:cNvSpPr>
          <p:nvPr>
            <p:ph type="sldNum" sz="quarter" idx="2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24098253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Video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5" name="Media Placeholder 4"/>
          <p:cNvSpPr>
            <a:spLocks noGrp="1"/>
          </p:cNvSpPr>
          <p:nvPr>
            <p:ph type="media" sz="quarter" idx="10" hasCustomPrompt="1"/>
          </p:nvPr>
        </p:nvSpPr>
        <p:spPr>
          <a:xfrm>
            <a:off x="2465067" y="622300"/>
            <a:ext cx="7261866" cy="5626100"/>
          </a:xfrm>
        </p:spPr>
        <p:txBody>
          <a:bodyPr/>
          <a:lstStyle>
            <a:lvl1pPr>
              <a:defRPr>
                <a:solidFill>
                  <a:schemeClr val="bg1"/>
                </a:solidFill>
              </a:defRPr>
            </a:lvl1pPr>
          </a:lstStyle>
          <a:p>
            <a:r>
              <a:rPr lang="en-US" dirty="0"/>
              <a:t>Click this icon to insert a video</a:t>
            </a:r>
          </a:p>
        </p:txBody>
      </p:sp>
    </p:spTree>
    <p:extLst>
      <p:ext uri="{BB962C8B-B14F-4D97-AF65-F5344CB8AC3E}">
        <p14:creationId xmlns:p14="http://schemas.microsoft.com/office/powerpoint/2010/main" val="42634640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s or Stats V1">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6" name="Picture 5"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3" name="Rectangle 2"/>
          <p:cNvSpPr/>
          <p:nvPr/>
        </p:nvSpPr>
        <p:spPr>
          <a:xfrm>
            <a:off x="603966" y="628650"/>
            <a:ext cx="10984069" cy="56007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2" name="Title 1"/>
          <p:cNvSpPr>
            <a:spLocks noGrp="1"/>
          </p:cNvSpPr>
          <p:nvPr>
            <p:ph type="title" hasCustomPrompt="1"/>
          </p:nvPr>
        </p:nvSpPr>
        <p:spPr>
          <a:xfrm>
            <a:off x="2465067" y="2090307"/>
            <a:ext cx="7261866" cy="2619502"/>
          </a:xfrm>
        </p:spPr>
        <p:txBody>
          <a:bodyPr/>
          <a:lstStyle>
            <a:lvl1pPr algn="ctr">
              <a:lnSpc>
                <a:spcPct val="110000"/>
              </a:lnSpc>
              <a:defRPr sz="3600" baseline="0">
                <a:solidFill>
                  <a:srgbClr val="599A83"/>
                </a:solidFill>
              </a:defRPr>
            </a:lvl1pPr>
          </a:lstStyle>
          <a:p>
            <a:r>
              <a:rPr lang="en-CA" dirty="0"/>
              <a:t>Enter an impressive statistic or fact. e.g. 98% of Algonquin students have been hired immediately after graduation.</a:t>
            </a:r>
            <a:endParaRPr lang="en-US" dirty="0"/>
          </a:p>
        </p:txBody>
      </p:sp>
      <p:sp>
        <p:nvSpPr>
          <p:cNvPr id="7" name="Text Placeholder 6"/>
          <p:cNvSpPr>
            <a:spLocks noGrp="1"/>
          </p:cNvSpPr>
          <p:nvPr>
            <p:ph type="body" sz="quarter" idx="13" hasCustomPrompt="1"/>
          </p:nvPr>
        </p:nvSpPr>
        <p:spPr>
          <a:xfrm>
            <a:off x="2465067" y="1593878"/>
            <a:ext cx="7261866" cy="383034"/>
          </a:xfrm>
        </p:spPr>
        <p:txBody>
          <a:bodyPr anchor="ctr"/>
          <a:lstStyle>
            <a:lvl1pPr algn="ctr">
              <a:lnSpc>
                <a:spcPct val="100000"/>
              </a:lnSpc>
              <a:defRPr sz="1575" b="1">
                <a:solidFill>
                  <a:schemeClr val="tx2"/>
                </a:solidFill>
              </a:defRPr>
            </a:lvl1pPr>
          </a:lstStyle>
          <a:p>
            <a:pPr lvl="0"/>
            <a:r>
              <a:rPr lang="en-CA" dirty="0"/>
              <a:t>THIS IS THE TITLE OF YOUR STATISTIC</a:t>
            </a:r>
            <a:endParaRPr lang="en-US" dirty="0"/>
          </a:p>
        </p:txBody>
      </p:sp>
      <p:sp>
        <p:nvSpPr>
          <p:cNvPr id="9" name="Text Placeholder 8"/>
          <p:cNvSpPr>
            <a:spLocks noGrp="1"/>
          </p:cNvSpPr>
          <p:nvPr>
            <p:ph type="body" sz="quarter" idx="14" hasCustomPrompt="1"/>
          </p:nvPr>
        </p:nvSpPr>
        <p:spPr>
          <a:xfrm>
            <a:off x="2465067" y="4921484"/>
            <a:ext cx="7261866" cy="291603"/>
          </a:xfrm>
        </p:spPr>
        <p:txBody>
          <a:bodyPr anchor="ctr"/>
          <a:lstStyle>
            <a:lvl1pPr algn="ctr">
              <a:defRPr sz="1200"/>
            </a:lvl1pPr>
          </a:lstStyle>
          <a:p>
            <a:pPr lvl="0"/>
            <a:r>
              <a:rPr lang="en-CA" dirty="0"/>
              <a:t>THIS IS A SPACE FOR A CITATION OR SOURCE</a:t>
            </a:r>
            <a:endParaRPr lang="en-US" dirty="0"/>
          </a:p>
        </p:txBody>
      </p:sp>
    </p:spTree>
    <p:extLst>
      <p:ext uri="{BB962C8B-B14F-4D97-AF65-F5344CB8AC3E}">
        <p14:creationId xmlns:p14="http://schemas.microsoft.com/office/powerpoint/2010/main" val="39691560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s or Stats V2">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5" name="Picture 4"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8" name="Title 1"/>
          <p:cNvSpPr>
            <a:spLocks noGrp="1"/>
          </p:cNvSpPr>
          <p:nvPr>
            <p:ph type="title" hasCustomPrompt="1"/>
          </p:nvPr>
        </p:nvSpPr>
        <p:spPr>
          <a:xfrm>
            <a:off x="2465067" y="2090307"/>
            <a:ext cx="7261866" cy="2619502"/>
          </a:xfrm>
        </p:spPr>
        <p:txBody>
          <a:bodyPr/>
          <a:lstStyle>
            <a:lvl1pPr algn="ctr">
              <a:lnSpc>
                <a:spcPct val="110000"/>
              </a:lnSpc>
              <a:defRPr sz="3600" baseline="0">
                <a:solidFill>
                  <a:srgbClr val="A6C8BC"/>
                </a:solidFill>
              </a:defRPr>
            </a:lvl1pPr>
          </a:lstStyle>
          <a:p>
            <a:r>
              <a:rPr lang="en-CA" dirty="0"/>
              <a:t>Enter an impressive statistic or fact. e.g. 98% of Algonquin students have been hired immediately after graduation.</a:t>
            </a:r>
            <a:endParaRPr lang="en-US" dirty="0"/>
          </a:p>
        </p:txBody>
      </p:sp>
      <p:sp>
        <p:nvSpPr>
          <p:cNvPr id="10" name="Text Placeholder 6"/>
          <p:cNvSpPr>
            <a:spLocks noGrp="1"/>
          </p:cNvSpPr>
          <p:nvPr>
            <p:ph type="body" sz="quarter" idx="13" hasCustomPrompt="1"/>
          </p:nvPr>
        </p:nvSpPr>
        <p:spPr>
          <a:xfrm>
            <a:off x="2465067" y="1593878"/>
            <a:ext cx="7261866" cy="383034"/>
          </a:xfrm>
        </p:spPr>
        <p:txBody>
          <a:bodyPr anchor="ctr"/>
          <a:lstStyle>
            <a:lvl1pPr algn="ctr">
              <a:lnSpc>
                <a:spcPct val="100000"/>
              </a:lnSpc>
              <a:defRPr sz="1575" b="1">
                <a:solidFill>
                  <a:schemeClr val="bg1"/>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2465067" y="4921484"/>
            <a:ext cx="7261866" cy="291603"/>
          </a:xfrm>
        </p:spPr>
        <p:txBody>
          <a:bodyPr anchor="ctr"/>
          <a:lstStyle>
            <a:lvl1pPr algn="ctr">
              <a:defRPr sz="12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7918547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s or Stats V3">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campus-scape.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24275"/>
            <a:ext cx="12190809" cy="3133725"/>
          </a:xfrm>
          <a:prstGeom prst="rect">
            <a:avLst/>
          </a:prstGeom>
        </p:spPr>
      </p:pic>
      <p:sp>
        <p:nvSpPr>
          <p:cNvPr id="5" name="Title 1"/>
          <p:cNvSpPr>
            <a:spLocks noGrp="1"/>
          </p:cNvSpPr>
          <p:nvPr>
            <p:ph type="title" hasCustomPrompt="1"/>
          </p:nvPr>
        </p:nvSpPr>
        <p:spPr>
          <a:xfrm>
            <a:off x="2465067" y="985406"/>
            <a:ext cx="7261866" cy="2619502"/>
          </a:xfrm>
        </p:spPr>
        <p:txBody>
          <a:bodyPr/>
          <a:lstStyle>
            <a:lvl1pPr algn="ctr">
              <a:lnSpc>
                <a:spcPct val="110000"/>
              </a:lnSpc>
              <a:defRPr sz="3600" baseline="0">
                <a:solidFill>
                  <a:srgbClr val="A6C8BC"/>
                </a:solidFill>
              </a:defRPr>
            </a:lvl1pPr>
          </a:lstStyle>
          <a:p>
            <a:r>
              <a:rPr lang="en-CA" dirty="0"/>
              <a:t>Enter an impressive statistic or fact. e.g. We raised $1,000,000 this year. Highlight a number by making it bold and white.</a:t>
            </a:r>
            <a:endParaRPr lang="en-US" dirty="0"/>
          </a:p>
        </p:txBody>
      </p:sp>
      <p:sp>
        <p:nvSpPr>
          <p:cNvPr id="6" name="Text Placeholder 6"/>
          <p:cNvSpPr>
            <a:spLocks noGrp="1"/>
          </p:cNvSpPr>
          <p:nvPr>
            <p:ph type="body" sz="quarter" idx="13" hasCustomPrompt="1"/>
          </p:nvPr>
        </p:nvSpPr>
        <p:spPr>
          <a:xfrm>
            <a:off x="2465067" y="488976"/>
            <a:ext cx="7261866" cy="383034"/>
          </a:xfrm>
        </p:spPr>
        <p:txBody>
          <a:bodyPr anchor="ctr"/>
          <a:lstStyle>
            <a:lvl1pPr algn="ctr">
              <a:lnSpc>
                <a:spcPct val="100000"/>
              </a:lnSpc>
              <a:defRPr sz="1575" b="1">
                <a:solidFill>
                  <a:schemeClr val="bg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6851648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s or Stats V4">
    <p:bg>
      <p:bgPr>
        <a:solidFill>
          <a:schemeClr val="bg1"/>
        </a:solidFill>
        <a:effectLst/>
      </p:bgPr>
    </p:bg>
    <p:spTree>
      <p:nvGrpSpPr>
        <p:cNvPr id="1" name=""/>
        <p:cNvGrpSpPr/>
        <p:nvPr/>
      </p:nvGrpSpPr>
      <p:grpSpPr>
        <a:xfrm>
          <a:off x="0" y="0"/>
          <a:ext cx="0" cy="0"/>
          <a:chOff x="0" y="0"/>
          <a:chExt cx="0" cy="0"/>
        </a:xfrm>
      </p:grpSpPr>
      <p:pic>
        <p:nvPicPr>
          <p:cNvPr id="4" name="Picture 3" descr="campus-scap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24275"/>
            <a:ext cx="12190809" cy="3133725"/>
          </a:xfrm>
          <a:prstGeom prst="rect">
            <a:avLst/>
          </a:prstGeom>
        </p:spPr>
      </p:pic>
      <p:sp>
        <p:nvSpPr>
          <p:cNvPr id="5" name="Title 1"/>
          <p:cNvSpPr>
            <a:spLocks noGrp="1"/>
          </p:cNvSpPr>
          <p:nvPr>
            <p:ph type="title" hasCustomPrompt="1"/>
          </p:nvPr>
        </p:nvSpPr>
        <p:spPr>
          <a:xfrm>
            <a:off x="2465067" y="985406"/>
            <a:ext cx="7261866" cy="2619502"/>
          </a:xfrm>
        </p:spPr>
        <p:txBody>
          <a:bodyPr/>
          <a:lstStyle>
            <a:lvl1pPr algn="ctr">
              <a:lnSpc>
                <a:spcPct val="110000"/>
              </a:lnSpc>
              <a:defRPr sz="3600" baseline="0">
                <a:solidFill>
                  <a:srgbClr val="599A83"/>
                </a:solidFill>
              </a:defRPr>
            </a:lvl1pPr>
          </a:lstStyle>
          <a:p>
            <a:r>
              <a:rPr lang="en-CA" dirty="0"/>
              <a:t>Enter an impressive statistic or fact. e.g. We raised $1,000,000 this year. Highlight a number by making it bold and 100% green.</a:t>
            </a:r>
            <a:endParaRPr lang="en-US" dirty="0"/>
          </a:p>
        </p:txBody>
      </p:sp>
      <p:sp>
        <p:nvSpPr>
          <p:cNvPr id="6" name="Text Placeholder 6"/>
          <p:cNvSpPr>
            <a:spLocks noGrp="1"/>
          </p:cNvSpPr>
          <p:nvPr>
            <p:ph type="body" sz="quarter" idx="13" hasCustomPrompt="1"/>
          </p:nvPr>
        </p:nvSpPr>
        <p:spPr>
          <a:xfrm>
            <a:off x="2465067" y="488976"/>
            <a:ext cx="7261866" cy="383034"/>
          </a:xfrm>
        </p:spPr>
        <p:txBody>
          <a:bodyPr anchor="ctr"/>
          <a:lstStyle>
            <a:lvl1pPr algn="ctr">
              <a:lnSpc>
                <a:spcPct val="100000"/>
              </a:lnSpc>
              <a:defRPr sz="1575" b="1">
                <a:solidFill>
                  <a:schemeClr val="accent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30243473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s or Stats v5">
    <p:bg>
      <p:bgRef idx="1001">
        <a:schemeClr val="bg2"/>
      </p:bgRef>
    </p:bg>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0" y="0"/>
            <a:ext cx="6095206" cy="3428553"/>
          </a:xfrm>
          <a:solidFill>
            <a:schemeClr val="bg2"/>
          </a:solidFill>
          <a:ln>
            <a:noFill/>
          </a:ln>
        </p:spPr>
        <p:txBody>
          <a:bodyPr/>
          <a:lstStyle>
            <a:lvl1pPr algn="ctr">
              <a:defRPr baseline="0">
                <a:ln>
                  <a:noFill/>
                </a:ln>
                <a:solidFill>
                  <a:schemeClr val="tx1"/>
                </a:solidFill>
              </a:defRPr>
            </a:lvl1pPr>
          </a:lstStyle>
          <a:p>
            <a:r>
              <a:rPr lang="en-US" dirty="0"/>
              <a:t>Click this icon to insert a background photo, the resize this box so it covers the whole screen. Make sure it’s good quality.</a:t>
            </a:r>
          </a:p>
        </p:txBody>
      </p:sp>
      <p:sp>
        <p:nvSpPr>
          <p:cNvPr id="12" name="Title 1"/>
          <p:cNvSpPr>
            <a:spLocks noGrp="1"/>
          </p:cNvSpPr>
          <p:nvPr>
            <p:ph type="title" hasCustomPrompt="1"/>
          </p:nvPr>
        </p:nvSpPr>
        <p:spPr>
          <a:xfrm>
            <a:off x="2235377" y="1914188"/>
            <a:ext cx="7721246" cy="3029625"/>
          </a:xfrm>
          <a:solidFill>
            <a:srgbClr val="FFFFFF"/>
          </a:solidFill>
          <a:ln>
            <a:noFill/>
          </a:ln>
          <a:effectLst>
            <a:outerShdw blurRad="381000" dir="2700000" sx="98000" sy="98000" algn="tl" rotWithShape="0">
              <a:srgbClr val="000000">
                <a:alpha val="85000"/>
              </a:srgbClr>
            </a:outerShdw>
          </a:effectLst>
        </p:spPr>
        <p:txBody>
          <a:bodyPr lIns="324000" tIns="1080000" rIns="324000" bIns="1080000"/>
          <a:lstStyle>
            <a:lvl1pPr algn="ctr">
              <a:lnSpc>
                <a:spcPct val="90000"/>
              </a:lnSpc>
              <a:defRPr sz="8399">
                <a:solidFill>
                  <a:srgbClr val="599A83"/>
                </a:solidFill>
              </a:defRPr>
            </a:lvl1pPr>
          </a:lstStyle>
          <a:p>
            <a:r>
              <a:rPr lang="en-CA" dirty="0"/>
              <a:t>$#,###,###</a:t>
            </a:r>
            <a:endParaRPr lang="en-US" dirty="0"/>
          </a:p>
        </p:txBody>
      </p:sp>
      <p:sp>
        <p:nvSpPr>
          <p:cNvPr id="10" name="Text Placeholder 6"/>
          <p:cNvSpPr>
            <a:spLocks noGrp="1"/>
          </p:cNvSpPr>
          <p:nvPr>
            <p:ph type="body" sz="quarter" idx="13" hasCustomPrompt="1"/>
          </p:nvPr>
        </p:nvSpPr>
        <p:spPr>
          <a:xfrm>
            <a:off x="2476178" y="2259471"/>
            <a:ext cx="7239644" cy="383034"/>
          </a:xfrm>
        </p:spPr>
        <p:txBody>
          <a:bodyPr anchor="ctr"/>
          <a:lstStyle>
            <a:lvl1pPr algn="ctr">
              <a:lnSpc>
                <a:spcPct val="100000"/>
              </a:lnSpc>
              <a:defRPr sz="1575" b="1" baseline="0">
                <a:solidFill>
                  <a:srgbClr val="00673E"/>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2476178" y="4232939"/>
            <a:ext cx="7239644" cy="291603"/>
          </a:xfrm>
        </p:spPr>
        <p:txBody>
          <a:bodyPr anchor="ctr"/>
          <a:lstStyle>
            <a:lvl1pPr algn="ctr">
              <a:defRPr sz="12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3372838313"/>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Righ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609603" y="1803401"/>
            <a:ext cx="5612587"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609601" y="576274"/>
            <a:ext cx="5612588" cy="1001980"/>
          </a:xfrm>
        </p:spPr>
        <p:txBody>
          <a:bodyPr anchor="t">
            <a:noAutofit/>
          </a:bodyPr>
          <a:lstStyle>
            <a:lvl1pPr>
              <a:defRPr sz="3600" b="1" baseline="0">
                <a:solidFill>
                  <a:srgbClr val="00673E"/>
                </a:solidFill>
              </a:defRPr>
            </a:lvl1pPr>
          </a:lstStyle>
          <a:p>
            <a:r>
              <a:rPr lang="en-CA" dirty="0"/>
              <a:t>A slide with a right-aligned image</a:t>
            </a:r>
            <a:endParaRPr lang="en-US" dirty="0"/>
          </a:p>
        </p:txBody>
      </p:sp>
      <p:sp>
        <p:nvSpPr>
          <p:cNvPr id="10" name="Text Placeholder 9"/>
          <p:cNvSpPr>
            <a:spLocks noGrp="1"/>
          </p:cNvSpPr>
          <p:nvPr>
            <p:ph type="body" sz="quarter" idx="14" hasCustomPrompt="1"/>
          </p:nvPr>
        </p:nvSpPr>
        <p:spPr>
          <a:xfrm>
            <a:off x="2488876" y="4700460"/>
            <a:ext cx="3733314" cy="951040"/>
          </a:xfrm>
        </p:spPr>
        <p:txBody>
          <a:bodyPr anchor="b"/>
          <a:lstStyle>
            <a:lvl1pPr>
              <a:defRPr sz="1575">
                <a:solidFill>
                  <a:srgbClr val="599A83"/>
                </a:solidFill>
              </a:defRPr>
            </a:lvl1pPr>
          </a:lstStyle>
          <a:p>
            <a:pPr lvl="0"/>
            <a:r>
              <a:rPr lang="en-CA" dirty="0"/>
              <a:t>An optional annotation or extra information text box</a:t>
            </a:r>
            <a:endParaRPr lang="en-US" dirty="0"/>
          </a:p>
        </p:txBody>
      </p:sp>
      <p:sp>
        <p:nvSpPr>
          <p:cNvPr id="11" name="Picture Placeholder 4"/>
          <p:cNvSpPr>
            <a:spLocks noGrp="1"/>
          </p:cNvSpPr>
          <p:nvPr>
            <p:ph type="pic" sz="quarter" idx="16" hasCustomPrompt="1"/>
          </p:nvPr>
        </p:nvSpPr>
        <p:spPr>
          <a:xfrm>
            <a:off x="7009488" y="639773"/>
            <a:ext cx="5182512" cy="5011727"/>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7" hasCustomPrompt="1"/>
          </p:nvPr>
        </p:nvSpPr>
        <p:spPr>
          <a:xfrm>
            <a:off x="7009488" y="4057215"/>
            <a:ext cx="3771409" cy="702821"/>
          </a:xfrm>
          <a:solidFill>
            <a:srgbClr val="43B02A"/>
          </a:solidFill>
          <a:ln>
            <a:noFill/>
          </a:ln>
        </p:spPr>
        <p:txBody>
          <a:bodyPr wrap="square" lIns="252000" tIns="252000" rIns="252000" bIns="252000" anchor="ctr">
            <a:spAutoFit/>
          </a:bodyPr>
          <a:lstStyle>
            <a:lvl1pPr>
              <a:lnSpc>
                <a:spcPct val="80000"/>
              </a:lnSpc>
              <a:defRPr sz="1575" b="1" baseline="0">
                <a:ln>
                  <a:noFill/>
                </a:ln>
                <a:solidFill>
                  <a:schemeClr val="bg1"/>
                </a:solidFill>
                <a:effectLst/>
              </a:defRPr>
            </a:lvl1pPr>
          </a:lstStyle>
          <a:p>
            <a:pPr lvl="0"/>
            <a:r>
              <a:rPr lang="en-CA" dirty="0"/>
              <a:t>Optional short caption here</a:t>
            </a:r>
            <a:endParaRPr lang="en-US" dirty="0"/>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6" name="Picture 15"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7"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39856903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5993702" y="1803401"/>
            <a:ext cx="5612587"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5993700" y="576274"/>
            <a:ext cx="5612588" cy="1001980"/>
          </a:xfrm>
        </p:spPr>
        <p:txBody>
          <a:bodyPr anchor="t">
            <a:noAutofit/>
          </a:bodyPr>
          <a:lstStyle>
            <a:lvl1pPr>
              <a:defRPr sz="3600" b="1" baseline="0">
                <a:solidFill>
                  <a:srgbClr val="00673E"/>
                </a:solidFill>
              </a:defRPr>
            </a:lvl1pPr>
          </a:lstStyle>
          <a:p>
            <a:r>
              <a:rPr lang="en-CA" dirty="0"/>
              <a:t>A slide with a left-aligned image</a:t>
            </a:r>
            <a:endParaRPr lang="en-US" dirty="0"/>
          </a:p>
        </p:txBody>
      </p:sp>
      <p:sp>
        <p:nvSpPr>
          <p:cNvPr id="10" name="Text Placeholder 9"/>
          <p:cNvSpPr>
            <a:spLocks noGrp="1"/>
          </p:cNvSpPr>
          <p:nvPr>
            <p:ph type="body" sz="quarter" idx="14" hasCustomPrompt="1"/>
          </p:nvPr>
        </p:nvSpPr>
        <p:spPr>
          <a:xfrm>
            <a:off x="5993700" y="4700460"/>
            <a:ext cx="3733314" cy="951040"/>
          </a:xfrm>
        </p:spPr>
        <p:txBody>
          <a:bodyPr anchor="b"/>
          <a:lstStyle>
            <a:lvl1pPr>
              <a:defRPr sz="1575">
                <a:solidFill>
                  <a:srgbClr val="599A83"/>
                </a:solidFill>
              </a:defRPr>
            </a:lvl1pPr>
          </a:lstStyle>
          <a:p>
            <a:pPr lvl="0"/>
            <a:r>
              <a:rPr lang="en-CA" dirty="0"/>
              <a:t>An optional annotation or extra information text box</a:t>
            </a:r>
            <a:endParaRPr lang="en-US" dirty="0"/>
          </a:p>
        </p:txBody>
      </p:sp>
      <p:sp>
        <p:nvSpPr>
          <p:cNvPr id="14" name="Picture Placeholder 4"/>
          <p:cNvSpPr>
            <a:spLocks noGrp="1"/>
          </p:cNvSpPr>
          <p:nvPr>
            <p:ph type="pic" sz="quarter" idx="16" hasCustomPrompt="1"/>
          </p:nvPr>
        </p:nvSpPr>
        <p:spPr>
          <a:xfrm>
            <a:off x="0" y="639773"/>
            <a:ext cx="5182512" cy="5011727"/>
          </a:xfrm>
        </p:spPr>
        <p:txBody>
          <a:bodyPr/>
          <a:lstStyle>
            <a:lvl1pPr>
              <a:defRPr baseline="0"/>
            </a:lvl1pPr>
          </a:lstStyle>
          <a:p>
            <a:r>
              <a:rPr lang="en-US" dirty="0"/>
              <a:t>Click on this icon to insert a photo.</a:t>
            </a:r>
          </a:p>
        </p:txBody>
      </p:sp>
      <p:sp>
        <p:nvSpPr>
          <p:cNvPr id="15" name="Text Placeholder 8"/>
          <p:cNvSpPr>
            <a:spLocks noGrp="1"/>
          </p:cNvSpPr>
          <p:nvPr>
            <p:ph type="body" sz="quarter" idx="17" hasCustomPrompt="1"/>
          </p:nvPr>
        </p:nvSpPr>
        <p:spPr>
          <a:xfrm>
            <a:off x="1" y="4057215"/>
            <a:ext cx="3771409" cy="702821"/>
          </a:xfrm>
          <a:solidFill>
            <a:srgbClr val="43B02A"/>
          </a:solidFill>
          <a:ln>
            <a:noFill/>
          </a:ln>
        </p:spPr>
        <p:txBody>
          <a:bodyPr wrap="square" lIns="252000" tIns="252000" rIns="252000" bIns="252000" anchor="ctr">
            <a:spAutoFit/>
          </a:bodyPr>
          <a:lstStyle>
            <a:lvl1pPr>
              <a:lnSpc>
                <a:spcPct val="80000"/>
              </a:lnSpc>
              <a:defRPr sz="1575" b="1" baseline="0">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32740755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ull Frame Photo">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889" y="0"/>
            <a:ext cx="12191111" cy="6858000"/>
          </a:xfrm>
        </p:spPr>
        <p:txBody>
          <a:bodyPr/>
          <a:lstStyle>
            <a:lvl1pPr marL="0" indent="0">
              <a:buNone/>
              <a:defRPr sz="3000" baseline="0"/>
            </a:lvl1pPr>
            <a:lvl2pPr marL="586109" indent="0">
              <a:buNone/>
              <a:defRPr sz="3600"/>
            </a:lvl2pPr>
            <a:lvl3pPr marL="1172219" indent="0">
              <a:buNone/>
              <a:defRPr sz="3075"/>
            </a:lvl3pPr>
            <a:lvl4pPr marL="1758328" indent="0">
              <a:buNone/>
              <a:defRPr sz="2550"/>
            </a:lvl4pPr>
            <a:lvl5pPr marL="2344438" indent="0">
              <a:buNone/>
              <a:defRPr sz="2550"/>
            </a:lvl5pPr>
            <a:lvl6pPr marL="2930547" indent="0">
              <a:buNone/>
              <a:defRPr sz="2550"/>
            </a:lvl6pPr>
            <a:lvl7pPr marL="3516656" indent="0">
              <a:buNone/>
              <a:defRPr sz="2550"/>
            </a:lvl7pPr>
            <a:lvl8pPr marL="4102766" indent="0">
              <a:buNone/>
              <a:defRPr sz="2550"/>
            </a:lvl8pPr>
            <a:lvl9pPr marL="4688875" indent="0">
              <a:buNone/>
              <a:defRPr sz="2550"/>
            </a:lvl9pPr>
          </a:lstStyle>
          <a:p>
            <a:r>
              <a:rPr lang="en-US" dirty="0"/>
              <a:t>Click on this icon to insert a photo.</a:t>
            </a:r>
          </a:p>
        </p:txBody>
      </p:sp>
      <p:sp>
        <p:nvSpPr>
          <p:cNvPr id="8" name="Text Placeholder 8"/>
          <p:cNvSpPr>
            <a:spLocks noGrp="1"/>
          </p:cNvSpPr>
          <p:nvPr>
            <p:ph type="body" sz="quarter" idx="16" hasCustomPrompt="1"/>
          </p:nvPr>
        </p:nvSpPr>
        <p:spPr>
          <a:xfrm>
            <a:off x="1" y="4680866"/>
            <a:ext cx="5968223" cy="678593"/>
          </a:xfrm>
          <a:solidFill>
            <a:srgbClr val="43B02A"/>
          </a:solidFill>
          <a:ln>
            <a:noFill/>
          </a:ln>
        </p:spPr>
        <p:txBody>
          <a:bodyPr wrap="square" lIns="252000" tIns="180000" rIns="252000" bIns="252000" anchor="ctr">
            <a:spAutoFit/>
          </a:bodyPr>
          <a:lstStyle>
            <a:lvl1pPr>
              <a:lnSpc>
                <a:spcPct val="100000"/>
              </a:lnSpc>
              <a:defRPr sz="1575" b="1" baseline="0">
                <a:ln>
                  <a:noFill/>
                </a:ln>
                <a:solidFill>
                  <a:schemeClr val="bg1"/>
                </a:solidFill>
                <a:effectLst/>
              </a:defRPr>
            </a:lvl1pPr>
          </a:lstStyle>
          <a:p>
            <a:pPr lvl="0"/>
            <a:r>
              <a:rPr lang="en-CA" dirty="0"/>
              <a:t>Optional short caption here</a:t>
            </a:r>
            <a:endParaRPr lang="en-US" dirty="0"/>
          </a:p>
        </p:txBody>
      </p:sp>
    </p:spTree>
    <p:extLst>
      <p:ext uri="{BB962C8B-B14F-4D97-AF65-F5344CB8AC3E}">
        <p14:creationId xmlns:p14="http://schemas.microsoft.com/office/powerpoint/2010/main" val="2066381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Photos">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4" name="Picture Placeholder 3"/>
          <p:cNvSpPr>
            <a:spLocks noGrp="1"/>
          </p:cNvSpPr>
          <p:nvPr>
            <p:ph type="pic" sz="quarter" idx="10" hasCustomPrompt="1"/>
          </p:nvPr>
        </p:nvSpPr>
        <p:spPr>
          <a:xfrm>
            <a:off x="6249078" y="622301"/>
            <a:ext cx="5333402" cy="5022000"/>
          </a:xfrm>
        </p:spPr>
        <p:txBody>
          <a:bodyPr/>
          <a:lstStyle/>
          <a:p>
            <a:r>
              <a:rPr lang="en-US" dirty="0"/>
              <a:t>Click on this icon to insert a photo.</a:t>
            </a:r>
          </a:p>
        </p:txBody>
      </p:sp>
      <p:sp>
        <p:nvSpPr>
          <p:cNvPr id="6" name="Picture Placeholder 5"/>
          <p:cNvSpPr>
            <a:spLocks noGrp="1"/>
          </p:cNvSpPr>
          <p:nvPr>
            <p:ph type="pic" sz="quarter" idx="11" hasCustomPrompt="1"/>
          </p:nvPr>
        </p:nvSpPr>
        <p:spPr>
          <a:xfrm>
            <a:off x="622220" y="622301"/>
            <a:ext cx="5358701" cy="5022000"/>
          </a:xfrm>
        </p:spPr>
        <p:txBody>
          <a:bodyPr/>
          <a:lstStyle/>
          <a:p>
            <a:r>
              <a:rPr lang="en-US" dirty="0"/>
              <a:t>Click on this icon to insert a photo.</a:t>
            </a:r>
          </a:p>
        </p:txBody>
      </p:sp>
      <p:sp>
        <p:nvSpPr>
          <p:cNvPr id="9" name="Text Placeholder 8"/>
          <p:cNvSpPr>
            <a:spLocks noGrp="1"/>
          </p:cNvSpPr>
          <p:nvPr>
            <p:ph type="body" sz="quarter" idx="16" hasCustomPrompt="1"/>
          </p:nvPr>
        </p:nvSpPr>
        <p:spPr>
          <a:xfrm>
            <a:off x="622220" y="4064673"/>
            <a:ext cx="3504743"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sp>
        <p:nvSpPr>
          <p:cNvPr id="11" name="Text Placeholder 8"/>
          <p:cNvSpPr>
            <a:spLocks noGrp="1"/>
          </p:cNvSpPr>
          <p:nvPr>
            <p:ph type="body" sz="quarter" idx="18" hasCustomPrompt="1"/>
          </p:nvPr>
        </p:nvSpPr>
        <p:spPr>
          <a:xfrm>
            <a:off x="6249079" y="4064673"/>
            <a:ext cx="3490554"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3953792544"/>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hoto with Description">
    <p:bg>
      <p:bgPr>
        <a:solidFill>
          <a:schemeClr val="bg1"/>
        </a:solidFill>
        <a:effectLst/>
      </p:bgPr>
    </p:bg>
    <p:spTree>
      <p:nvGrpSpPr>
        <p:cNvPr id="1" name=""/>
        <p:cNvGrpSpPr/>
        <p:nvPr/>
      </p:nvGrpSpPr>
      <p:grpSpPr>
        <a:xfrm>
          <a:off x="0" y="0"/>
          <a:ext cx="0" cy="0"/>
          <a:chOff x="0" y="0"/>
          <a:chExt cx="0" cy="0"/>
        </a:xfrm>
      </p:grpSpPr>
      <p:pic>
        <p:nvPicPr>
          <p:cNvPr id="11" name="Picture 10"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3895645"/>
            <a:ext cx="12192000" cy="1304320"/>
          </a:xfrm>
          <a:prstGeom prst="rect">
            <a:avLst/>
          </a:prstGeom>
        </p:spPr>
      </p:pic>
      <p:sp>
        <p:nvSpPr>
          <p:cNvPr id="12" name="Picture Placeholder 5"/>
          <p:cNvSpPr>
            <a:spLocks noGrp="1"/>
          </p:cNvSpPr>
          <p:nvPr>
            <p:ph type="pic" sz="quarter" idx="11" hasCustomPrompt="1"/>
          </p:nvPr>
        </p:nvSpPr>
        <p:spPr>
          <a:xfrm>
            <a:off x="622220" y="622301"/>
            <a:ext cx="8698367" cy="5022000"/>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6" hasCustomPrompt="1"/>
          </p:nvPr>
        </p:nvSpPr>
        <p:spPr>
          <a:xfrm>
            <a:off x="622220" y="4064673"/>
            <a:ext cx="3504743"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sp>
        <p:nvSpPr>
          <p:cNvPr id="14"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9" name="Picture 18"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0" name="Picture 19"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1"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2905201334"/>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aphic + Title and Description">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3895645"/>
            <a:ext cx="12192000" cy="1304320"/>
          </a:xfrm>
          <a:prstGeom prst="rect">
            <a:avLst/>
          </a:prstGeom>
        </p:spPr>
      </p:pic>
      <p:sp>
        <p:nvSpPr>
          <p:cNvPr id="13" name="Picture Placeholder 5"/>
          <p:cNvSpPr>
            <a:spLocks noGrp="1"/>
          </p:cNvSpPr>
          <p:nvPr>
            <p:ph type="pic" sz="quarter" idx="11" hasCustomPrompt="1"/>
          </p:nvPr>
        </p:nvSpPr>
        <p:spPr>
          <a:xfrm>
            <a:off x="622220" y="1803401"/>
            <a:ext cx="7093623" cy="3840900"/>
          </a:xfrm>
        </p:spPr>
        <p:txBody>
          <a:bodyPr/>
          <a:lstStyle/>
          <a:p>
            <a:r>
              <a:rPr lang="en-US" dirty="0"/>
              <a:t>Click on this icon to insert a graphic.</a:t>
            </a:r>
          </a:p>
        </p:txBody>
      </p:sp>
      <p:sp>
        <p:nvSpPr>
          <p:cNvPr id="20"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graphic slide with a title and optional annotation</a:t>
            </a:r>
            <a:endParaRPr lang="en-US" dirty="0"/>
          </a:p>
        </p:txBody>
      </p:sp>
      <p:sp>
        <p:nvSpPr>
          <p:cNvPr id="2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24" name="Picture 23"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5" name="Picture 24"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2438277722"/>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able or Chart">
    <p:bg>
      <p:bgRef idx="1001">
        <a:schemeClr val="bg1"/>
      </p:bgRef>
    </p:bg>
    <p:spTree>
      <p:nvGrpSpPr>
        <p:cNvPr id="1" name=""/>
        <p:cNvGrpSpPr/>
        <p:nvPr/>
      </p:nvGrpSpPr>
      <p:grpSpPr>
        <a:xfrm>
          <a:off x="0" y="0"/>
          <a:ext cx="0" cy="0"/>
          <a:chOff x="0" y="0"/>
          <a:chExt cx="0" cy="0"/>
        </a:xfrm>
      </p:grpSpPr>
      <p:pic>
        <p:nvPicPr>
          <p:cNvPr id="5" name="Picture 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8" name="Picture 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3"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C30A0DBF-0D60-4FF6-A0ED-3A5EDCAC9C41}" type="slidenum">
              <a:rPr lang="en-CA" smtClean="0"/>
              <a:t>‹#›</a:t>
            </a:fld>
            <a:endParaRPr lang="en-CA"/>
          </a:p>
        </p:txBody>
      </p:sp>
      <p:sp>
        <p:nvSpPr>
          <p:cNvPr id="15"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chart or table slide with optional annotation</a:t>
            </a:r>
            <a:endParaRPr lang="en-US" dirty="0"/>
          </a:p>
        </p:txBody>
      </p:sp>
      <p:sp>
        <p:nvSpPr>
          <p:cNvPr id="17" name="Table Placeholder 3"/>
          <p:cNvSpPr>
            <a:spLocks noGrp="1"/>
          </p:cNvSpPr>
          <p:nvPr>
            <p:ph type="tbl" sz="quarter" idx="20" hasCustomPrompt="1"/>
          </p:nvPr>
        </p:nvSpPr>
        <p:spPr>
          <a:xfrm>
            <a:off x="609540" y="1803798"/>
            <a:ext cx="7106147" cy="3840956"/>
          </a:xfrm>
        </p:spPr>
        <p:txBody>
          <a:bodyPr/>
          <a:lstStyle>
            <a:lvl1pPr>
              <a:defRPr baseline="0"/>
            </a:lvl1pPr>
          </a:lstStyle>
          <a:p>
            <a:r>
              <a:rPr lang="en-US" dirty="0"/>
              <a:t>Click on the icon to insert a table or chart.</a:t>
            </a:r>
          </a:p>
        </p:txBody>
      </p:sp>
      <p:sp>
        <p:nvSpPr>
          <p:cNvPr id="18"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spTree>
    <p:extLst>
      <p:ext uri="{BB962C8B-B14F-4D97-AF65-F5344CB8AC3E}">
        <p14:creationId xmlns:p14="http://schemas.microsoft.com/office/powerpoint/2010/main" val="2443004914"/>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Outro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211100" y="2338355"/>
            <a:ext cx="7769800" cy="1959129"/>
          </a:xfrm>
        </p:spPr>
        <p:txBody>
          <a:bodyPr lIns="0" tIns="0" rIns="0" bIns="0" anchor="ctr">
            <a:noAutofit/>
          </a:bodyPr>
          <a:lstStyle>
            <a:lvl1pPr marL="0" indent="0" algn="ctr">
              <a:buNone/>
              <a:defRPr sz="3600" baseline="0">
                <a:solidFill>
                  <a:schemeClr val="accent5"/>
                </a:solidFill>
              </a:defRPr>
            </a:lvl1pPr>
            <a:lvl2pPr marL="586109" indent="0" algn="ctr">
              <a:buNone/>
              <a:defRPr>
                <a:solidFill>
                  <a:schemeClr val="tx1">
                    <a:tint val="75000"/>
                  </a:schemeClr>
                </a:solidFill>
              </a:defRPr>
            </a:lvl2pPr>
            <a:lvl3pPr marL="1172219" indent="0" algn="ctr">
              <a:buNone/>
              <a:defRPr>
                <a:solidFill>
                  <a:schemeClr val="tx1">
                    <a:tint val="75000"/>
                  </a:schemeClr>
                </a:solidFill>
              </a:defRPr>
            </a:lvl3pPr>
            <a:lvl4pPr marL="1758328" indent="0" algn="ctr">
              <a:buNone/>
              <a:defRPr>
                <a:solidFill>
                  <a:schemeClr val="tx1">
                    <a:tint val="75000"/>
                  </a:schemeClr>
                </a:solidFill>
              </a:defRPr>
            </a:lvl4pPr>
            <a:lvl5pPr marL="2344438" indent="0" algn="ctr">
              <a:buNone/>
              <a:defRPr>
                <a:solidFill>
                  <a:schemeClr val="tx1">
                    <a:tint val="75000"/>
                  </a:schemeClr>
                </a:solidFill>
              </a:defRPr>
            </a:lvl5pPr>
            <a:lvl6pPr marL="2930547" indent="0" algn="ctr">
              <a:buNone/>
              <a:defRPr>
                <a:solidFill>
                  <a:schemeClr val="tx1">
                    <a:tint val="75000"/>
                  </a:schemeClr>
                </a:solidFill>
              </a:defRPr>
            </a:lvl6pPr>
            <a:lvl7pPr marL="3516656" indent="0" algn="ctr">
              <a:buNone/>
              <a:defRPr>
                <a:solidFill>
                  <a:schemeClr val="tx1">
                    <a:tint val="75000"/>
                  </a:schemeClr>
                </a:solidFill>
              </a:defRPr>
            </a:lvl7pPr>
            <a:lvl8pPr marL="4102766" indent="0" algn="ctr">
              <a:buNone/>
              <a:defRPr>
                <a:solidFill>
                  <a:schemeClr val="tx1">
                    <a:tint val="75000"/>
                  </a:schemeClr>
                </a:solidFill>
              </a:defRPr>
            </a:lvl8pPr>
            <a:lvl9pPr marL="4688875" indent="0" algn="ctr">
              <a:buNone/>
              <a:defRPr>
                <a:solidFill>
                  <a:schemeClr val="tx1">
                    <a:tint val="75000"/>
                  </a:schemeClr>
                </a:solidFill>
              </a:defRPr>
            </a:lvl9pPr>
          </a:lstStyle>
          <a:p>
            <a:r>
              <a:rPr lang="en-CA" dirty="0"/>
              <a:t>Questions? Put your contact prompt message and your email here.</a:t>
            </a:r>
            <a:endParaRPr lang="en-US" dirty="0"/>
          </a:p>
        </p:txBody>
      </p:sp>
      <p:sp>
        <p:nvSpPr>
          <p:cNvPr id="2" name="Title 1"/>
          <p:cNvSpPr>
            <a:spLocks noGrp="1"/>
          </p:cNvSpPr>
          <p:nvPr>
            <p:ph type="ctrTitle" hasCustomPrompt="1"/>
          </p:nvPr>
        </p:nvSpPr>
        <p:spPr>
          <a:xfrm>
            <a:off x="2490464" y="1562096"/>
            <a:ext cx="7211074" cy="763559"/>
          </a:xfrm>
        </p:spPr>
        <p:txBody>
          <a:bodyPr anchor="b"/>
          <a:lstStyle>
            <a:lvl1pPr algn="ctr">
              <a:defRPr baseline="0">
                <a:solidFill>
                  <a:srgbClr val="00673E"/>
                </a:solidFill>
              </a:defRPr>
            </a:lvl1pPr>
          </a:lstStyle>
          <a:p>
            <a:r>
              <a:rPr lang="en-CA" dirty="0"/>
              <a:t>Thank you message</a:t>
            </a:r>
            <a:endParaRPr lang="en-US" dirty="0"/>
          </a:p>
        </p:txBody>
      </p:sp>
      <p:sp>
        <p:nvSpPr>
          <p:cNvPr id="5" name="Text Placeholder 4"/>
          <p:cNvSpPr>
            <a:spLocks noGrp="1"/>
          </p:cNvSpPr>
          <p:nvPr>
            <p:ph type="body" sz="quarter" idx="10" hasCustomPrompt="1"/>
          </p:nvPr>
        </p:nvSpPr>
        <p:spPr>
          <a:xfrm>
            <a:off x="2490463" y="4513380"/>
            <a:ext cx="7211075" cy="346810"/>
          </a:xfrm>
        </p:spPr>
        <p:txBody>
          <a:bodyPr anchor="t"/>
          <a:lstStyle>
            <a:lvl1pPr algn="ctr">
              <a:defRPr>
                <a:solidFill>
                  <a:schemeClr val="accent2"/>
                </a:solidFill>
              </a:defRPr>
            </a:lvl1pPr>
          </a:lstStyle>
          <a:p>
            <a:pPr lvl="0"/>
            <a:r>
              <a:rPr lang="en-CA" dirty="0" err="1"/>
              <a:t>www.algonquincollege.com</a:t>
            </a:r>
            <a:r>
              <a:rPr lang="en-CA" dirty="0"/>
              <a:t>/</a:t>
            </a:r>
            <a:r>
              <a:rPr lang="en-CA" dirty="0" err="1"/>
              <a:t>relevantURL</a:t>
            </a:r>
            <a:endParaRPr lang="en-US" dirty="0"/>
          </a:p>
        </p:txBody>
      </p:sp>
      <p:pic>
        <p:nvPicPr>
          <p:cNvPr id="13" name="Picture 12" descr="ac-icon-green.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2692" y="621411"/>
            <a:ext cx="476310" cy="350999"/>
          </a:xfrm>
          <a:prstGeom prst="rect">
            <a:avLst/>
          </a:prstGeom>
        </p:spPr>
      </p:pic>
      <p:pic>
        <p:nvPicPr>
          <p:cNvPr id="14" name="Picture 13" descr="curtain-100.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524369"/>
            <a:ext cx="12192000" cy="1333631"/>
          </a:xfrm>
          <a:prstGeom prst="rect">
            <a:avLst/>
          </a:prstGeom>
        </p:spPr>
      </p:pic>
    </p:spTree>
    <p:extLst>
      <p:ext uri="{BB962C8B-B14F-4D97-AF65-F5344CB8AC3E}">
        <p14:creationId xmlns:p14="http://schemas.microsoft.com/office/powerpoint/2010/main" val="40208617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lank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06993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91DA2-B6BB-3CCF-A489-C5C3C8EA5901}"/>
              </a:ext>
            </a:extLst>
          </p:cNvPr>
          <p:cNvSpPr>
            <a:spLocks noGrp="1"/>
          </p:cNvSpPr>
          <p:nvPr>
            <p:ph type="title"/>
          </p:nvPr>
        </p:nvSpPr>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689D2B6-564B-F689-FA94-79E21691CF03}"/>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F314F60-3FE2-6624-2F9D-10C6D63FDB61}"/>
              </a:ext>
            </a:extLst>
          </p:cNvPr>
          <p:cNvSpPr>
            <a:spLocks noGrp="1"/>
          </p:cNvSpPr>
          <p:nvPr>
            <p:ph type="dt" sz="half" idx="10"/>
          </p:nvPr>
        </p:nvSpPr>
        <p:spPr/>
        <p:txBody>
          <a:bodyPr/>
          <a:lstStyle/>
          <a:p>
            <a:fld id="{F5AF2AC7-7F12-4C58-B72B-BACAA5B5BCB0}" type="datetimeFigureOut">
              <a:rPr lang="en-CA" smtClean="0"/>
              <a:t>2026-03-17</a:t>
            </a:fld>
            <a:endParaRPr lang="en-CA"/>
          </a:p>
        </p:txBody>
      </p:sp>
      <p:sp>
        <p:nvSpPr>
          <p:cNvPr id="5" name="Footer Placeholder 4">
            <a:extLst>
              <a:ext uri="{FF2B5EF4-FFF2-40B4-BE49-F238E27FC236}">
                <a16:creationId xmlns:a16="http://schemas.microsoft.com/office/drawing/2014/main" id="{3EB8B48B-C002-2E3F-0876-6CDEB344FE7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8876562-71D5-0764-8D1B-DE8152F98D5C}"/>
              </a:ext>
            </a:extLst>
          </p:cNvPr>
          <p:cNvSpPr>
            <a:spLocks noGrp="1"/>
          </p:cNvSpPr>
          <p:nvPr>
            <p:ph type="sldNum" sz="quarter" idx="12"/>
          </p:nvPr>
        </p:nvSpPr>
        <p:spPr/>
        <p:txBody>
          <a:bodyPr/>
          <a:lstStyle/>
          <a:p>
            <a:fld id="{C30A0DBF-0D60-4FF6-A0ED-3A5EDCAC9C41}" type="slidenum">
              <a:rPr lang="en-CA" smtClean="0"/>
              <a:t>‹#›</a:t>
            </a:fld>
            <a:endParaRPr lang="en-CA"/>
          </a:p>
        </p:txBody>
      </p:sp>
    </p:spTree>
    <p:extLst>
      <p:ext uri="{BB962C8B-B14F-4D97-AF65-F5344CB8AC3E}">
        <p14:creationId xmlns:p14="http://schemas.microsoft.com/office/powerpoint/2010/main" val="263619868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499889"/>
            <a:ext cx="10972800" cy="1100311"/>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1" y="1600200"/>
            <a:ext cx="10972800" cy="3903399"/>
          </a:xfrm>
          <a:prstGeom prst="rect">
            <a:avLst/>
          </a:prstGeom>
        </p:spPr>
        <p:txBody>
          <a:bodyPr vert="horz" lIns="0" tIns="0" rIns="0" bIns="0" rtlCol="0">
            <a:noAutofit/>
          </a:bodyPr>
          <a:lstStyle/>
          <a:p>
            <a:pPr lvl="0"/>
            <a:r>
              <a:rPr lang="en-CA" dirty="0"/>
              <a:t>Click to edit Master text styles</a:t>
            </a:r>
          </a:p>
          <a:p>
            <a:pPr lvl="1"/>
            <a:r>
              <a:rPr lang="en-CA" dirty="0"/>
              <a:t>First level</a:t>
            </a:r>
          </a:p>
          <a:p>
            <a:pPr lvl="2"/>
            <a:r>
              <a:rPr lang="en-CA" dirty="0"/>
              <a:t>Second level</a:t>
            </a:r>
          </a:p>
          <a:p>
            <a:pPr lvl="0"/>
            <a:endParaRPr lang="en-CA" dirty="0"/>
          </a:p>
        </p:txBody>
      </p:sp>
      <p:sp>
        <p:nvSpPr>
          <p:cNvPr id="6" name="Slide Number Placeholder 5"/>
          <p:cNvSpPr>
            <a:spLocks noGrp="1"/>
          </p:cNvSpPr>
          <p:nvPr>
            <p:ph type="sldNum" sz="quarter" idx="4"/>
          </p:nvPr>
        </p:nvSpPr>
        <p:spPr>
          <a:xfrm>
            <a:off x="609601" y="6356351"/>
            <a:ext cx="885052" cy="365126"/>
          </a:xfrm>
          <a:prstGeom prst="rect">
            <a:avLst/>
          </a:prstGeom>
        </p:spPr>
        <p:txBody>
          <a:bodyPr vert="horz" lIns="0" tIns="0" rIns="0" bIns="0" rtlCol="0" anchor="ctr"/>
          <a:lstStyle>
            <a:lvl1pPr algn="l">
              <a:defRPr sz="1575" b="1">
                <a:solidFill>
                  <a:schemeClr val="tx1">
                    <a:tint val="75000"/>
                  </a:schemeClr>
                </a:solidFill>
              </a:defRPr>
            </a:lvl1pPr>
          </a:lstStyle>
          <a:p>
            <a:fld id="{C30A0DBF-0D60-4FF6-A0ED-3A5EDCAC9C41}" type="slidenum">
              <a:rPr lang="en-CA" smtClean="0"/>
              <a:t>‹#›</a:t>
            </a:fld>
            <a:endParaRPr lang="en-CA"/>
          </a:p>
        </p:txBody>
      </p:sp>
    </p:spTree>
    <p:extLst>
      <p:ext uri="{BB962C8B-B14F-4D97-AF65-F5344CB8AC3E}">
        <p14:creationId xmlns:p14="http://schemas.microsoft.com/office/powerpoint/2010/main" val="417083078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8" r:id="rId36"/>
  </p:sldLayoutIdLst>
  <p:txStyles>
    <p:titleStyle>
      <a:lvl1pPr algn="l" defTabSz="586109" rtl="0" eaLnBrk="1" latinLnBrk="0" hangingPunct="1">
        <a:lnSpc>
          <a:spcPct val="80000"/>
        </a:lnSpc>
        <a:spcBef>
          <a:spcPct val="0"/>
        </a:spcBef>
        <a:buNone/>
        <a:defRPr sz="5399" kern="1200">
          <a:solidFill>
            <a:schemeClr val="accent5"/>
          </a:solidFill>
          <a:latin typeface="+mj-lt"/>
          <a:ea typeface="+mj-ea"/>
          <a:cs typeface="+mj-cs"/>
        </a:defRPr>
      </a:lvl1pPr>
    </p:titleStyle>
    <p:bodyStyle>
      <a:lvl1pPr marL="0" indent="0" algn="l" defTabSz="586109" rtl="0" eaLnBrk="1" latinLnBrk="0" hangingPunct="1">
        <a:lnSpc>
          <a:spcPct val="110000"/>
        </a:lnSpc>
        <a:spcBef>
          <a:spcPct val="20000"/>
        </a:spcBef>
        <a:buClr>
          <a:schemeClr val="accent2"/>
        </a:buClr>
        <a:buFontTx/>
        <a:buNone/>
        <a:defRPr sz="2400" kern="1200">
          <a:solidFill>
            <a:schemeClr val="accent5"/>
          </a:solidFill>
          <a:latin typeface="+mn-lt"/>
          <a:ea typeface="+mn-ea"/>
          <a:cs typeface="+mn-cs"/>
        </a:defRPr>
      </a:lvl1pPr>
      <a:lvl2pPr marL="952428" indent="-366319" algn="l" defTabSz="586109" rtl="0" eaLnBrk="1" latinLnBrk="0" hangingPunct="1">
        <a:lnSpc>
          <a:spcPct val="110000"/>
        </a:lnSpc>
        <a:spcBef>
          <a:spcPct val="20000"/>
        </a:spcBef>
        <a:buClr>
          <a:schemeClr val="accent2"/>
        </a:buClr>
        <a:buSzPct val="75000"/>
        <a:buFont typeface="Arial"/>
        <a:buChar char="•"/>
        <a:defRPr sz="2400" kern="1200">
          <a:solidFill>
            <a:schemeClr val="accent5"/>
          </a:solidFill>
          <a:latin typeface="+mn-lt"/>
          <a:ea typeface="+mn-ea"/>
          <a:cs typeface="+mn-cs"/>
        </a:defRPr>
      </a:lvl2pPr>
      <a:lvl3pPr marL="1515073" indent="-342854" algn="l" defTabSz="586109" rtl="0" eaLnBrk="1" latinLnBrk="0" hangingPunct="1">
        <a:lnSpc>
          <a:spcPct val="110000"/>
        </a:lnSpc>
        <a:spcBef>
          <a:spcPct val="20000"/>
        </a:spcBef>
        <a:buClr>
          <a:schemeClr val="accent2"/>
        </a:buClr>
        <a:buSzPct val="60000"/>
        <a:buFont typeface="Wingdings" charset="2"/>
        <a:buChar char="§"/>
        <a:defRPr sz="2400" kern="1200" baseline="0">
          <a:solidFill>
            <a:schemeClr val="accent5"/>
          </a:solidFill>
          <a:latin typeface="+mn-lt"/>
          <a:ea typeface="+mn-ea"/>
          <a:cs typeface="+mn-cs"/>
        </a:defRPr>
      </a:lvl3pPr>
      <a:lvl4pPr marL="2051383" indent="-293055" algn="l" defTabSz="586109" rtl="0" eaLnBrk="1" latinLnBrk="0" hangingPunct="1">
        <a:lnSpc>
          <a:spcPct val="120000"/>
        </a:lnSpc>
        <a:spcBef>
          <a:spcPct val="20000"/>
        </a:spcBef>
        <a:buClr>
          <a:schemeClr val="accent2"/>
        </a:buClr>
        <a:buSzPct val="90000"/>
        <a:buFont typeface="Arial"/>
        <a:buChar char="–"/>
        <a:defRPr sz="1575" kern="1200">
          <a:solidFill>
            <a:schemeClr val="accent4"/>
          </a:solidFill>
          <a:latin typeface="+mn-lt"/>
          <a:ea typeface="+mn-ea"/>
          <a:cs typeface="+mn-cs"/>
        </a:defRPr>
      </a:lvl4pPr>
      <a:lvl5pPr marL="2637492" indent="-293055" algn="l" defTabSz="586109" rtl="0" eaLnBrk="1" latinLnBrk="0" hangingPunct="1">
        <a:spcBef>
          <a:spcPct val="20000"/>
        </a:spcBef>
        <a:buFont typeface="Arial"/>
        <a:buChar char="»"/>
        <a:defRPr sz="2550" kern="1200">
          <a:solidFill>
            <a:schemeClr val="accent5"/>
          </a:solidFill>
          <a:latin typeface="+mn-lt"/>
          <a:ea typeface="+mn-ea"/>
          <a:cs typeface="+mn-cs"/>
        </a:defRPr>
      </a:lvl5pPr>
      <a:lvl6pPr marL="3223602" indent="-293055" algn="l" defTabSz="586109" rtl="0" eaLnBrk="1" latinLnBrk="0" hangingPunct="1">
        <a:spcBef>
          <a:spcPct val="20000"/>
        </a:spcBef>
        <a:buFont typeface="Arial"/>
        <a:buChar char="•"/>
        <a:defRPr sz="2550" kern="1200">
          <a:solidFill>
            <a:schemeClr val="tx1"/>
          </a:solidFill>
          <a:latin typeface="+mn-lt"/>
          <a:ea typeface="+mn-ea"/>
          <a:cs typeface="+mn-cs"/>
        </a:defRPr>
      </a:lvl6pPr>
      <a:lvl7pPr marL="3809711" indent="-293055" algn="l" defTabSz="586109" rtl="0" eaLnBrk="1" latinLnBrk="0" hangingPunct="1">
        <a:spcBef>
          <a:spcPct val="20000"/>
        </a:spcBef>
        <a:buFont typeface="Arial"/>
        <a:buChar char="•"/>
        <a:defRPr sz="2550" kern="1200">
          <a:solidFill>
            <a:schemeClr val="tx1"/>
          </a:solidFill>
          <a:latin typeface="+mn-lt"/>
          <a:ea typeface="+mn-ea"/>
          <a:cs typeface="+mn-cs"/>
        </a:defRPr>
      </a:lvl7pPr>
      <a:lvl8pPr marL="4395821" indent="-293055" algn="l" defTabSz="586109" rtl="0" eaLnBrk="1" latinLnBrk="0" hangingPunct="1">
        <a:spcBef>
          <a:spcPct val="20000"/>
        </a:spcBef>
        <a:buFont typeface="Arial"/>
        <a:buChar char="•"/>
        <a:defRPr sz="2550" kern="1200">
          <a:solidFill>
            <a:schemeClr val="tx1"/>
          </a:solidFill>
          <a:latin typeface="+mn-lt"/>
          <a:ea typeface="+mn-ea"/>
          <a:cs typeface="+mn-cs"/>
        </a:defRPr>
      </a:lvl8pPr>
      <a:lvl9pPr marL="4981930" indent="-293055" algn="l" defTabSz="586109" rtl="0" eaLnBrk="1" latinLnBrk="0" hangingPunct="1">
        <a:spcBef>
          <a:spcPct val="20000"/>
        </a:spcBef>
        <a:buFont typeface="Arial"/>
        <a:buChar char="•"/>
        <a:defRPr sz="2550" kern="1200">
          <a:solidFill>
            <a:schemeClr val="tx1"/>
          </a:solidFill>
          <a:latin typeface="+mn-lt"/>
          <a:ea typeface="+mn-ea"/>
          <a:cs typeface="+mn-cs"/>
        </a:defRPr>
      </a:lvl9pPr>
    </p:bodyStyle>
    <p:otherStyle>
      <a:defPPr>
        <a:defRPr lang="en-US"/>
      </a:defPPr>
      <a:lvl1pPr marL="0" algn="l" defTabSz="586109" rtl="0" eaLnBrk="1" latinLnBrk="0" hangingPunct="1">
        <a:defRPr sz="2325" kern="1200">
          <a:solidFill>
            <a:schemeClr val="tx1"/>
          </a:solidFill>
          <a:latin typeface="+mn-lt"/>
          <a:ea typeface="+mn-ea"/>
          <a:cs typeface="+mn-cs"/>
        </a:defRPr>
      </a:lvl1pPr>
      <a:lvl2pPr marL="586109" algn="l" defTabSz="586109" rtl="0" eaLnBrk="1" latinLnBrk="0" hangingPunct="1">
        <a:defRPr sz="2325" kern="1200">
          <a:solidFill>
            <a:schemeClr val="tx1"/>
          </a:solidFill>
          <a:latin typeface="+mn-lt"/>
          <a:ea typeface="+mn-ea"/>
          <a:cs typeface="+mn-cs"/>
        </a:defRPr>
      </a:lvl2pPr>
      <a:lvl3pPr marL="1172219" algn="l" defTabSz="586109" rtl="0" eaLnBrk="1" latinLnBrk="0" hangingPunct="1">
        <a:defRPr sz="2325" kern="1200">
          <a:solidFill>
            <a:schemeClr val="tx1"/>
          </a:solidFill>
          <a:latin typeface="+mn-lt"/>
          <a:ea typeface="+mn-ea"/>
          <a:cs typeface="+mn-cs"/>
        </a:defRPr>
      </a:lvl3pPr>
      <a:lvl4pPr marL="1758328" algn="l" defTabSz="586109" rtl="0" eaLnBrk="1" latinLnBrk="0" hangingPunct="1">
        <a:defRPr sz="2325" kern="1200">
          <a:solidFill>
            <a:schemeClr val="tx1"/>
          </a:solidFill>
          <a:latin typeface="+mn-lt"/>
          <a:ea typeface="+mn-ea"/>
          <a:cs typeface="+mn-cs"/>
        </a:defRPr>
      </a:lvl4pPr>
      <a:lvl5pPr marL="2344438" algn="l" defTabSz="586109" rtl="0" eaLnBrk="1" latinLnBrk="0" hangingPunct="1">
        <a:defRPr sz="2325" kern="1200">
          <a:solidFill>
            <a:schemeClr val="tx1"/>
          </a:solidFill>
          <a:latin typeface="+mn-lt"/>
          <a:ea typeface="+mn-ea"/>
          <a:cs typeface="+mn-cs"/>
        </a:defRPr>
      </a:lvl5pPr>
      <a:lvl6pPr marL="2930547" algn="l" defTabSz="586109" rtl="0" eaLnBrk="1" latinLnBrk="0" hangingPunct="1">
        <a:defRPr sz="2325" kern="1200">
          <a:solidFill>
            <a:schemeClr val="tx1"/>
          </a:solidFill>
          <a:latin typeface="+mn-lt"/>
          <a:ea typeface="+mn-ea"/>
          <a:cs typeface="+mn-cs"/>
        </a:defRPr>
      </a:lvl6pPr>
      <a:lvl7pPr marL="3516656" algn="l" defTabSz="586109" rtl="0" eaLnBrk="1" latinLnBrk="0" hangingPunct="1">
        <a:defRPr sz="2325" kern="1200">
          <a:solidFill>
            <a:schemeClr val="tx1"/>
          </a:solidFill>
          <a:latin typeface="+mn-lt"/>
          <a:ea typeface="+mn-ea"/>
          <a:cs typeface="+mn-cs"/>
        </a:defRPr>
      </a:lvl7pPr>
      <a:lvl8pPr marL="4102766" algn="l" defTabSz="586109" rtl="0" eaLnBrk="1" latinLnBrk="0" hangingPunct="1">
        <a:defRPr sz="2325" kern="1200">
          <a:solidFill>
            <a:schemeClr val="tx1"/>
          </a:solidFill>
          <a:latin typeface="+mn-lt"/>
          <a:ea typeface="+mn-ea"/>
          <a:cs typeface="+mn-cs"/>
        </a:defRPr>
      </a:lvl8pPr>
      <a:lvl9pPr marL="4688875" algn="l" defTabSz="586109" rtl="0" eaLnBrk="1" latinLnBrk="0" hangingPunct="1">
        <a:defRPr sz="23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F06F4EC-C4EE-D2AF-6FD6-1BA185380971}"/>
              </a:ext>
            </a:extLst>
          </p:cNvPr>
          <p:cNvSpPr>
            <a:spLocks noGrp="1"/>
          </p:cNvSpPr>
          <p:nvPr>
            <p:ph type="body" sz="quarter" idx="15"/>
          </p:nvPr>
        </p:nvSpPr>
        <p:spPr>
          <a:xfrm>
            <a:off x="609600" y="4693745"/>
            <a:ext cx="5612587" cy="1454806"/>
          </a:xfrm>
        </p:spPr>
        <p:txBody>
          <a:bodyPr>
            <a:normAutofit/>
          </a:bodyPr>
          <a:lstStyle/>
          <a:p>
            <a:r>
              <a:rPr lang="en-US" dirty="0"/>
              <a:t>Instructor: Stephin Rachel Thomas</a:t>
            </a:r>
          </a:p>
          <a:p>
            <a:r>
              <a:rPr lang="en-US" dirty="0"/>
              <a:t>March 19, 2026</a:t>
            </a:r>
            <a:endParaRPr lang="en-CA" dirty="0"/>
          </a:p>
        </p:txBody>
      </p:sp>
      <p:sp>
        <p:nvSpPr>
          <p:cNvPr id="2" name="Title 1">
            <a:extLst>
              <a:ext uri="{FF2B5EF4-FFF2-40B4-BE49-F238E27FC236}">
                <a16:creationId xmlns:a16="http://schemas.microsoft.com/office/drawing/2014/main" id="{703E5BC8-9232-E442-86CE-667C1E95B794}"/>
              </a:ext>
            </a:extLst>
          </p:cNvPr>
          <p:cNvSpPr>
            <a:spLocks noGrp="1"/>
          </p:cNvSpPr>
          <p:nvPr>
            <p:ph type="title"/>
          </p:nvPr>
        </p:nvSpPr>
        <p:spPr>
          <a:xfrm>
            <a:off x="749559" y="1153056"/>
            <a:ext cx="10692881" cy="854420"/>
          </a:xfrm>
        </p:spPr>
        <p:txBody>
          <a:bodyPr anchor="t">
            <a:normAutofit/>
          </a:bodyPr>
          <a:lstStyle/>
          <a:p>
            <a:r>
              <a:rPr lang="en-US" sz="5400" dirty="0"/>
              <a:t>Object Detection Fundamentals</a:t>
            </a:r>
            <a:endParaRPr lang="en-CA" sz="5400" dirty="0"/>
          </a:p>
        </p:txBody>
      </p:sp>
      <p:sp>
        <p:nvSpPr>
          <p:cNvPr id="4" name="TextBox 3">
            <a:extLst>
              <a:ext uri="{FF2B5EF4-FFF2-40B4-BE49-F238E27FC236}">
                <a16:creationId xmlns:a16="http://schemas.microsoft.com/office/drawing/2014/main" id="{FCF2FFBF-FA5E-8444-F8AD-139467763481}"/>
              </a:ext>
            </a:extLst>
          </p:cNvPr>
          <p:cNvSpPr txBox="1"/>
          <p:nvPr/>
        </p:nvSpPr>
        <p:spPr>
          <a:xfrm>
            <a:off x="4519448" y="2007476"/>
            <a:ext cx="184731" cy="569387"/>
          </a:xfrm>
          <a:prstGeom prst="rect">
            <a:avLst/>
          </a:prstGeom>
          <a:noFill/>
        </p:spPr>
        <p:txBody>
          <a:bodyPr wrap="none" rtlCol="0">
            <a:spAutoFit/>
          </a:bodyPr>
          <a:lstStyle/>
          <a:p>
            <a:endParaRPr lang="en-CZ" dirty="0"/>
          </a:p>
        </p:txBody>
      </p:sp>
    </p:spTree>
    <p:extLst>
      <p:ext uri="{BB962C8B-B14F-4D97-AF65-F5344CB8AC3E}">
        <p14:creationId xmlns:p14="http://schemas.microsoft.com/office/powerpoint/2010/main" val="72696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7F5ED-5145-90F6-BC3D-93DCC86A5F0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5243485-F9D7-B2F6-FC1C-FCED1209EED9}"/>
              </a:ext>
            </a:extLst>
          </p:cNvPr>
          <p:cNvSpPr>
            <a:spLocks noGrp="1"/>
          </p:cNvSpPr>
          <p:nvPr>
            <p:ph type="body" sz="quarter" idx="15"/>
          </p:nvPr>
        </p:nvSpPr>
        <p:spPr>
          <a:xfrm>
            <a:off x="609600" y="1471448"/>
            <a:ext cx="10247586" cy="4677103"/>
          </a:xfrm>
        </p:spPr>
        <p:txBody>
          <a:bodyPr>
            <a:normAutofit/>
          </a:bodyPr>
          <a:lstStyle/>
          <a:p>
            <a:pPr marL="342900" indent="-342900">
              <a:buFont typeface="Arial" panose="020B0604020202020204" pitchFamily="34" charset="0"/>
              <a:buChar char="•"/>
            </a:pPr>
            <a:r>
              <a:rPr lang="en-CA" dirty="0"/>
              <a:t>Introduction to Object Detection</a:t>
            </a:r>
          </a:p>
          <a:p>
            <a:pPr marL="342900" indent="-342900">
              <a:buFont typeface="Arial" panose="020B0604020202020204" pitchFamily="34" charset="0"/>
              <a:buChar char="•"/>
            </a:pPr>
            <a:r>
              <a:rPr lang="en-CA" dirty="0"/>
              <a:t>Traditional Object Detection</a:t>
            </a:r>
          </a:p>
          <a:p>
            <a:pPr marL="342900" indent="-342900">
              <a:buFont typeface="Arial" panose="020B0604020202020204" pitchFamily="34" charset="0"/>
              <a:buChar char="•"/>
            </a:pPr>
            <a:r>
              <a:rPr lang="en-CA" dirty="0"/>
              <a:t>Deep Learning in Object Detection</a:t>
            </a:r>
          </a:p>
          <a:p>
            <a:pPr marL="342900" indent="-342900">
              <a:buFont typeface="Arial" panose="020B0604020202020204" pitchFamily="34" charset="0"/>
              <a:buChar char="•"/>
            </a:pPr>
            <a:r>
              <a:rPr lang="en-CA" dirty="0"/>
              <a:t>Detection Models Vs Classification models</a:t>
            </a:r>
          </a:p>
          <a:p>
            <a:pPr marL="342900" indent="-342900">
              <a:buFont typeface="Arial" panose="020B0604020202020204" pitchFamily="34" charset="0"/>
              <a:buChar char="•"/>
            </a:pPr>
            <a:r>
              <a:rPr lang="en-CA" dirty="0"/>
              <a:t>R CNN</a:t>
            </a:r>
          </a:p>
          <a:p>
            <a:pPr marL="342900" indent="-342900">
              <a:buFont typeface="Arial" panose="020B0604020202020204" pitchFamily="34" charset="0"/>
              <a:buChar char="•"/>
            </a:pPr>
            <a:r>
              <a:rPr lang="en-CA" dirty="0"/>
              <a:t>YOLO</a:t>
            </a:r>
          </a:p>
          <a:p>
            <a:pPr marL="342900" indent="-342900">
              <a:buFont typeface="Arial" panose="020B0604020202020204" pitchFamily="34" charset="0"/>
              <a:buChar char="•"/>
            </a:pPr>
            <a:r>
              <a:rPr lang="en-CA" dirty="0"/>
              <a:t>SSD</a:t>
            </a:r>
          </a:p>
        </p:txBody>
      </p:sp>
      <p:sp>
        <p:nvSpPr>
          <p:cNvPr id="2" name="Title 1">
            <a:extLst>
              <a:ext uri="{FF2B5EF4-FFF2-40B4-BE49-F238E27FC236}">
                <a16:creationId xmlns:a16="http://schemas.microsoft.com/office/drawing/2014/main" id="{E41B33D5-DF63-10A7-85B2-0FF1019148EB}"/>
              </a:ext>
            </a:extLst>
          </p:cNvPr>
          <p:cNvSpPr>
            <a:spLocks noGrp="1"/>
          </p:cNvSpPr>
          <p:nvPr>
            <p:ph type="title"/>
          </p:nvPr>
        </p:nvSpPr>
        <p:spPr>
          <a:xfrm>
            <a:off x="564828" y="583669"/>
            <a:ext cx="9445475" cy="759827"/>
          </a:xfrm>
        </p:spPr>
        <p:txBody>
          <a:bodyPr anchor="t">
            <a:normAutofit/>
          </a:bodyPr>
          <a:lstStyle/>
          <a:p>
            <a:r>
              <a:rPr lang="en-US" sz="4000" dirty="0"/>
              <a:t>Today’s Topics</a:t>
            </a:r>
            <a:endParaRPr lang="en-CA" sz="4000" dirty="0"/>
          </a:p>
        </p:txBody>
      </p:sp>
      <p:sp>
        <p:nvSpPr>
          <p:cNvPr id="4" name="TextBox 3">
            <a:extLst>
              <a:ext uri="{FF2B5EF4-FFF2-40B4-BE49-F238E27FC236}">
                <a16:creationId xmlns:a16="http://schemas.microsoft.com/office/drawing/2014/main" id="{B24592D5-53F8-5685-A55D-E366D6D6F3BB}"/>
              </a:ext>
            </a:extLst>
          </p:cNvPr>
          <p:cNvSpPr txBox="1"/>
          <p:nvPr/>
        </p:nvSpPr>
        <p:spPr>
          <a:xfrm>
            <a:off x="4519448" y="2007476"/>
            <a:ext cx="184731" cy="569387"/>
          </a:xfrm>
          <a:prstGeom prst="rect">
            <a:avLst/>
          </a:prstGeom>
          <a:noFill/>
        </p:spPr>
        <p:txBody>
          <a:bodyPr wrap="none" rtlCol="0">
            <a:spAutoFit/>
          </a:bodyPr>
          <a:lstStyle/>
          <a:p>
            <a:endParaRPr lang="en-CZ" dirty="0"/>
          </a:p>
        </p:txBody>
      </p:sp>
    </p:spTree>
    <p:extLst>
      <p:ext uri="{BB962C8B-B14F-4D97-AF65-F5344CB8AC3E}">
        <p14:creationId xmlns:p14="http://schemas.microsoft.com/office/powerpoint/2010/main" val="3536654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7C71851-886A-7578-E561-8EB426F40C7E}"/>
              </a:ext>
            </a:extLst>
          </p:cNvPr>
          <p:cNvSpPr>
            <a:spLocks noGrp="1"/>
          </p:cNvSpPr>
          <p:nvPr>
            <p:ph type="body" sz="quarter" idx="15"/>
          </p:nvPr>
        </p:nvSpPr>
        <p:spPr>
          <a:xfrm>
            <a:off x="609603" y="1803401"/>
            <a:ext cx="5612587" cy="3848100"/>
          </a:xfrm>
        </p:spPr>
        <p:txBody>
          <a:bodyPr>
            <a:normAutofit fontScale="92500"/>
          </a:bodyPr>
          <a:lstStyle/>
          <a:p>
            <a:pPr>
              <a:lnSpc>
                <a:spcPct val="100000"/>
              </a:lnSpc>
            </a:pPr>
            <a:r>
              <a:rPr lang="en-US" dirty="0">
                <a:solidFill>
                  <a:srgbClr val="7030A0"/>
                </a:solidFill>
              </a:rPr>
              <a:t>Object detection </a:t>
            </a:r>
            <a:r>
              <a:rPr lang="en-US" dirty="0"/>
              <a:t>is a crucial aspect of computer vision, where the goal is to identify and locate objects in images or videos. </a:t>
            </a:r>
          </a:p>
          <a:p>
            <a:pPr>
              <a:lnSpc>
                <a:spcPct val="100000"/>
              </a:lnSpc>
            </a:pPr>
            <a:r>
              <a:rPr lang="en-US" dirty="0"/>
              <a:t>It's a step beyond image classification by not only categorizing the objects but also indicating </a:t>
            </a:r>
            <a:r>
              <a:rPr lang="en-US" dirty="0">
                <a:solidFill>
                  <a:srgbClr val="7030A0"/>
                </a:solidFill>
              </a:rPr>
              <a:t>their location and scale within the scene</a:t>
            </a:r>
            <a:r>
              <a:rPr lang="en-US" dirty="0"/>
              <a:t>. </a:t>
            </a:r>
          </a:p>
          <a:p>
            <a:pPr>
              <a:lnSpc>
                <a:spcPct val="100000"/>
              </a:lnSpc>
            </a:pPr>
            <a:r>
              <a:rPr lang="en-US" dirty="0"/>
              <a:t>Common applications include surveillance, autonomous vehicles, and facial recognition.</a:t>
            </a:r>
            <a:endParaRPr lang="en-CA" dirty="0"/>
          </a:p>
        </p:txBody>
      </p:sp>
      <p:sp>
        <p:nvSpPr>
          <p:cNvPr id="2" name="Title 1">
            <a:extLst>
              <a:ext uri="{FF2B5EF4-FFF2-40B4-BE49-F238E27FC236}">
                <a16:creationId xmlns:a16="http://schemas.microsoft.com/office/drawing/2014/main" id="{9C66C071-6DA4-67B0-6E5A-C91A93599726}"/>
              </a:ext>
            </a:extLst>
          </p:cNvPr>
          <p:cNvSpPr>
            <a:spLocks noGrp="1"/>
          </p:cNvSpPr>
          <p:nvPr>
            <p:ph type="title"/>
          </p:nvPr>
        </p:nvSpPr>
        <p:spPr>
          <a:xfrm>
            <a:off x="609601" y="576274"/>
            <a:ext cx="5612588" cy="1001980"/>
          </a:xfrm>
        </p:spPr>
        <p:txBody>
          <a:bodyPr anchor="t">
            <a:normAutofit/>
          </a:bodyPr>
          <a:lstStyle/>
          <a:p>
            <a:r>
              <a:rPr lang="en-CA"/>
              <a:t>Introduction to Object Detection</a:t>
            </a:r>
          </a:p>
        </p:txBody>
      </p:sp>
      <p:pic>
        <p:nvPicPr>
          <p:cNvPr id="6" name="Picture 5" descr="A person sitting on a staircase with a dog&#10;&#10;Description automatically generated">
            <a:extLst>
              <a:ext uri="{FF2B5EF4-FFF2-40B4-BE49-F238E27FC236}">
                <a16:creationId xmlns:a16="http://schemas.microsoft.com/office/drawing/2014/main" id="{0D01D96B-3CE3-DA9A-0925-291CEC0B3B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7444" y="603637"/>
            <a:ext cx="3536303" cy="5304455"/>
          </a:xfrm>
          <a:prstGeom prst="rect">
            <a:avLst/>
          </a:prstGeom>
        </p:spPr>
      </p:pic>
    </p:spTree>
    <p:extLst>
      <p:ext uri="{BB962C8B-B14F-4D97-AF65-F5344CB8AC3E}">
        <p14:creationId xmlns:p14="http://schemas.microsoft.com/office/powerpoint/2010/main" val="2169207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FD758-BE7B-82BA-9BE5-E95372F966C6}"/>
              </a:ext>
            </a:extLst>
          </p:cNvPr>
          <p:cNvSpPr>
            <a:spLocks noGrp="1"/>
          </p:cNvSpPr>
          <p:nvPr>
            <p:ph type="title"/>
          </p:nvPr>
        </p:nvSpPr>
        <p:spPr>
          <a:xfrm>
            <a:off x="504497" y="94209"/>
            <a:ext cx="10100440" cy="704577"/>
          </a:xfrm>
        </p:spPr>
        <p:txBody>
          <a:bodyPr anchor="b">
            <a:normAutofit/>
          </a:bodyPr>
          <a:lstStyle/>
          <a:p>
            <a:r>
              <a:rPr lang="en-US" dirty="0"/>
              <a:t>The Evolution of Object Detection</a:t>
            </a:r>
            <a:endParaRPr lang="en-CA" dirty="0"/>
          </a:p>
        </p:txBody>
      </p:sp>
      <p:sp>
        <p:nvSpPr>
          <p:cNvPr id="3" name="Text Placeholder 2">
            <a:extLst>
              <a:ext uri="{FF2B5EF4-FFF2-40B4-BE49-F238E27FC236}">
                <a16:creationId xmlns:a16="http://schemas.microsoft.com/office/drawing/2014/main" id="{18DFC248-3E4E-CB63-E242-117563CCEB1E}"/>
              </a:ext>
            </a:extLst>
          </p:cNvPr>
          <p:cNvSpPr>
            <a:spLocks noGrp="1"/>
          </p:cNvSpPr>
          <p:nvPr>
            <p:ph type="body" idx="1"/>
          </p:nvPr>
        </p:nvSpPr>
        <p:spPr>
          <a:xfrm>
            <a:off x="914401" y="4255745"/>
            <a:ext cx="8565930" cy="2602255"/>
          </a:xfrm>
        </p:spPr>
        <p:txBody>
          <a:bodyPr anchor="t">
            <a:normAutofit/>
          </a:bodyPr>
          <a:lstStyle/>
          <a:p>
            <a:pPr>
              <a:lnSpc>
                <a:spcPct val="90000"/>
              </a:lnSpc>
            </a:pPr>
            <a:r>
              <a:rPr lang="en-US" sz="2000" dirty="0"/>
              <a:t>The field of object detection has transitioned from manual feature extraction and simple classifiers to sophisticated deep learning models. Early methods, like </a:t>
            </a:r>
            <a:r>
              <a:rPr lang="en-US" sz="2000" b="1" dirty="0"/>
              <a:t>template matching and feature-based approaches</a:t>
            </a:r>
            <a:r>
              <a:rPr lang="en-US" sz="2000" dirty="0"/>
              <a:t>, were limited by their rigidity and inability to handle variations in scale, viewpoint, and illumination. The advent of deep learning brought about a paradigm shift, leveraging neural networks to </a:t>
            </a:r>
            <a:r>
              <a:rPr lang="en-US" sz="2000" b="1" dirty="0"/>
              <a:t>automatically learn features </a:t>
            </a:r>
            <a:r>
              <a:rPr lang="en-US" sz="2000" dirty="0"/>
              <a:t>directly from data.</a:t>
            </a:r>
            <a:endParaRPr lang="en-CA" sz="2000" dirty="0"/>
          </a:p>
        </p:txBody>
      </p:sp>
      <p:sp>
        <p:nvSpPr>
          <p:cNvPr id="5" name="TextBox 4">
            <a:extLst>
              <a:ext uri="{FF2B5EF4-FFF2-40B4-BE49-F238E27FC236}">
                <a16:creationId xmlns:a16="http://schemas.microsoft.com/office/drawing/2014/main" id="{9480D800-4C6F-6DF8-A0DD-8C3E26DBA7C7}"/>
              </a:ext>
            </a:extLst>
          </p:cNvPr>
          <p:cNvSpPr txBox="1"/>
          <p:nvPr/>
        </p:nvSpPr>
        <p:spPr>
          <a:xfrm>
            <a:off x="3171825" y="2457450"/>
            <a:ext cx="184731" cy="569387"/>
          </a:xfrm>
          <a:prstGeom prst="rect">
            <a:avLst/>
          </a:prstGeom>
          <a:noFill/>
        </p:spPr>
        <p:txBody>
          <a:bodyPr wrap="none" rtlCol="0">
            <a:spAutoFit/>
          </a:bodyPr>
          <a:lstStyle/>
          <a:p>
            <a:endParaRPr lang="en-CZ" dirty="0"/>
          </a:p>
        </p:txBody>
      </p:sp>
      <p:pic>
        <p:nvPicPr>
          <p:cNvPr id="8" name="Picture 7">
            <a:extLst>
              <a:ext uri="{FF2B5EF4-FFF2-40B4-BE49-F238E27FC236}">
                <a16:creationId xmlns:a16="http://schemas.microsoft.com/office/drawing/2014/main" id="{96178633-409F-6647-F471-013EA81E8C84}"/>
              </a:ext>
            </a:extLst>
          </p:cNvPr>
          <p:cNvPicPr>
            <a:picLocks noChangeAspect="1"/>
          </p:cNvPicPr>
          <p:nvPr/>
        </p:nvPicPr>
        <p:blipFill>
          <a:blip r:embed="rId2"/>
          <a:stretch>
            <a:fillRect/>
          </a:stretch>
        </p:blipFill>
        <p:spPr>
          <a:xfrm>
            <a:off x="1311166" y="1230583"/>
            <a:ext cx="7772400" cy="2593365"/>
          </a:xfrm>
          <a:prstGeom prst="rect">
            <a:avLst/>
          </a:prstGeom>
        </p:spPr>
      </p:pic>
    </p:spTree>
    <p:extLst>
      <p:ext uri="{BB962C8B-B14F-4D97-AF65-F5344CB8AC3E}">
        <p14:creationId xmlns:p14="http://schemas.microsoft.com/office/powerpoint/2010/main" val="381720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2BC6A5-3EBB-6E5E-6189-9389E717C01E}"/>
              </a:ext>
            </a:extLst>
          </p:cNvPr>
          <p:cNvSpPr>
            <a:spLocks noGrp="1"/>
          </p:cNvSpPr>
          <p:nvPr>
            <p:ph type="body" sz="quarter" idx="15"/>
          </p:nvPr>
        </p:nvSpPr>
        <p:spPr>
          <a:xfrm>
            <a:off x="609603" y="1803401"/>
            <a:ext cx="5612587" cy="3848100"/>
          </a:xfrm>
        </p:spPr>
        <p:txBody>
          <a:bodyPr>
            <a:normAutofit/>
          </a:bodyPr>
          <a:lstStyle/>
          <a:p>
            <a:pPr>
              <a:lnSpc>
                <a:spcPct val="100000"/>
              </a:lnSpc>
            </a:pPr>
            <a:r>
              <a:rPr lang="en-US" sz="2000" dirty="0"/>
              <a:t>In traditional object detection, feature extraction was a critical step. Techniques like </a:t>
            </a:r>
            <a:r>
              <a:rPr lang="en-US" sz="2000" dirty="0">
                <a:solidFill>
                  <a:srgbClr val="7030A0"/>
                </a:solidFill>
              </a:rPr>
              <a:t>SIFT</a:t>
            </a:r>
            <a:r>
              <a:rPr lang="en-US" sz="2000" dirty="0"/>
              <a:t> (Scale-Invariant Feature Transform) and </a:t>
            </a:r>
            <a:r>
              <a:rPr lang="en-US" sz="2000" dirty="0">
                <a:solidFill>
                  <a:srgbClr val="7030A0"/>
                </a:solidFill>
              </a:rPr>
              <a:t>HOG</a:t>
            </a:r>
            <a:r>
              <a:rPr lang="en-US" sz="2000" dirty="0"/>
              <a:t> (Histogram of Oriented Gradients) were widely used to describe local image appearances and shapes. The </a:t>
            </a:r>
            <a:r>
              <a:rPr lang="en-US" sz="2000" dirty="0">
                <a:solidFill>
                  <a:srgbClr val="7030A0"/>
                </a:solidFill>
              </a:rPr>
              <a:t>sliding window method </a:t>
            </a:r>
            <a:r>
              <a:rPr lang="en-US" sz="2000" dirty="0"/>
              <a:t>was then applied to systematically move across the image at various scales and extract these features. A classifier like </a:t>
            </a:r>
            <a:r>
              <a:rPr lang="en-US" sz="2000" dirty="0">
                <a:solidFill>
                  <a:srgbClr val="7030A0"/>
                </a:solidFill>
              </a:rPr>
              <a:t>SVM</a:t>
            </a:r>
            <a:r>
              <a:rPr lang="en-US" sz="2000" dirty="0"/>
              <a:t> (Support Vector Machine) would then determine whether each window contains the object of interest.</a:t>
            </a:r>
            <a:endParaRPr lang="en-CA" sz="2000" dirty="0"/>
          </a:p>
        </p:txBody>
      </p:sp>
      <p:sp>
        <p:nvSpPr>
          <p:cNvPr id="2" name="Title 1">
            <a:extLst>
              <a:ext uri="{FF2B5EF4-FFF2-40B4-BE49-F238E27FC236}">
                <a16:creationId xmlns:a16="http://schemas.microsoft.com/office/drawing/2014/main" id="{4CA499A6-BC99-9E61-6CA0-CDB28A38BF51}"/>
              </a:ext>
            </a:extLst>
          </p:cNvPr>
          <p:cNvSpPr>
            <a:spLocks noGrp="1"/>
          </p:cNvSpPr>
          <p:nvPr>
            <p:ph type="title"/>
          </p:nvPr>
        </p:nvSpPr>
        <p:spPr>
          <a:xfrm>
            <a:off x="609601" y="576274"/>
            <a:ext cx="5612588" cy="1001980"/>
          </a:xfrm>
        </p:spPr>
        <p:txBody>
          <a:bodyPr anchor="t">
            <a:normAutofit/>
          </a:bodyPr>
          <a:lstStyle/>
          <a:p>
            <a:r>
              <a:rPr lang="en-CA"/>
              <a:t>Traditional Object Detection: Overview</a:t>
            </a:r>
          </a:p>
        </p:txBody>
      </p:sp>
      <p:pic>
        <p:nvPicPr>
          <p:cNvPr id="1028" name="Picture 4" descr="Terminologies used In Face Detection with Haar Cascade Classifier: Open CV  | by Rashmi Ranu | Artificial Intelligence in Plain English">
            <a:extLst>
              <a:ext uri="{FF2B5EF4-FFF2-40B4-BE49-F238E27FC236}">
                <a16:creationId xmlns:a16="http://schemas.microsoft.com/office/drawing/2014/main" id="{2B79A26A-E136-8D3C-610D-90726F01D83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09488" y="1687143"/>
            <a:ext cx="5182512" cy="2916986"/>
          </a:xfrm>
          <a:prstGeom prst="rect">
            <a:avLst/>
          </a:prstGeom>
          <a:solidFill>
            <a:srgbClr val="FFFFFF"/>
          </a:solidFill>
        </p:spPr>
      </p:pic>
      <p:sp>
        <p:nvSpPr>
          <p:cNvPr id="4" name="TextBox 3">
            <a:extLst>
              <a:ext uri="{FF2B5EF4-FFF2-40B4-BE49-F238E27FC236}">
                <a16:creationId xmlns:a16="http://schemas.microsoft.com/office/drawing/2014/main" id="{D12270EB-8DA8-0B6B-8F1A-C0BCDD99DE79}"/>
              </a:ext>
            </a:extLst>
          </p:cNvPr>
          <p:cNvSpPr txBox="1"/>
          <p:nvPr/>
        </p:nvSpPr>
        <p:spPr>
          <a:xfrm>
            <a:off x="7715039" y="4523746"/>
            <a:ext cx="3771409" cy="702821"/>
          </a:xfrm>
          <a:prstGeom prst="rect">
            <a:avLst/>
          </a:prstGeom>
          <a:solidFill>
            <a:srgbClr val="43B02A"/>
          </a:solidFill>
          <a:ln>
            <a:noFill/>
          </a:ln>
        </p:spPr>
        <p:txBody>
          <a:bodyPr vert="horz" wrap="square" lIns="252000" tIns="252000" rIns="252000" bIns="252000" rtlCol="0" anchor="ctr">
            <a:normAutofit/>
          </a:bodyPr>
          <a:lstStyle/>
          <a:p>
            <a:pPr defTabSz="586109">
              <a:lnSpc>
                <a:spcPct val="90000"/>
              </a:lnSpc>
              <a:spcBef>
                <a:spcPct val="20000"/>
              </a:spcBef>
              <a:buClr>
                <a:schemeClr val="accent2"/>
              </a:buClr>
            </a:pPr>
            <a:r>
              <a:rPr lang="en-US" sz="1300" b="1" kern="1200" baseline="0">
                <a:ln>
                  <a:noFill/>
                </a:ln>
                <a:solidFill>
                  <a:schemeClr val="bg1"/>
                </a:solidFill>
                <a:effectLst/>
              </a:rPr>
              <a:t>Sliding window with image pyramid</a:t>
            </a:r>
          </a:p>
        </p:txBody>
      </p:sp>
    </p:spTree>
    <p:extLst>
      <p:ext uri="{BB962C8B-B14F-4D97-AF65-F5344CB8AC3E}">
        <p14:creationId xmlns:p14="http://schemas.microsoft.com/office/powerpoint/2010/main" val="3605251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36EF9-8283-81E8-C9CE-480E08C4193A}"/>
              </a:ext>
            </a:extLst>
          </p:cNvPr>
          <p:cNvSpPr>
            <a:spLocks noGrp="1"/>
          </p:cNvSpPr>
          <p:nvPr>
            <p:ph type="title"/>
          </p:nvPr>
        </p:nvSpPr>
        <p:spPr>
          <a:xfrm>
            <a:off x="609601" y="576274"/>
            <a:ext cx="10842170" cy="1001980"/>
          </a:xfrm>
        </p:spPr>
        <p:txBody>
          <a:bodyPr anchor="t">
            <a:normAutofit/>
          </a:bodyPr>
          <a:lstStyle/>
          <a:p>
            <a:r>
              <a:rPr lang="en-US" sz="4000" dirty="0"/>
              <a:t>Traditional Object Detection: Key Concepts</a:t>
            </a:r>
            <a:endParaRPr lang="en-CA" sz="4000" dirty="0"/>
          </a:p>
        </p:txBody>
      </p:sp>
      <p:sp>
        <p:nvSpPr>
          <p:cNvPr id="3" name="Text Placeholder 2">
            <a:extLst>
              <a:ext uri="{FF2B5EF4-FFF2-40B4-BE49-F238E27FC236}">
                <a16:creationId xmlns:a16="http://schemas.microsoft.com/office/drawing/2014/main" id="{E53FF96F-7811-DEAA-B49E-48DD836067F1}"/>
              </a:ext>
            </a:extLst>
          </p:cNvPr>
          <p:cNvSpPr>
            <a:spLocks noGrp="1"/>
          </p:cNvSpPr>
          <p:nvPr>
            <p:ph type="body" sz="quarter" idx="15"/>
          </p:nvPr>
        </p:nvSpPr>
        <p:spPr>
          <a:xfrm>
            <a:off x="457201" y="1393371"/>
            <a:ext cx="11462656" cy="4659086"/>
          </a:xfrm>
        </p:spPr>
        <p:txBody>
          <a:bodyPr>
            <a:normAutofit/>
          </a:bodyPr>
          <a:lstStyle/>
          <a:p>
            <a:pPr>
              <a:lnSpc>
                <a:spcPct val="100000"/>
              </a:lnSpc>
            </a:pPr>
            <a:r>
              <a:rPr lang="en-US" sz="2800" dirty="0">
                <a:solidFill>
                  <a:srgbClr val="7030A0"/>
                </a:solidFill>
              </a:rPr>
              <a:t>Descriptors</a:t>
            </a:r>
            <a:r>
              <a:rPr lang="en-US" sz="2800" dirty="0"/>
              <a:t> play a crucial role in defining the characteristics of objects. For example, SIFT identifies and describes local features in images, invariant to scaling and rotation, making it effective for matching different images of the same object. </a:t>
            </a:r>
          </a:p>
          <a:p>
            <a:pPr>
              <a:lnSpc>
                <a:spcPct val="100000"/>
              </a:lnSpc>
            </a:pPr>
            <a:r>
              <a:rPr lang="en-US" sz="2800" dirty="0"/>
              <a:t>The Histogram of Oriented Gradients (</a:t>
            </a:r>
            <a:r>
              <a:rPr lang="en-US" sz="2800" dirty="0">
                <a:solidFill>
                  <a:srgbClr val="7030A0"/>
                </a:solidFill>
              </a:rPr>
              <a:t>HOG</a:t>
            </a:r>
            <a:r>
              <a:rPr lang="en-US" sz="2800" dirty="0"/>
              <a:t>) captures the structure of objects by aggregating local gradient directions or edge orientations.</a:t>
            </a:r>
          </a:p>
          <a:p>
            <a:pPr>
              <a:lnSpc>
                <a:spcPct val="100000"/>
              </a:lnSpc>
            </a:pPr>
            <a:r>
              <a:rPr lang="en-US" sz="2800" dirty="0"/>
              <a:t> The sliding window technique involves moving a window of various sizes across the image, extracting features at each position, and using a classifier like SVM to label each window as containing the object or not.</a:t>
            </a:r>
            <a:endParaRPr lang="en-CA" sz="2800" dirty="0"/>
          </a:p>
        </p:txBody>
      </p:sp>
    </p:spTree>
    <p:extLst>
      <p:ext uri="{BB962C8B-B14F-4D97-AF65-F5344CB8AC3E}">
        <p14:creationId xmlns:p14="http://schemas.microsoft.com/office/powerpoint/2010/main" val="2544416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A5D7947-B099-6A7A-C06F-E656E1D4D748}"/>
              </a:ext>
            </a:extLst>
          </p:cNvPr>
          <p:cNvSpPr>
            <a:spLocks noGrp="1"/>
          </p:cNvSpPr>
          <p:nvPr>
            <p:ph type="body" sz="quarter" idx="15"/>
          </p:nvPr>
        </p:nvSpPr>
        <p:spPr>
          <a:xfrm>
            <a:off x="609603" y="1803401"/>
            <a:ext cx="11081654" cy="3693885"/>
          </a:xfrm>
        </p:spPr>
        <p:txBody>
          <a:bodyPr>
            <a:normAutofit/>
          </a:bodyPr>
          <a:lstStyle/>
          <a:p>
            <a:r>
              <a:rPr lang="en-US" dirty="0"/>
              <a:t>Traditional methods struggled with </a:t>
            </a:r>
            <a:r>
              <a:rPr lang="en-US" dirty="0">
                <a:solidFill>
                  <a:srgbClr val="7030A0"/>
                </a:solidFill>
              </a:rPr>
              <a:t>variations in object scale, orientation, and lighting conditions</a:t>
            </a:r>
            <a:r>
              <a:rPr lang="en-US" dirty="0"/>
              <a:t>. The need for handcrafted features </a:t>
            </a:r>
            <a:r>
              <a:rPr lang="en-US" dirty="0">
                <a:solidFill>
                  <a:srgbClr val="7030A0"/>
                </a:solidFill>
              </a:rPr>
              <a:t>limited their adaptability and effectiveness</a:t>
            </a:r>
            <a:r>
              <a:rPr lang="en-US" dirty="0"/>
              <a:t>, as these features might not generalize well across diverse scenarios. Additionally, the computational inefficiency of sliding windows, particularly in high-resolution images, posed significant challenges for real-time applications.</a:t>
            </a:r>
            <a:endParaRPr lang="en-CA" dirty="0"/>
          </a:p>
        </p:txBody>
      </p:sp>
      <p:sp>
        <p:nvSpPr>
          <p:cNvPr id="2" name="Title 1">
            <a:extLst>
              <a:ext uri="{FF2B5EF4-FFF2-40B4-BE49-F238E27FC236}">
                <a16:creationId xmlns:a16="http://schemas.microsoft.com/office/drawing/2014/main" id="{C716ED13-6112-5064-BAE9-DF5E3EA09A0A}"/>
              </a:ext>
            </a:extLst>
          </p:cNvPr>
          <p:cNvSpPr>
            <a:spLocks noGrp="1"/>
          </p:cNvSpPr>
          <p:nvPr>
            <p:ph type="title"/>
          </p:nvPr>
        </p:nvSpPr>
        <p:spPr>
          <a:xfrm>
            <a:off x="609600" y="576274"/>
            <a:ext cx="9086849" cy="1001980"/>
          </a:xfrm>
        </p:spPr>
        <p:txBody>
          <a:bodyPr anchor="t">
            <a:normAutofit/>
          </a:bodyPr>
          <a:lstStyle/>
          <a:p>
            <a:r>
              <a:rPr lang="en-US" dirty="0"/>
              <a:t>Limitations of Traditional Object Detection</a:t>
            </a:r>
            <a:endParaRPr lang="en-CA" dirty="0"/>
          </a:p>
        </p:txBody>
      </p:sp>
    </p:spTree>
    <p:extLst>
      <p:ext uri="{BB962C8B-B14F-4D97-AF65-F5344CB8AC3E}">
        <p14:creationId xmlns:p14="http://schemas.microsoft.com/office/powerpoint/2010/main" val="2538837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4D816-5A2A-4E27-247E-6B57B8762FF0}"/>
              </a:ext>
            </a:extLst>
          </p:cNvPr>
          <p:cNvSpPr>
            <a:spLocks noGrp="1"/>
          </p:cNvSpPr>
          <p:nvPr>
            <p:ph type="title"/>
          </p:nvPr>
        </p:nvSpPr>
        <p:spPr>
          <a:xfrm>
            <a:off x="609601" y="325437"/>
            <a:ext cx="7250676" cy="1362076"/>
          </a:xfrm>
        </p:spPr>
        <p:txBody>
          <a:bodyPr anchor="b">
            <a:normAutofit/>
          </a:bodyPr>
          <a:lstStyle/>
          <a:p>
            <a:r>
              <a:rPr lang="en-CA" dirty="0"/>
              <a:t>Transition to Deep Learning</a:t>
            </a:r>
          </a:p>
        </p:txBody>
      </p:sp>
      <p:sp>
        <p:nvSpPr>
          <p:cNvPr id="3" name="Text Placeholder 2">
            <a:extLst>
              <a:ext uri="{FF2B5EF4-FFF2-40B4-BE49-F238E27FC236}">
                <a16:creationId xmlns:a16="http://schemas.microsoft.com/office/drawing/2014/main" id="{CCCE4141-703F-E95B-A9B7-FB13C7C12329}"/>
              </a:ext>
            </a:extLst>
          </p:cNvPr>
          <p:cNvSpPr>
            <a:spLocks noGrp="1"/>
          </p:cNvSpPr>
          <p:nvPr>
            <p:ph type="body" idx="1"/>
          </p:nvPr>
        </p:nvSpPr>
        <p:spPr>
          <a:xfrm>
            <a:off x="609601" y="1928811"/>
            <a:ext cx="10406742" cy="4603751"/>
          </a:xfrm>
        </p:spPr>
        <p:txBody>
          <a:bodyPr anchor="t">
            <a:normAutofit/>
          </a:bodyPr>
          <a:lstStyle/>
          <a:p>
            <a:pPr>
              <a:lnSpc>
                <a:spcPct val="90000"/>
              </a:lnSpc>
            </a:pPr>
            <a:r>
              <a:rPr lang="en-US" sz="2400" dirty="0"/>
              <a:t>The advent of deep learning marked a transformative change in object detection. Neural networks, particularly Convolutional Neural Networks (CNNs), allowed for automatic feature extraction, learning complex patterns directly from data. This shift not only improved detection accuracy but also enabled the systems to adapt to a wide range of objects and scenes, overcoming many limitations of traditional methods.</a:t>
            </a:r>
            <a:endParaRPr lang="en-CA" sz="2400" dirty="0"/>
          </a:p>
        </p:txBody>
      </p:sp>
    </p:spTree>
    <p:extLst>
      <p:ext uri="{BB962C8B-B14F-4D97-AF65-F5344CB8AC3E}">
        <p14:creationId xmlns:p14="http://schemas.microsoft.com/office/powerpoint/2010/main" val="3371085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4D816-5A2A-4E27-247E-6B57B8762FF0}"/>
              </a:ext>
            </a:extLst>
          </p:cNvPr>
          <p:cNvSpPr>
            <a:spLocks noGrp="1"/>
          </p:cNvSpPr>
          <p:nvPr>
            <p:ph type="title"/>
          </p:nvPr>
        </p:nvSpPr>
        <p:spPr>
          <a:xfrm>
            <a:off x="609601" y="576274"/>
            <a:ext cx="7106241" cy="1001980"/>
          </a:xfrm>
        </p:spPr>
        <p:txBody>
          <a:bodyPr anchor="t">
            <a:normAutofit/>
          </a:bodyPr>
          <a:lstStyle/>
          <a:p>
            <a:r>
              <a:rPr lang="en-CA"/>
              <a:t>Transition to Deep Learning</a:t>
            </a:r>
          </a:p>
        </p:txBody>
      </p:sp>
      <p:pic>
        <p:nvPicPr>
          <p:cNvPr id="2050" name="Picture 2" descr="Traditional computer vision technology and deep learning approach... |  Download Scientific Diagram">
            <a:extLst>
              <a:ext uri="{FF2B5EF4-FFF2-40B4-BE49-F238E27FC236}">
                <a16:creationId xmlns:a16="http://schemas.microsoft.com/office/drawing/2014/main" id="{1CDE4463-2274-1D58-D968-234F77DE13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75" y="1276350"/>
            <a:ext cx="8096250" cy="432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481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695D42-6D33-5C96-F074-4E095ED8B75C}"/>
              </a:ext>
            </a:extLst>
          </p:cNvPr>
          <p:cNvSpPr>
            <a:spLocks noGrp="1"/>
          </p:cNvSpPr>
          <p:nvPr>
            <p:ph type="body" sz="quarter" idx="15"/>
          </p:nvPr>
        </p:nvSpPr>
        <p:spPr>
          <a:xfrm>
            <a:off x="609603" y="1803401"/>
            <a:ext cx="5612587" cy="3848100"/>
          </a:xfrm>
        </p:spPr>
        <p:txBody>
          <a:bodyPr>
            <a:normAutofit/>
          </a:bodyPr>
          <a:lstStyle/>
          <a:p>
            <a:pPr>
              <a:lnSpc>
                <a:spcPct val="100000"/>
              </a:lnSpc>
            </a:pPr>
            <a:r>
              <a:rPr lang="en-US"/>
              <a:t>In deep learning-based object detection, CNNs play a vital role in feature extraction. Layers of a CNN automatically learn to detect edges, textures, and eventually complex patterns as the network deepens. This hierarchical feature extraction process enables the model to learn a robust representation of objects, making it adept at handling variations in appearance and viewpoint.</a:t>
            </a:r>
            <a:endParaRPr lang="en-CA"/>
          </a:p>
        </p:txBody>
      </p:sp>
      <p:sp>
        <p:nvSpPr>
          <p:cNvPr id="2" name="Title 1">
            <a:extLst>
              <a:ext uri="{FF2B5EF4-FFF2-40B4-BE49-F238E27FC236}">
                <a16:creationId xmlns:a16="http://schemas.microsoft.com/office/drawing/2014/main" id="{C164624A-E399-A2FE-A6F4-6548AE9B8581}"/>
              </a:ext>
            </a:extLst>
          </p:cNvPr>
          <p:cNvSpPr>
            <a:spLocks noGrp="1"/>
          </p:cNvSpPr>
          <p:nvPr>
            <p:ph type="title"/>
          </p:nvPr>
        </p:nvSpPr>
        <p:spPr>
          <a:xfrm>
            <a:off x="609601" y="576274"/>
            <a:ext cx="5612588" cy="1001980"/>
          </a:xfrm>
        </p:spPr>
        <p:txBody>
          <a:bodyPr anchor="t">
            <a:normAutofit/>
          </a:bodyPr>
          <a:lstStyle/>
          <a:p>
            <a:r>
              <a:rPr lang="en-US" sz="3100"/>
              <a:t>Deep Learning in Object Detection: Feature Extraction</a:t>
            </a:r>
            <a:endParaRPr lang="en-CA" sz="3100"/>
          </a:p>
        </p:txBody>
      </p:sp>
      <p:pic>
        <p:nvPicPr>
          <p:cNvPr id="5" name="Picture 4" descr="A network formed by white dots">
            <a:extLst>
              <a:ext uri="{FF2B5EF4-FFF2-40B4-BE49-F238E27FC236}">
                <a16:creationId xmlns:a16="http://schemas.microsoft.com/office/drawing/2014/main" id="{5981E4B4-B87F-6781-B87A-9038D38E34A0}"/>
              </a:ext>
            </a:extLst>
          </p:cNvPr>
          <p:cNvPicPr>
            <a:picLocks noChangeAspect="1"/>
          </p:cNvPicPr>
          <p:nvPr/>
        </p:nvPicPr>
        <p:blipFill rotWithShape="1">
          <a:blip r:embed="rId2"/>
          <a:srcRect l="20376" r="1" b="1"/>
          <a:stretch/>
        </p:blipFill>
        <p:spPr>
          <a:xfrm>
            <a:off x="7009488" y="639773"/>
            <a:ext cx="5182512" cy="5011727"/>
          </a:xfrm>
          <a:prstGeom prst="rect">
            <a:avLst/>
          </a:prstGeom>
          <a:noFill/>
        </p:spPr>
      </p:pic>
    </p:spTree>
    <p:extLst>
      <p:ext uri="{BB962C8B-B14F-4D97-AF65-F5344CB8AC3E}">
        <p14:creationId xmlns:p14="http://schemas.microsoft.com/office/powerpoint/2010/main" val="2880512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BB1DC6E-90D1-D122-3CC4-764BC82A47C2}"/>
              </a:ext>
            </a:extLst>
          </p:cNvPr>
          <p:cNvSpPr>
            <a:spLocks noGrp="1"/>
          </p:cNvSpPr>
          <p:nvPr>
            <p:ph type="body" sz="quarter" idx="15"/>
          </p:nvPr>
        </p:nvSpPr>
        <p:spPr>
          <a:xfrm>
            <a:off x="609603" y="1803401"/>
            <a:ext cx="9546768" cy="3848100"/>
          </a:xfrm>
        </p:spPr>
        <p:txBody>
          <a:bodyPr>
            <a:normAutofit/>
          </a:bodyPr>
          <a:lstStyle/>
          <a:p>
            <a:pPr>
              <a:lnSpc>
                <a:spcPct val="100000"/>
              </a:lnSpc>
            </a:pPr>
            <a:r>
              <a:rPr lang="en-US" sz="2000" dirty="0"/>
              <a:t>The detection head of a deep learning model is responsible for predicting object classes and locations. Unlike classification models that output class probabilities, detection models also predict bounding boxes around objects. This involves not only identifying </a:t>
            </a:r>
            <a:r>
              <a:rPr lang="en-US" sz="2000" dirty="0">
                <a:solidFill>
                  <a:srgbClr val="7030A0"/>
                </a:solidFill>
              </a:rPr>
              <a:t>'what</a:t>
            </a:r>
            <a:r>
              <a:rPr lang="en-US" sz="2000" dirty="0"/>
              <a:t>' is present in an image but also </a:t>
            </a:r>
            <a:r>
              <a:rPr lang="en-US" sz="2000" dirty="0">
                <a:solidFill>
                  <a:srgbClr val="7030A0"/>
                </a:solidFill>
              </a:rPr>
              <a:t>'where</a:t>
            </a:r>
            <a:r>
              <a:rPr lang="en-US" sz="2000" dirty="0"/>
              <a:t>' it is.</a:t>
            </a:r>
          </a:p>
          <a:p>
            <a:pPr>
              <a:lnSpc>
                <a:spcPct val="100000"/>
              </a:lnSpc>
            </a:pPr>
            <a:r>
              <a:rPr lang="en-US" sz="2000" dirty="0"/>
              <a:t>Techniques like Region Proposal Networks (RPN) in Faster R-CNN and grid-based approaches in YOLO (You Only Look Once) exemplify different strategies for this task.</a:t>
            </a:r>
            <a:endParaRPr lang="en-CA" sz="2000" dirty="0"/>
          </a:p>
        </p:txBody>
      </p:sp>
      <p:sp>
        <p:nvSpPr>
          <p:cNvPr id="2" name="Title 1">
            <a:extLst>
              <a:ext uri="{FF2B5EF4-FFF2-40B4-BE49-F238E27FC236}">
                <a16:creationId xmlns:a16="http://schemas.microsoft.com/office/drawing/2014/main" id="{FB2D2688-D201-67AF-FC1E-46BC0F40A25C}"/>
              </a:ext>
            </a:extLst>
          </p:cNvPr>
          <p:cNvSpPr>
            <a:spLocks noGrp="1"/>
          </p:cNvSpPr>
          <p:nvPr>
            <p:ph type="title"/>
          </p:nvPr>
        </p:nvSpPr>
        <p:spPr>
          <a:xfrm>
            <a:off x="609600" y="576274"/>
            <a:ext cx="8345213" cy="1001980"/>
          </a:xfrm>
        </p:spPr>
        <p:txBody>
          <a:bodyPr anchor="t">
            <a:normAutofit/>
          </a:bodyPr>
          <a:lstStyle/>
          <a:p>
            <a:r>
              <a:rPr lang="en-US" sz="3300" dirty="0"/>
              <a:t>Deep Learning in Object Detection: Detection Head</a:t>
            </a:r>
            <a:endParaRPr lang="en-CA" sz="3300" dirty="0"/>
          </a:p>
        </p:txBody>
      </p:sp>
    </p:spTree>
    <p:extLst>
      <p:ext uri="{BB962C8B-B14F-4D97-AF65-F5344CB8AC3E}">
        <p14:creationId xmlns:p14="http://schemas.microsoft.com/office/powerpoint/2010/main" val="1130054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D65BAB7-1A5B-1E42-A2BC-8048C9630906}"/>
              </a:ext>
            </a:extLst>
          </p:cNvPr>
          <p:cNvSpPr>
            <a:spLocks noGrp="1"/>
          </p:cNvSpPr>
          <p:nvPr>
            <p:ph type="body" sz="quarter" idx="15"/>
          </p:nvPr>
        </p:nvSpPr>
        <p:spPr>
          <a:xfrm>
            <a:off x="609603" y="1803400"/>
            <a:ext cx="6026661" cy="4129313"/>
          </a:xfrm>
        </p:spPr>
        <p:txBody>
          <a:bodyPr>
            <a:normAutofit/>
          </a:bodyPr>
          <a:lstStyle/>
          <a:p>
            <a:pPr>
              <a:lnSpc>
                <a:spcPct val="100000"/>
              </a:lnSpc>
            </a:pPr>
            <a:r>
              <a:rPr lang="en-US" sz="2000" dirty="0"/>
              <a:t>Detection models differ from classification models in their outputs. While classification models output a </a:t>
            </a:r>
            <a:r>
              <a:rPr lang="en-US" sz="2000" dirty="0">
                <a:solidFill>
                  <a:srgbClr val="7030A0"/>
                </a:solidFill>
              </a:rPr>
              <a:t>probability distribution across different classes</a:t>
            </a:r>
            <a:r>
              <a:rPr lang="en-US" sz="2000" dirty="0"/>
              <a:t> for the whole image, detection models provide </a:t>
            </a:r>
            <a:r>
              <a:rPr lang="en-US" sz="2000" dirty="0">
                <a:solidFill>
                  <a:srgbClr val="7030A0"/>
                </a:solidFill>
              </a:rPr>
              <a:t>class probabilities, bounding box coordinates, and sometimes confidence scores </a:t>
            </a:r>
            <a:r>
              <a:rPr lang="en-US" sz="2000" dirty="0"/>
              <a:t>for multiple objects within the image. </a:t>
            </a:r>
            <a:br>
              <a:rPr lang="en-US" sz="2000" dirty="0"/>
            </a:br>
            <a:br>
              <a:rPr lang="en-US" sz="2000" dirty="0"/>
            </a:br>
            <a:r>
              <a:rPr lang="en-US" sz="2000" dirty="0"/>
              <a:t>This distinction is crucial as it allows detection models to localize multiple objects and their scales within a single image, offering a more detailed understanding of the scene.</a:t>
            </a:r>
            <a:endParaRPr lang="en-CA" sz="2000" dirty="0"/>
          </a:p>
        </p:txBody>
      </p:sp>
      <p:sp>
        <p:nvSpPr>
          <p:cNvPr id="2" name="Title 1">
            <a:extLst>
              <a:ext uri="{FF2B5EF4-FFF2-40B4-BE49-F238E27FC236}">
                <a16:creationId xmlns:a16="http://schemas.microsoft.com/office/drawing/2014/main" id="{B1AD989A-E25B-2B0D-D08D-D464BB801A9E}"/>
              </a:ext>
            </a:extLst>
          </p:cNvPr>
          <p:cNvSpPr>
            <a:spLocks noGrp="1"/>
          </p:cNvSpPr>
          <p:nvPr>
            <p:ph type="title"/>
          </p:nvPr>
        </p:nvSpPr>
        <p:spPr>
          <a:xfrm>
            <a:off x="609601" y="576274"/>
            <a:ext cx="5612588" cy="1001980"/>
          </a:xfrm>
        </p:spPr>
        <p:txBody>
          <a:bodyPr anchor="t">
            <a:normAutofit/>
          </a:bodyPr>
          <a:lstStyle/>
          <a:p>
            <a:r>
              <a:rPr lang="en-CA" sz="3100"/>
              <a:t>Outputs of Detection Models vs. Classification Models</a:t>
            </a:r>
          </a:p>
        </p:txBody>
      </p:sp>
      <p:pic>
        <p:nvPicPr>
          <p:cNvPr id="4098" name="Picture 2" descr="Faster R-CNN Object Detection with PyTorch | LearnOpenCV">
            <a:extLst>
              <a:ext uri="{FF2B5EF4-FFF2-40B4-BE49-F238E27FC236}">
                <a16:creationId xmlns:a16="http://schemas.microsoft.com/office/drawing/2014/main" id="{90CEE474-7C1C-7EB2-BB50-400D83D3B5A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636264" y="1415398"/>
            <a:ext cx="5182512" cy="4027204"/>
          </a:xfrm>
          <a:prstGeom prst="rect">
            <a:avLst/>
          </a:prstGeom>
          <a:solidFill>
            <a:srgbClr val="FFFFFF"/>
          </a:solidFill>
        </p:spPr>
      </p:pic>
    </p:spTree>
    <p:extLst>
      <p:ext uri="{BB962C8B-B14F-4D97-AF65-F5344CB8AC3E}">
        <p14:creationId xmlns:p14="http://schemas.microsoft.com/office/powerpoint/2010/main" val="3313872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5B97797-F18B-87AF-2B48-F9ABA93CA38C}"/>
              </a:ext>
            </a:extLst>
          </p:cNvPr>
          <p:cNvSpPr>
            <a:spLocks noGrp="1"/>
          </p:cNvSpPr>
          <p:nvPr>
            <p:ph type="body" sz="quarter" idx="15"/>
          </p:nvPr>
        </p:nvSpPr>
        <p:spPr>
          <a:xfrm>
            <a:off x="609603" y="1629230"/>
            <a:ext cx="11582397" cy="1799770"/>
          </a:xfrm>
        </p:spPr>
        <p:txBody>
          <a:bodyPr>
            <a:normAutofit lnSpcReduction="10000"/>
          </a:bodyPr>
          <a:lstStyle/>
          <a:p>
            <a:r>
              <a:rPr lang="en-US" sz="2200" dirty="0"/>
              <a:t>Anchor-based detection heads use predefined bounding boxes (anchors) of various sizes and aspect ratios to detect objects. Techniques like Faster R-CNN generate region proposals based on these anchors, adjusting them to better fit the objects. This method is beneficial for detecting objects of different shapes and sizes but can be computationally intensive due to the large number of proposals.</a:t>
            </a:r>
            <a:endParaRPr lang="en-CA" sz="2200" dirty="0"/>
          </a:p>
        </p:txBody>
      </p:sp>
      <p:sp>
        <p:nvSpPr>
          <p:cNvPr id="2" name="Title 1">
            <a:extLst>
              <a:ext uri="{FF2B5EF4-FFF2-40B4-BE49-F238E27FC236}">
                <a16:creationId xmlns:a16="http://schemas.microsoft.com/office/drawing/2014/main" id="{83FEB6B0-C2BB-A135-81DB-B523DD0CF865}"/>
              </a:ext>
            </a:extLst>
          </p:cNvPr>
          <p:cNvSpPr>
            <a:spLocks noGrp="1"/>
          </p:cNvSpPr>
          <p:nvPr>
            <p:ph type="title"/>
          </p:nvPr>
        </p:nvSpPr>
        <p:spPr>
          <a:xfrm>
            <a:off x="609600" y="587160"/>
            <a:ext cx="9056913" cy="1001980"/>
          </a:xfrm>
        </p:spPr>
        <p:txBody>
          <a:bodyPr anchor="t">
            <a:normAutofit/>
          </a:bodyPr>
          <a:lstStyle/>
          <a:p>
            <a:r>
              <a:rPr lang="en-US" dirty="0"/>
              <a:t>Types of Detection Heads: Anchor-Based</a:t>
            </a:r>
            <a:endParaRPr lang="en-CA" dirty="0"/>
          </a:p>
        </p:txBody>
      </p:sp>
      <p:pic>
        <p:nvPicPr>
          <p:cNvPr id="5122" name="Picture 2" descr="Object Detection Part 4: Fast Detection Models | Lil'Log">
            <a:extLst>
              <a:ext uri="{FF2B5EF4-FFF2-40B4-BE49-F238E27FC236}">
                <a16:creationId xmlns:a16="http://schemas.microsoft.com/office/drawing/2014/main" id="{6A937737-43E3-1A0B-BA82-827F476CC9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0049" y="3570483"/>
            <a:ext cx="6431902" cy="2635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2558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7DB39-2A49-8F87-1254-7AE366000EB8}"/>
              </a:ext>
            </a:extLst>
          </p:cNvPr>
          <p:cNvSpPr>
            <a:spLocks noGrp="1"/>
          </p:cNvSpPr>
          <p:nvPr>
            <p:ph type="title"/>
          </p:nvPr>
        </p:nvSpPr>
        <p:spPr>
          <a:xfrm>
            <a:off x="609600" y="718457"/>
            <a:ext cx="9873342" cy="1362076"/>
          </a:xfrm>
        </p:spPr>
        <p:txBody>
          <a:bodyPr anchor="b">
            <a:normAutofit/>
          </a:bodyPr>
          <a:lstStyle/>
          <a:p>
            <a:r>
              <a:rPr lang="en-US" dirty="0"/>
              <a:t>Types of Detection Heads: Anchorless</a:t>
            </a:r>
            <a:endParaRPr lang="en-CA" dirty="0"/>
          </a:p>
        </p:txBody>
      </p:sp>
      <p:sp>
        <p:nvSpPr>
          <p:cNvPr id="3" name="Text Placeholder 2">
            <a:extLst>
              <a:ext uri="{FF2B5EF4-FFF2-40B4-BE49-F238E27FC236}">
                <a16:creationId xmlns:a16="http://schemas.microsoft.com/office/drawing/2014/main" id="{78ACECE2-436D-0BB7-47EB-612526DB01A4}"/>
              </a:ext>
            </a:extLst>
          </p:cNvPr>
          <p:cNvSpPr>
            <a:spLocks noGrp="1"/>
          </p:cNvSpPr>
          <p:nvPr>
            <p:ph type="body" idx="1"/>
          </p:nvPr>
        </p:nvSpPr>
        <p:spPr>
          <a:xfrm>
            <a:off x="609600" y="3062821"/>
            <a:ext cx="9688285" cy="3076722"/>
          </a:xfrm>
        </p:spPr>
        <p:txBody>
          <a:bodyPr anchor="t">
            <a:normAutofit/>
          </a:bodyPr>
          <a:lstStyle/>
          <a:p>
            <a:pPr>
              <a:lnSpc>
                <a:spcPct val="90000"/>
              </a:lnSpc>
            </a:pPr>
            <a:r>
              <a:rPr lang="en-US" sz="2400" dirty="0"/>
              <a:t>Anchorless detection heads, seen in models like </a:t>
            </a:r>
            <a:r>
              <a:rPr lang="en-US" sz="2400" dirty="0" err="1"/>
              <a:t>CornerNet</a:t>
            </a:r>
            <a:r>
              <a:rPr lang="en-US" sz="2400" dirty="0"/>
              <a:t> and </a:t>
            </a:r>
            <a:r>
              <a:rPr lang="en-US" sz="2400" dirty="0" err="1"/>
              <a:t>CenterNet</a:t>
            </a:r>
            <a:r>
              <a:rPr lang="en-US" sz="2400" dirty="0"/>
              <a:t>, do away with predefined anchors. Instead, they directly predict the corners or centers of objects. This approach simplifies the detection pipeline and can reduce computational complexity. However, it might require more sophisticated training strategies to achieve the precision offered by anchor-based methods.</a:t>
            </a:r>
            <a:endParaRPr lang="en-CA" sz="2400" dirty="0"/>
          </a:p>
        </p:txBody>
      </p:sp>
    </p:spTree>
    <p:extLst>
      <p:ext uri="{BB962C8B-B14F-4D97-AF65-F5344CB8AC3E}">
        <p14:creationId xmlns:p14="http://schemas.microsoft.com/office/powerpoint/2010/main" val="4167349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8A10F6-F465-4CD9-FAB8-0A6E2FD56E1F}"/>
              </a:ext>
            </a:extLst>
          </p:cNvPr>
          <p:cNvSpPr>
            <a:spLocks noGrp="1"/>
          </p:cNvSpPr>
          <p:nvPr>
            <p:ph type="body" sz="quarter" idx="15"/>
          </p:nvPr>
        </p:nvSpPr>
        <p:spPr>
          <a:xfrm>
            <a:off x="609603" y="1803401"/>
            <a:ext cx="5612587" cy="3848100"/>
          </a:xfrm>
        </p:spPr>
        <p:txBody>
          <a:bodyPr>
            <a:normAutofit/>
          </a:bodyPr>
          <a:lstStyle/>
          <a:p>
            <a:r>
              <a:rPr lang="en-US" sz="2200"/>
              <a:t>Object detection has vast applications in today’s world. In autonomous vehicles, it's used for pedestrian and vehicle detection to navigate safely. In retail, it assists in inventory management through product recognition. In healthcare, it aids in identifying anomalies in medical imaging. These real-world examples demonstrate the practical utility and transformative potential of object detection technology.</a:t>
            </a:r>
            <a:endParaRPr lang="en-CA" sz="2200"/>
          </a:p>
        </p:txBody>
      </p:sp>
      <p:sp>
        <p:nvSpPr>
          <p:cNvPr id="2" name="Title 1">
            <a:extLst>
              <a:ext uri="{FF2B5EF4-FFF2-40B4-BE49-F238E27FC236}">
                <a16:creationId xmlns:a16="http://schemas.microsoft.com/office/drawing/2014/main" id="{88E9138E-5C1C-23E3-390B-C5DBFC66094A}"/>
              </a:ext>
            </a:extLst>
          </p:cNvPr>
          <p:cNvSpPr>
            <a:spLocks noGrp="1"/>
          </p:cNvSpPr>
          <p:nvPr>
            <p:ph type="title"/>
          </p:nvPr>
        </p:nvSpPr>
        <p:spPr>
          <a:xfrm>
            <a:off x="609601" y="576274"/>
            <a:ext cx="5612588" cy="1001980"/>
          </a:xfrm>
        </p:spPr>
        <p:txBody>
          <a:bodyPr anchor="t">
            <a:normAutofit/>
          </a:bodyPr>
          <a:lstStyle/>
          <a:p>
            <a:r>
              <a:rPr lang="en-US" sz="2800"/>
              <a:t>Case Studies and Applications: Real-World Examples</a:t>
            </a:r>
            <a:endParaRPr lang="en-CA" sz="2800"/>
          </a:p>
        </p:txBody>
      </p:sp>
      <p:pic>
        <p:nvPicPr>
          <p:cNvPr id="6148" name="Picture 4" descr="Cost-Effective 3D Object Detection for Autonomous Vehicles - Intellias">
            <a:extLst>
              <a:ext uri="{FF2B5EF4-FFF2-40B4-BE49-F238E27FC236}">
                <a16:creationId xmlns:a16="http://schemas.microsoft.com/office/drawing/2014/main" id="{C9186269-C70B-914E-DA27-538506A2B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7723" y="2033587"/>
            <a:ext cx="4762500" cy="2790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35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C5DA8-1D8D-E078-C8E8-4B5BAAD6024E}"/>
              </a:ext>
            </a:extLst>
          </p:cNvPr>
          <p:cNvSpPr>
            <a:spLocks noGrp="1"/>
          </p:cNvSpPr>
          <p:nvPr>
            <p:ph type="title"/>
          </p:nvPr>
        </p:nvSpPr>
        <p:spPr>
          <a:xfrm>
            <a:off x="609601" y="1544637"/>
            <a:ext cx="7250676" cy="1362076"/>
          </a:xfrm>
        </p:spPr>
        <p:txBody>
          <a:bodyPr anchor="b">
            <a:normAutofit/>
          </a:bodyPr>
          <a:lstStyle/>
          <a:p>
            <a:r>
              <a:rPr lang="en-US"/>
              <a:t>Case Studies and Applications: Industry Use-Cases</a:t>
            </a:r>
            <a:endParaRPr lang="en-CA"/>
          </a:p>
        </p:txBody>
      </p:sp>
      <p:sp>
        <p:nvSpPr>
          <p:cNvPr id="3" name="Text Placeholder 2">
            <a:extLst>
              <a:ext uri="{FF2B5EF4-FFF2-40B4-BE49-F238E27FC236}">
                <a16:creationId xmlns:a16="http://schemas.microsoft.com/office/drawing/2014/main" id="{72FFB8EF-A89F-EBF5-C591-33C7EDF0B5E4}"/>
              </a:ext>
            </a:extLst>
          </p:cNvPr>
          <p:cNvSpPr>
            <a:spLocks noGrp="1"/>
          </p:cNvSpPr>
          <p:nvPr>
            <p:ph type="body" idx="1"/>
          </p:nvPr>
        </p:nvSpPr>
        <p:spPr>
          <a:xfrm>
            <a:off x="609601" y="3062821"/>
            <a:ext cx="7250676" cy="1500188"/>
          </a:xfrm>
        </p:spPr>
        <p:txBody>
          <a:bodyPr anchor="t">
            <a:normAutofit/>
          </a:bodyPr>
          <a:lstStyle/>
          <a:p>
            <a:pPr>
              <a:lnSpc>
                <a:spcPct val="90000"/>
              </a:lnSpc>
            </a:pPr>
            <a:r>
              <a:rPr lang="en-US" sz="1800"/>
              <a:t>In industries like security and surveillance, object detection plays a crucial role in monitoring and threat detection. In agriculture, it helps in crop analysis and yield prediction. In manufacturing, it's used for quality control by detecting defects. These use-cases highlight the versatility of object detection in providing solutions across various sectors.</a:t>
            </a:r>
            <a:endParaRPr lang="en-CA" sz="1800"/>
          </a:p>
        </p:txBody>
      </p:sp>
    </p:spTree>
    <p:extLst>
      <p:ext uri="{BB962C8B-B14F-4D97-AF65-F5344CB8AC3E}">
        <p14:creationId xmlns:p14="http://schemas.microsoft.com/office/powerpoint/2010/main" val="1386706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FC544-D7F9-0F4A-7620-7D861F25EEFB}"/>
              </a:ext>
            </a:extLst>
          </p:cNvPr>
          <p:cNvSpPr>
            <a:spLocks noGrp="1"/>
          </p:cNvSpPr>
          <p:nvPr>
            <p:ph type="title"/>
          </p:nvPr>
        </p:nvSpPr>
        <p:spPr>
          <a:xfrm>
            <a:off x="609601" y="576274"/>
            <a:ext cx="7106241" cy="1001980"/>
          </a:xfrm>
        </p:spPr>
        <p:txBody>
          <a:bodyPr anchor="t">
            <a:normAutofit/>
          </a:bodyPr>
          <a:lstStyle/>
          <a:p>
            <a:r>
              <a:rPr lang="en-US"/>
              <a:t>Advanced Topics in Object Detection: R-CNNs and Beyond</a:t>
            </a:r>
            <a:endParaRPr lang="en-CA"/>
          </a:p>
        </p:txBody>
      </p:sp>
      <p:sp>
        <p:nvSpPr>
          <p:cNvPr id="3" name="Text Placeholder 2">
            <a:extLst>
              <a:ext uri="{FF2B5EF4-FFF2-40B4-BE49-F238E27FC236}">
                <a16:creationId xmlns:a16="http://schemas.microsoft.com/office/drawing/2014/main" id="{9166CA1D-78F1-91A6-27B3-F771669D1EC5}"/>
              </a:ext>
            </a:extLst>
          </p:cNvPr>
          <p:cNvSpPr>
            <a:spLocks noGrp="1"/>
          </p:cNvSpPr>
          <p:nvPr>
            <p:ph type="body" sz="quarter" idx="15"/>
          </p:nvPr>
        </p:nvSpPr>
        <p:spPr>
          <a:xfrm>
            <a:off x="704195" y="1813911"/>
            <a:ext cx="8710984" cy="3848100"/>
          </a:xfrm>
        </p:spPr>
        <p:txBody>
          <a:bodyPr>
            <a:normAutofit/>
          </a:bodyPr>
          <a:lstStyle/>
          <a:p>
            <a:r>
              <a:rPr lang="en-US" dirty="0"/>
              <a:t>The development of R-CNN (Region-based CNN) and its successors, Fast R-CNN and Faster R-CNN, marked significant advancements in object detection. These models improved </a:t>
            </a:r>
            <a:r>
              <a:rPr lang="en-US" dirty="0">
                <a:solidFill>
                  <a:srgbClr val="7030A0"/>
                </a:solidFill>
              </a:rPr>
              <a:t>accuracy</a:t>
            </a:r>
            <a:r>
              <a:rPr lang="en-US" dirty="0"/>
              <a:t> and </a:t>
            </a:r>
            <a:r>
              <a:rPr lang="en-US" dirty="0">
                <a:solidFill>
                  <a:srgbClr val="7030A0"/>
                </a:solidFill>
              </a:rPr>
              <a:t>speed</a:t>
            </a:r>
            <a:r>
              <a:rPr lang="en-US" dirty="0"/>
              <a:t> by integrating region proposal networks with deep learning. Following these, methods like </a:t>
            </a:r>
            <a:r>
              <a:rPr lang="en-US" dirty="0">
                <a:solidFill>
                  <a:srgbClr val="7030A0"/>
                </a:solidFill>
              </a:rPr>
              <a:t>SSD</a:t>
            </a:r>
            <a:r>
              <a:rPr lang="en-US" dirty="0"/>
              <a:t> (Single Shot </a:t>
            </a:r>
            <a:r>
              <a:rPr lang="en-US" dirty="0" err="1"/>
              <a:t>MultiBox</a:t>
            </a:r>
            <a:r>
              <a:rPr lang="en-US" dirty="0"/>
              <a:t> Detector) and </a:t>
            </a:r>
            <a:r>
              <a:rPr lang="en-US" dirty="0">
                <a:solidFill>
                  <a:srgbClr val="7030A0"/>
                </a:solidFill>
              </a:rPr>
              <a:t>YOLO</a:t>
            </a:r>
            <a:r>
              <a:rPr lang="en-US" dirty="0"/>
              <a:t> (You Only Look Once) further optimized the process, enabling real-time detection by eliminating the need for separate region proposal stages.</a:t>
            </a:r>
            <a:endParaRPr lang="en-CA" dirty="0"/>
          </a:p>
        </p:txBody>
      </p:sp>
    </p:spTree>
    <p:extLst>
      <p:ext uri="{BB962C8B-B14F-4D97-AF65-F5344CB8AC3E}">
        <p14:creationId xmlns:p14="http://schemas.microsoft.com/office/powerpoint/2010/main" val="28448711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BAA25-C4C4-1B5C-B767-59234A128C4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76C77A3-FF06-6DC9-5EBB-7B7B8F68E6C2}"/>
              </a:ext>
            </a:extLst>
          </p:cNvPr>
          <p:cNvSpPr>
            <a:spLocks noGrp="1"/>
          </p:cNvSpPr>
          <p:nvPr>
            <p:ph type="body" sz="quarter" idx="15"/>
          </p:nvPr>
        </p:nvSpPr>
        <p:spPr>
          <a:xfrm>
            <a:off x="609603" y="1803401"/>
            <a:ext cx="5612587" cy="3848100"/>
          </a:xfrm>
        </p:spPr>
        <p:txBody>
          <a:bodyPr>
            <a:normAutofit/>
          </a:bodyPr>
          <a:lstStyle/>
          <a:p>
            <a:pPr>
              <a:lnSpc>
                <a:spcPct val="100000"/>
              </a:lnSpc>
            </a:pPr>
            <a:r>
              <a:rPr lang="en-US" sz="2000" dirty="0"/>
              <a:t>R-CNN solves exhaustive search performed by sliding window, by proposing bounding boxes, and passing these extracted boxes to an image classifier (</a:t>
            </a:r>
            <a:r>
              <a:rPr lang="en-US" sz="2000" dirty="0" err="1"/>
              <a:t>Eg</a:t>
            </a:r>
            <a:r>
              <a:rPr lang="en-US" sz="2000" dirty="0"/>
              <a:t>: </a:t>
            </a:r>
            <a:r>
              <a:rPr lang="en-US" sz="2000" dirty="0">
                <a:solidFill>
                  <a:srgbClr val="7030A0"/>
                </a:solidFill>
              </a:rPr>
              <a:t>ImageNet</a:t>
            </a:r>
            <a:r>
              <a:rPr lang="en-US" sz="2000" dirty="0"/>
              <a:t>)</a:t>
            </a:r>
          </a:p>
          <a:p>
            <a:pPr>
              <a:lnSpc>
                <a:spcPct val="100000"/>
              </a:lnSpc>
            </a:pPr>
            <a:endParaRPr lang="en-US" sz="2000" dirty="0"/>
          </a:p>
          <a:p>
            <a:pPr>
              <a:lnSpc>
                <a:spcPct val="100000"/>
              </a:lnSpc>
            </a:pPr>
            <a:r>
              <a:rPr lang="en-US" sz="2000" b="1" dirty="0"/>
              <a:t>Selective search </a:t>
            </a:r>
            <a:r>
              <a:rPr lang="en-US" sz="2000" dirty="0"/>
              <a:t>algorithm is used for making bounding box proposals</a:t>
            </a:r>
          </a:p>
        </p:txBody>
      </p:sp>
      <p:sp>
        <p:nvSpPr>
          <p:cNvPr id="2" name="Title 1">
            <a:extLst>
              <a:ext uri="{FF2B5EF4-FFF2-40B4-BE49-F238E27FC236}">
                <a16:creationId xmlns:a16="http://schemas.microsoft.com/office/drawing/2014/main" id="{29E71E29-4116-C22C-07E2-F0DC10407681}"/>
              </a:ext>
            </a:extLst>
          </p:cNvPr>
          <p:cNvSpPr>
            <a:spLocks noGrp="1"/>
          </p:cNvSpPr>
          <p:nvPr>
            <p:ph type="title"/>
          </p:nvPr>
        </p:nvSpPr>
        <p:spPr>
          <a:xfrm>
            <a:off x="609600" y="576274"/>
            <a:ext cx="9028669" cy="1001980"/>
          </a:xfrm>
        </p:spPr>
        <p:txBody>
          <a:bodyPr anchor="t">
            <a:normAutofit/>
          </a:bodyPr>
          <a:lstStyle/>
          <a:p>
            <a:r>
              <a:rPr lang="en-US" dirty="0"/>
              <a:t>R-CNN (Region-based CNN)</a:t>
            </a:r>
            <a:endParaRPr lang="en-CA" dirty="0"/>
          </a:p>
        </p:txBody>
      </p:sp>
      <p:pic>
        <p:nvPicPr>
          <p:cNvPr id="5" name="Picture 4" descr="A diagram of a person&#10;&#10;AI-generated content may be incorrect.">
            <a:extLst>
              <a:ext uri="{FF2B5EF4-FFF2-40B4-BE49-F238E27FC236}">
                <a16:creationId xmlns:a16="http://schemas.microsoft.com/office/drawing/2014/main" id="{33C7391F-A4BE-33FB-F868-405AEE11AB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2803" y="1458097"/>
            <a:ext cx="6189197" cy="3534033"/>
          </a:xfrm>
          <a:prstGeom prst="rect">
            <a:avLst/>
          </a:prstGeom>
          <a:noFill/>
        </p:spPr>
      </p:pic>
    </p:spTree>
    <p:extLst>
      <p:ext uri="{BB962C8B-B14F-4D97-AF65-F5344CB8AC3E}">
        <p14:creationId xmlns:p14="http://schemas.microsoft.com/office/powerpoint/2010/main" val="1339285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61B1DF8-C26B-051E-948B-500508B26E36}"/>
              </a:ext>
            </a:extLst>
          </p:cNvPr>
          <p:cNvSpPr>
            <a:spLocks noGrp="1"/>
          </p:cNvSpPr>
          <p:nvPr>
            <p:ph type="body" sz="quarter" idx="14"/>
          </p:nvPr>
        </p:nvSpPr>
        <p:spPr/>
        <p:txBody>
          <a:bodyPr/>
          <a:lstStyle/>
          <a:p>
            <a:endParaRPr lang="en-CZ"/>
          </a:p>
        </p:txBody>
      </p:sp>
      <p:sp>
        <p:nvSpPr>
          <p:cNvPr id="8" name="TextBox 7">
            <a:extLst>
              <a:ext uri="{FF2B5EF4-FFF2-40B4-BE49-F238E27FC236}">
                <a16:creationId xmlns:a16="http://schemas.microsoft.com/office/drawing/2014/main" id="{30B89756-1C1A-1B1E-58FB-2AC1AB8D6B23}"/>
              </a:ext>
            </a:extLst>
          </p:cNvPr>
          <p:cNvSpPr txBox="1"/>
          <p:nvPr/>
        </p:nvSpPr>
        <p:spPr>
          <a:xfrm>
            <a:off x="1248032" y="667265"/>
            <a:ext cx="8859302" cy="569387"/>
          </a:xfrm>
          <a:prstGeom prst="rect">
            <a:avLst/>
          </a:prstGeom>
          <a:noFill/>
        </p:spPr>
        <p:txBody>
          <a:bodyPr wrap="square" rtlCol="0">
            <a:spAutoFit/>
          </a:bodyPr>
          <a:lstStyle/>
          <a:p>
            <a:r>
              <a:rPr lang="en-CZ" b="1" dirty="0"/>
              <a:t>Calculating Bounding Box in R-CNN</a:t>
            </a:r>
          </a:p>
        </p:txBody>
      </p:sp>
      <p:pic>
        <p:nvPicPr>
          <p:cNvPr id="9" name="Picture 8">
            <a:extLst>
              <a:ext uri="{FF2B5EF4-FFF2-40B4-BE49-F238E27FC236}">
                <a16:creationId xmlns:a16="http://schemas.microsoft.com/office/drawing/2014/main" id="{0C471C54-1793-5483-A4E3-ADA79E19C656}"/>
              </a:ext>
            </a:extLst>
          </p:cNvPr>
          <p:cNvPicPr>
            <a:picLocks noChangeAspect="1"/>
          </p:cNvPicPr>
          <p:nvPr/>
        </p:nvPicPr>
        <p:blipFill>
          <a:blip r:embed="rId2"/>
          <a:stretch>
            <a:fillRect/>
          </a:stretch>
        </p:blipFill>
        <p:spPr>
          <a:xfrm>
            <a:off x="1036757" y="1601845"/>
            <a:ext cx="9664193" cy="4543761"/>
          </a:xfrm>
          <a:prstGeom prst="rect">
            <a:avLst/>
          </a:prstGeom>
        </p:spPr>
      </p:pic>
    </p:spTree>
    <p:extLst>
      <p:ext uri="{BB962C8B-B14F-4D97-AF65-F5344CB8AC3E}">
        <p14:creationId xmlns:p14="http://schemas.microsoft.com/office/powerpoint/2010/main" val="4192698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582E3-0AA1-E233-094D-07AC547EB29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A72B886-0BBD-43E9-FA80-B5B7888BD82C}"/>
              </a:ext>
            </a:extLst>
          </p:cNvPr>
          <p:cNvSpPr>
            <a:spLocks noGrp="1"/>
          </p:cNvSpPr>
          <p:nvPr>
            <p:ph type="body" sz="quarter" idx="15"/>
          </p:nvPr>
        </p:nvSpPr>
        <p:spPr>
          <a:xfrm>
            <a:off x="432487" y="1408670"/>
            <a:ext cx="5153624" cy="4423719"/>
          </a:xfrm>
        </p:spPr>
        <p:txBody>
          <a:bodyPr>
            <a:normAutofit lnSpcReduction="10000"/>
          </a:bodyPr>
          <a:lstStyle/>
          <a:p>
            <a:pPr>
              <a:lnSpc>
                <a:spcPct val="100000"/>
              </a:lnSpc>
            </a:pPr>
            <a:r>
              <a:rPr lang="en-US" sz="2000" dirty="0"/>
              <a:t>IOU metric is used to determine good bounding box</a:t>
            </a:r>
          </a:p>
          <a:p>
            <a:pPr>
              <a:lnSpc>
                <a:spcPct val="100000"/>
              </a:lnSpc>
            </a:pPr>
            <a:endParaRPr lang="en-US" sz="2000" dirty="0"/>
          </a:p>
          <a:p>
            <a:pPr>
              <a:lnSpc>
                <a:spcPct val="100000"/>
              </a:lnSpc>
            </a:pPr>
            <a:endParaRPr lang="en-US" sz="2000" dirty="0"/>
          </a:p>
          <a:p>
            <a:pPr>
              <a:lnSpc>
                <a:spcPct val="100000"/>
              </a:lnSpc>
            </a:pPr>
            <a:endParaRPr lang="en-US" sz="2000" dirty="0"/>
          </a:p>
          <a:p>
            <a:pPr>
              <a:lnSpc>
                <a:spcPct val="100000"/>
              </a:lnSpc>
            </a:pPr>
            <a:endParaRPr lang="en-US" sz="2000" dirty="0"/>
          </a:p>
          <a:p>
            <a:pPr>
              <a:lnSpc>
                <a:spcPct val="100000"/>
              </a:lnSpc>
            </a:pPr>
            <a:r>
              <a:rPr lang="en-US" sz="2000" dirty="0"/>
              <a:t>Typically, an </a:t>
            </a:r>
            <a:r>
              <a:rPr lang="en-US" sz="2000" dirty="0" err="1"/>
              <a:t>IoU</a:t>
            </a:r>
            <a:r>
              <a:rPr lang="en-US" sz="2000" dirty="0"/>
              <a:t> over 0.5 is considered acceptable</a:t>
            </a:r>
          </a:p>
          <a:p>
            <a:pPr>
              <a:lnSpc>
                <a:spcPct val="100000"/>
              </a:lnSpc>
            </a:pPr>
            <a:r>
              <a:rPr lang="en-US" sz="2000" dirty="0"/>
              <a:t>The higher the </a:t>
            </a:r>
            <a:r>
              <a:rPr lang="en-US" sz="2000" dirty="0" err="1"/>
              <a:t>IoU</a:t>
            </a:r>
            <a:r>
              <a:rPr lang="en-US" sz="2000" dirty="0"/>
              <a:t>, the better the prediction</a:t>
            </a:r>
          </a:p>
          <a:p>
            <a:pPr>
              <a:lnSpc>
                <a:spcPct val="100000"/>
              </a:lnSpc>
            </a:pPr>
            <a:endParaRPr lang="en-US" sz="2000" dirty="0"/>
          </a:p>
          <a:p>
            <a:pPr>
              <a:lnSpc>
                <a:spcPct val="100000"/>
              </a:lnSpc>
            </a:pPr>
            <a:r>
              <a:rPr lang="en-US" sz="2000" dirty="0"/>
              <a:t>It is a measure of overlap</a:t>
            </a:r>
          </a:p>
        </p:txBody>
      </p:sp>
      <p:sp>
        <p:nvSpPr>
          <p:cNvPr id="2" name="Title 1">
            <a:extLst>
              <a:ext uri="{FF2B5EF4-FFF2-40B4-BE49-F238E27FC236}">
                <a16:creationId xmlns:a16="http://schemas.microsoft.com/office/drawing/2014/main" id="{BA4D6944-8C69-818B-A441-51454567D7CA}"/>
              </a:ext>
            </a:extLst>
          </p:cNvPr>
          <p:cNvSpPr>
            <a:spLocks noGrp="1"/>
          </p:cNvSpPr>
          <p:nvPr>
            <p:ph type="title"/>
          </p:nvPr>
        </p:nvSpPr>
        <p:spPr>
          <a:xfrm>
            <a:off x="609600" y="576274"/>
            <a:ext cx="9028669" cy="1001980"/>
          </a:xfrm>
        </p:spPr>
        <p:txBody>
          <a:bodyPr anchor="t">
            <a:normAutofit/>
          </a:bodyPr>
          <a:lstStyle/>
          <a:p>
            <a:r>
              <a:rPr lang="en-US" dirty="0"/>
              <a:t>Intersection Over Union (IOU) Metric</a:t>
            </a:r>
            <a:endParaRPr lang="en-CA" dirty="0"/>
          </a:p>
        </p:txBody>
      </p:sp>
      <p:pic>
        <p:nvPicPr>
          <p:cNvPr id="4" name="Picture 3">
            <a:extLst>
              <a:ext uri="{FF2B5EF4-FFF2-40B4-BE49-F238E27FC236}">
                <a16:creationId xmlns:a16="http://schemas.microsoft.com/office/drawing/2014/main" id="{2869E14B-3670-A446-9E1D-BBDF4B16348F}"/>
              </a:ext>
            </a:extLst>
          </p:cNvPr>
          <p:cNvPicPr>
            <a:picLocks noChangeAspect="1"/>
          </p:cNvPicPr>
          <p:nvPr/>
        </p:nvPicPr>
        <p:blipFill>
          <a:blip r:embed="rId2"/>
          <a:stretch>
            <a:fillRect/>
          </a:stretch>
        </p:blipFill>
        <p:spPr>
          <a:xfrm>
            <a:off x="782594" y="2027278"/>
            <a:ext cx="3072714" cy="1506754"/>
          </a:xfrm>
          <a:prstGeom prst="rect">
            <a:avLst/>
          </a:prstGeom>
        </p:spPr>
      </p:pic>
      <p:pic>
        <p:nvPicPr>
          <p:cNvPr id="6" name="Picture 5">
            <a:extLst>
              <a:ext uri="{FF2B5EF4-FFF2-40B4-BE49-F238E27FC236}">
                <a16:creationId xmlns:a16="http://schemas.microsoft.com/office/drawing/2014/main" id="{81A55FFD-3C62-5229-9534-A42A48E831D3}"/>
              </a:ext>
            </a:extLst>
          </p:cNvPr>
          <p:cNvPicPr>
            <a:picLocks noChangeAspect="1"/>
          </p:cNvPicPr>
          <p:nvPr/>
        </p:nvPicPr>
        <p:blipFill>
          <a:blip r:embed="rId3"/>
          <a:stretch>
            <a:fillRect/>
          </a:stretch>
        </p:blipFill>
        <p:spPr>
          <a:xfrm>
            <a:off x="5586111" y="1803401"/>
            <a:ext cx="6778093" cy="2727046"/>
          </a:xfrm>
          <a:prstGeom prst="rect">
            <a:avLst/>
          </a:prstGeom>
        </p:spPr>
      </p:pic>
    </p:spTree>
    <p:extLst>
      <p:ext uri="{BB962C8B-B14F-4D97-AF65-F5344CB8AC3E}">
        <p14:creationId xmlns:p14="http://schemas.microsoft.com/office/powerpoint/2010/main" val="281126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68C75-7F6C-EBBF-4BDA-D4561F60B657}"/>
              </a:ext>
            </a:extLst>
          </p:cNvPr>
          <p:cNvSpPr>
            <a:spLocks noGrp="1"/>
          </p:cNvSpPr>
          <p:nvPr>
            <p:ph type="title"/>
          </p:nvPr>
        </p:nvSpPr>
        <p:spPr>
          <a:xfrm>
            <a:off x="609601" y="1544637"/>
            <a:ext cx="7250676" cy="1362076"/>
          </a:xfrm>
        </p:spPr>
        <p:txBody>
          <a:bodyPr anchor="b">
            <a:normAutofit/>
          </a:bodyPr>
          <a:lstStyle/>
          <a:p>
            <a:r>
              <a:rPr lang="en-US"/>
              <a:t>Advanced Topics: Single Shot Detectors (SSD) and YOLO</a:t>
            </a:r>
            <a:endParaRPr lang="en-CA"/>
          </a:p>
        </p:txBody>
      </p:sp>
      <p:sp>
        <p:nvSpPr>
          <p:cNvPr id="3" name="Text Placeholder 2">
            <a:extLst>
              <a:ext uri="{FF2B5EF4-FFF2-40B4-BE49-F238E27FC236}">
                <a16:creationId xmlns:a16="http://schemas.microsoft.com/office/drawing/2014/main" id="{7471BAB7-D00E-84A2-BE04-B32736EE688F}"/>
              </a:ext>
            </a:extLst>
          </p:cNvPr>
          <p:cNvSpPr>
            <a:spLocks noGrp="1"/>
          </p:cNvSpPr>
          <p:nvPr>
            <p:ph type="body" idx="1"/>
          </p:nvPr>
        </p:nvSpPr>
        <p:spPr>
          <a:xfrm>
            <a:off x="609600" y="3062820"/>
            <a:ext cx="10678885" cy="2488893"/>
          </a:xfrm>
        </p:spPr>
        <p:txBody>
          <a:bodyPr anchor="t">
            <a:normAutofit/>
          </a:bodyPr>
          <a:lstStyle/>
          <a:p>
            <a:pPr>
              <a:lnSpc>
                <a:spcPct val="90000"/>
              </a:lnSpc>
            </a:pPr>
            <a:r>
              <a:rPr lang="en-US" sz="2000" dirty="0"/>
              <a:t>Single Shot Detectors (SSD) and YOLO (You Only Look Once) represent a leap in object detection, focusing on </a:t>
            </a:r>
            <a:r>
              <a:rPr lang="en-US" sz="2000" b="1" dirty="0"/>
              <a:t>speed</a:t>
            </a:r>
            <a:r>
              <a:rPr lang="en-US" sz="2000" dirty="0"/>
              <a:t> and </a:t>
            </a:r>
            <a:r>
              <a:rPr lang="en-US" sz="2000" b="1" dirty="0"/>
              <a:t>efficiency</a:t>
            </a:r>
            <a:r>
              <a:rPr lang="en-US" sz="2000" dirty="0"/>
              <a:t>. SSD discretizes the output space of bounding boxes into a set of default boxes over different aspect ratios and scales. YOLO, on the other hand, divides the image into a grid, and each grid cell predicts bounding boxes and class probabilities directly. These methods are renowned for their ability to detect objects in real-time.</a:t>
            </a:r>
            <a:endParaRPr lang="en-CA" sz="2000" dirty="0"/>
          </a:p>
        </p:txBody>
      </p:sp>
    </p:spTree>
    <p:extLst>
      <p:ext uri="{BB962C8B-B14F-4D97-AF65-F5344CB8AC3E}">
        <p14:creationId xmlns:p14="http://schemas.microsoft.com/office/powerpoint/2010/main" val="1048373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FC544-D7F9-0F4A-7620-7D861F25EEFB}"/>
              </a:ext>
            </a:extLst>
          </p:cNvPr>
          <p:cNvSpPr>
            <a:spLocks noGrp="1"/>
          </p:cNvSpPr>
          <p:nvPr>
            <p:ph type="title"/>
          </p:nvPr>
        </p:nvSpPr>
        <p:spPr>
          <a:xfrm>
            <a:off x="609601" y="576274"/>
            <a:ext cx="7106241" cy="1001980"/>
          </a:xfrm>
        </p:spPr>
        <p:txBody>
          <a:bodyPr anchor="t">
            <a:normAutofit/>
          </a:bodyPr>
          <a:lstStyle/>
          <a:p>
            <a:r>
              <a:rPr lang="en-US" dirty="0"/>
              <a:t>SSD vs YOLO</a:t>
            </a:r>
            <a:endParaRPr lang="en-CA" dirty="0"/>
          </a:p>
        </p:txBody>
      </p:sp>
      <p:pic>
        <p:nvPicPr>
          <p:cNvPr id="7170" name="Picture 2" descr="computer vision - Why does ssd and yolo has no roi pooling layer? - Stack  Overflow">
            <a:extLst>
              <a:ext uri="{FF2B5EF4-FFF2-40B4-BE49-F238E27FC236}">
                <a16:creationId xmlns:a16="http://schemas.microsoft.com/office/drawing/2014/main" id="{D3BE7239-2BB6-47D6-2CC3-9579C4FD0F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6360" y="1311821"/>
            <a:ext cx="8559280" cy="469534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5166A75-2373-59D6-9D8C-F47667A4997C}"/>
              </a:ext>
            </a:extLst>
          </p:cNvPr>
          <p:cNvPicPr>
            <a:picLocks noChangeAspect="1"/>
          </p:cNvPicPr>
          <p:nvPr/>
        </p:nvPicPr>
        <p:blipFill>
          <a:blip r:embed="rId3"/>
          <a:stretch>
            <a:fillRect/>
          </a:stretch>
        </p:blipFill>
        <p:spPr>
          <a:xfrm>
            <a:off x="1816360" y="1057834"/>
            <a:ext cx="8559280" cy="2734875"/>
          </a:xfrm>
          <a:prstGeom prst="rect">
            <a:avLst/>
          </a:prstGeom>
        </p:spPr>
      </p:pic>
    </p:spTree>
    <p:extLst>
      <p:ext uri="{BB962C8B-B14F-4D97-AF65-F5344CB8AC3E}">
        <p14:creationId xmlns:p14="http://schemas.microsoft.com/office/powerpoint/2010/main" val="4134076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AC333-A34D-709D-39BD-0C7ED1974BB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0C9C52A-F7A7-F2E0-ABB9-8012C099696C}"/>
              </a:ext>
            </a:extLst>
          </p:cNvPr>
          <p:cNvSpPr>
            <a:spLocks noGrp="1"/>
          </p:cNvSpPr>
          <p:nvPr>
            <p:ph type="body" sz="quarter" idx="15"/>
          </p:nvPr>
        </p:nvSpPr>
        <p:spPr>
          <a:xfrm>
            <a:off x="432487" y="1408670"/>
            <a:ext cx="9836120" cy="4423719"/>
          </a:xfrm>
        </p:spPr>
        <p:txBody>
          <a:bodyPr>
            <a:normAutofit/>
          </a:bodyPr>
          <a:lstStyle/>
          <a:p>
            <a:pPr algn="l">
              <a:buFont typeface="+mj-lt"/>
              <a:buAutoNum type="arabicPeriod"/>
            </a:pPr>
            <a:r>
              <a:rPr lang="en-GB" sz="1600" b="1" i="0" dirty="0">
                <a:solidFill>
                  <a:srgbClr val="242424"/>
                </a:solidFill>
                <a:effectLst/>
                <a:latin typeface="Segoe UI" panose="020B0502040204020203" pitchFamily="34" charset="0"/>
              </a:rPr>
              <a:t>Single Shot</a:t>
            </a:r>
            <a:r>
              <a:rPr lang="en-GB" sz="1600" b="0" i="0" dirty="0">
                <a:solidFill>
                  <a:srgbClr val="242424"/>
                </a:solidFill>
                <a:effectLst/>
                <a:latin typeface="Segoe UI" panose="020B0502040204020203" pitchFamily="34" charset="0"/>
              </a:rPr>
              <a:t>: Unlike region-based methods that require multiple stages, SSD performs object detection in a single pass through the network, making it very fast.</a:t>
            </a:r>
          </a:p>
          <a:p>
            <a:pPr algn="l">
              <a:buFont typeface="+mj-lt"/>
              <a:buAutoNum type="arabicPeriod"/>
            </a:pPr>
            <a:r>
              <a:rPr lang="en-GB" sz="1600" b="1" i="0" dirty="0">
                <a:solidFill>
                  <a:srgbClr val="242424"/>
                </a:solidFill>
                <a:effectLst/>
                <a:latin typeface="Segoe UI" panose="020B0502040204020203" pitchFamily="34" charset="0"/>
              </a:rPr>
              <a:t>Multi-Scale Feature Maps</a:t>
            </a:r>
            <a:r>
              <a:rPr lang="en-GB" sz="1600" b="0" i="0" dirty="0">
                <a:solidFill>
                  <a:srgbClr val="242424"/>
                </a:solidFill>
                <a:effectLst/>
                <a:latin typeface="Segoe UI" panose="020B0502040204020203" pitchFamily="34" charset="0"/>
              </a:rPr>
              <a:t>: SSD uses multiple feature maps at different scales to detect objects of various sizes. This allows the model to handle objects at different resolutions effectively.</a:t>
            </a:r>
          </a:p>
          <a:p>
            <a:pPr algn="l">
              <a:buFont typeface="+mj-lt"/>
              <a:buAutoNum type="arabicPeriod"/>
            </a:pPr>
            <a:r>
              <a:rPr lang="en-GB" sz="1600" b="1" i="0" dirty="0">
                <a:solidFill>
                  <a:srgbClr val="242424"/>
                </a:solidFill>
                <a:effectLst/>
                <a:latin typeface="Segoe UI" panose="020B0502040204020203" pitchFamily="34" charset="0"/>
              </a:rPr>
              <a:t>Default Boxes</a:t>
            </a:r>
            <a:r>
              <a:rPr lang="en-GB" sz="1600" b="0" i="0" dirty="0">
                <a:solidFill>
                  <a:srgbClr val="242424"/>
                </a:solidFill>
                <a:effectLst/>
                <a:latin typeface="Segoe UI" panose="020B0502040204020203" pitchFamily="34" charset="0"/>
              </a:rPr>
              <a:t>: SSD introduces the concept of default boxes (also known as anchor boxes) with different aspect ratios and scales at each feature map cell. These default boxes act as reference points for predicting bounding boxes.</a:t>
            </a:r>
          </a:p>
          <a:p>
            <a:pPr algn="l">
              <a:buFont typeface="+mj-lt"/>
              <a:buAutoNum type="arabicPeriod"/>
            </a:pPr>
            <a:r>
              <a:rPr lang="en-GB" sz="1600" b="1" i="0" dirty="0">
                <a:solidFill>
                  <a:srgbClr val="242424"/>
                </a:solidFill>
                <a:effectLst/>
                <a:latin typeface="Segoe UI" panose="020B0502040204020203" pitchFamily="34" charset="0"/>
              </a:rPr>
              <a:t>Bounding Box Prediction</a:t>
            </a:r>
            <a:r>
              <a:rPr lang="en-GB" sz="1600" b="0" i="0" dirty="0">
                <a:solidFill>
                  <a:srgbClr val="242424"/>
                </a:solidFill>
                <a:effectLst/>
                <a:latin typeface="Segoe UI" panose="020B0502040204020203" pitchFamily="34" charset="0"/>
              </a:rPr>
              <a:t>: For each default box, SSD predicts the offsets to the ground truth bounding box and the confidence scores for each class. This results in a set of bounding boxes with associated class probabilities.</a:t>
            </a:r>
          </a:p>
          <a:p>
            <a:pPr algn="l">
              <a:buFont typeface="+mj-lt"/>
              <a:buAutoNum type="arabicPeriod"/>
            </a:pPr>
            <a:r>
              <a:rPr lang="en-GB" sz="1600" b="1" i="0" dirty="0">
                <a:solidFill>
                  <a:srgbClr val="242424"/>
                </a:solidFill>
                <a:effectLst/>
                <a:latin typeface="Segoe UI" panose="020B0502040204020203" pitchFamily="34" charset="0"/>
              </a:rPr>
              <a:t>Non-Maximum Suppression (NMS)</a:t>
            </a:r>
            <a:r>
              <a:rPr lang="en-GB" sz="1600" b="0" i="0" dirty="0">
                <a:solidFill>
                  <a:srgbClr val="242424"/>
                </a:solidFill>
                <a:effectLst/>
                <a:latin typeface="Segoe UI" panose="020B0502040204020203" pitchFamily="34" charset="0"/>
              </a:rPr>
              <a:t>: Similar to YOLO, SSD applies NMS to filter out overlapping bounding boxes and keep only the most confident detections.</a:t>
            </a:r>
          </a:p>
        </p:txBody>
      </p:sp>
      <p:sp>
        <p:nvSpPr>
          <p:cNvPr id="2" name="Title 1">
            <a:extLst>
              <a:ext uri="{FF2B5EF4-FFF2-40B4-BE49-F238E27FC236}">
                <a16:creationId xmlns:a16="http://schemas.microsoft.com/office/drawing/2014/main" id="{8D761B63-1D20-3CFA-CF2A-823EDB42A263}"/>
              </a:ext>
            </a:extLst>
          </p:cNvPr>
          <p:cNvSpPr>
            <a:spLocks noGrp="1"/>
          </p:cNvSpPr>
          <p:nvPr>
            <p:ph type="title"/>
          </p:nvPr>
        </p:nvSpPr>
        <p:spPr>
          <a:xfrm>
            <a:off x="609600" y="576274"/>
            <a:ext cx="9028669" cy="1001980"/>
          </a:xfrm>
        </p:spPr>
        <p:txBody>
          <a:bodyPr anchor="t">
            <a:normAutofit/>
          </a:bodyPr>
          <a:lstStyle/>
          <a:p>
            <a:r>
              <a:rPr lang="en-US" dirty="0"/>
              <a:t>Single Shot Detectors (SSD)</a:t>
            </a:r>
            <a:endParaRPr lang="en-CA" dirty="0"/>
          </a:p>
        </p:txBody>
      </p:sp>
    </p:spTree>
    <p:extLst>
      <p:ext uri="{BB962C8B-B14F-4D97-AF65-F5344CB8AC3E}">
        <p14:creationId xmlns:p14="http://schemas.microsoft.com/office/powerpoint/2010/main" val="21315732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B60EE-9DFD-647A-DCE2-AA95F241671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BD12759-6360-D1C9-9B0C-9D40287A51F0}"/>
              </a:ext>
            </a:extLst>
          </p:cNvPr>
          <p:cNvSpPr>
            <a:spLocks noGrp="1"/>
          </p:cNvSpPr>
          <p:nvPr>
            <p:ph type="body" sz="quarter" idx="15"/>
          </p:nvPr>
        </p:nvSpPr>
        <p:spPr>
          <a:xfrm>
            <a:off x="432487" y="1408670"/>
            <a:ext cx="9836120" cy="4423719"/>
          </a:xfrm>
        </p:spPr>
        <p:txBody>
          <a:bodyPr>
            <a:normAutofit/>
          </a:bodyPr>
          <a:lstStyle/>
          <a:p>
            <a:pPr algn="l">
              <a:buFont typeface="+mj-lt"/>
              <a:buAutoNum type="arabicPeriod"/>
            </a:pPr>
            <a:r>
              <a:rPr lang="en-GB" sz="1600" b="1" i="0" dirty="0">
                <a:solidFill>
                  <a:srgbClr val="242424"/>
                </a:solidFill>
                <a:effectLst/>
                <a:latin typeface="Segoe UI" panose="020B0502040204020203" pitchFamily="34" charset="0"/>
              </a:rPr>
              <a:t>Single Forward Pass</a:t>
            </a:r>
            <a:r>
              <a:rPr lang="en-GB" sz="1600" b="0" i="0" dirty="0">
                <a:solidFill>
                  <a:srgbClr val="242424"/>
                </a:solidFill>
                <a:effectLst/>
                <a:latin typeface="Segoe UI" panose="020B0502040204020203" pitchFamily="34" charset="0"/>
              </a:rPr>
              <a:t>: Unlike traditional methods that apply the model to multiple regions of the image, YOLO processes the entire image in a single forward pass. This makes it extremely fast.</a:t>
            </a:r>
          </a:p>
          <a:p>
            <a:pPr algn="l">
              <a:buFont typeface="+mj-lt"/>
              <a:buAutoNum type="arabicPeriod"/>
            </a:pPr>
            <a:r>
              <a:rPr lang="en-GB" sz="1600" b="1" i="0" dirty="0">
                <a:solidFill>
                  <a:srgbClr val="242424"/>
                </a:solidFill>
                <a:effectLst/>
                <a:latin typeface="Segoe UI" panose="020B0502040204020203" pitchFamily="34" charset="0"/>
              </a:rPr>
              <a:t>Grid Division</a:t>
            </a:r>
            <a:r>
              <a:rPr lang="en-GB" sz="1600" b="0" i="0" dirty="0">
                <a:solidFill>
                  <a:srgbClr val="242424"/>
                </a:solidFill>
                <a:effectLst/>
                <a:latin typeface="Segoe UI" panose="020B0502040204020203" pitchFamily="34" charset="0"/>
              </a:rPr>
              <a:t>: YOLO divides the input image into multiple grids. Each grid cell is responsible for predicting a fixed number of bounding boxes and their corresponding confidence scores.</a:t>
            </a:r>
          </a:p>
          <a:p>
            <a:pPr algn="l">
              <a:buFont typeface="+mj-lt"/>
              <a:buAutoNum type="arabicPeriod"/>
            </a:pPr>
            <a:r>
              <a:rPr lang="en-GB" sz="1600" b="1" i="0" dirty="0">
                <a:solidFill>
                  <a:srgbClr val="242424"/>
                </a:solidFill>
                <a:effectLst/>
                <a:latin typeface="Segoe UI" panose="020B0502040204020203" pitchFamily="34" charset="0"/>
              </a:rPr>
              <a:t>Bounding Box Prediction</a:t>
            </a:r>
            <a:r>
              <a:rPr lang="en-GB" sz="1600" b="0" i="0" dirty="0">
                <a:solidFill>
                  <a:srgbClr val="242424"/>
                </a:solidFill>
                <a:effectLst/>
                <a:latin typeface="Segoe UI" panose="020B0502040204020203" pitchFamily="34" charset="0"/>
              </a:rPr>
              <a:t>: For each grid cell, YOLO predicts multiple bounding boxes, each with a confidence score that indicates the likelihood of an object being present and the accuracy of the bounding box.</a:t>
            </a:r>
          </a:p>
          <a:p>
            <a:pPr algn="l">
              <a:buFont typeface="+mj-lt"/>
              <a:buAutoNum type="arabicPeriod"/>
            </a:pPr>
            <a:r>
              <a:rPr lang="en-GB" sz="1600" b="1" i="0" dirty="0">
                <a:solidFill>
                  <a:srgbClr val="242424"/>
                </a:solidFill>
                <a:effectLst/>
                <a:latin typeface="Segoe UI" panose="020B0502040204020203" pitchFamily="34" charset="0"/>
              </a:rPr>
              <a:t>Class Prediction</a:t>
            </a:r>
            <a:r>
              <a:rPr lang="en-GB" sz="1600" b="0" i="0" dirty="0">
                <a:solidFill>
                  <a:srgbClr val="242424"/>
                </a:solidFill>
                <a:effectLst/>
                <a:latin typeface="Segoe UI" panose="020B0502040204020203" pitchFamily="34" charset="0"/>
              </a:rPr>
              <a:t>: Along with bounding boxes, YOLO predicts class probabilities for each grid cell, indicating which object class (e.g., person, car, dog) is present.</a:t>
            </a:r>
          </a:p>
          <a:p>
            <a:pPr algn="l">
              <a:buFont typeface="+mj-lt"/>
              <a:buAutoNum type="arabicPeriod"/>
            </a:pPr>
            <a:r>
              <a:rPr lang="en-GB" sz="1600" b="1" i="0" dirty="0">
                <a:solidFill>
                  <a:srgbClr val="242424"/>
                </a:solidFill>
                <a:effectLst/>
                <a:latin typeface="Segoe UI" panose="020B0502040204020203" pitchFamily="34" charset="0"/>
              </a:rPr>
              <a:t>Non-Maximum Suppression (NMS)</a:t>
            </a:r>
            <a:r>
              <a:rPr lang="en-GB" sz="1600" b="0" i="0" dirty="0">
                <a:solidFill>
                  <a:srgbClr val="242424"/>
                </a:solidFill>
                <a:effectLst/>
                <a:latin typeface="Segoe UI" panose="020B0502040204020203" pitchFamily="34" charset="0"/>
              </a:rPr>
              <a:t>: To reduce redundant detections, YOLO applies NMS to keep only the most confident bounding boxes for each detected object.</a:t>
            </a:r>
          </a:p>
          <a:p>
            <a:pPr>
              <a:lnSpc>
                <a:spcPct val="100000"/>
              </a:lnSpc>
            </a:pPr>
            <a:endParaRPr lang="en-US" sz="2000" dirty="0"/>
          </a:p>
        </p:txBody>
      </p:sp>
      <p:sp>
        <p:nvSpPr>
          <p:cNvPr id="2" name="Title 1">
            <a:extLst>
              <a:ext uri="{FF2B5EF4-FFF2-40B4-BE49-F238E27FC236}">
                <a16:creationId xmlns:a16="http://schemas.microsoft.com/office/drawing/2014/main" id="{1949C002-BA09-CA85-23C6-B67ED57227EA}"/>
              </a:ext>
            </a:extLst>
          </p:cNvPr>
          <p:cNvSpPr>
            <a:spLocks noGrp="1"/>
          </p:cNvSpPr>
          <p:nvPr>
            <p:ph type="title"/>
          </p:nvPr>
        </p:nvSpPr>
        <p:spPr>
          <a:xfrm>
            <a:off x="609600" y="576274"/>
            <a:ext cx="9028669" cy="716498"/>
          </a:xfrm>
        </p:spPr>
        <p:txBody>
          <a:bodyPr anchor="t">
            <a:normAutofit/>
          </a:bodyPr>
          <a:lstStyle/>
          <a:p>
            <a:r>
              <a:rPr lang="en-US" dirty="0"/>
              <a:t>You Only Look Once (YOLO)</a:t>
            </a:r>
            <a:endParaRPr lang="en-CA" dirty="0"/>
          </a:p>
        </p:txBody>
      </p:sp>
    </p:spTree>
    <p:extLst>
      <p:ext uri="{BB962C8B-B14F-4D97-AF65-F5344CB8AC3E}">
        <p14:creationId xmlns:p14="http://schemas.microsoft.com/office/powerpoint/2010/main" val="1242025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0D0EE-C430-BF25-5E0B-CE79DA82AB5B}"/>
              </a:ext>
            </a:extLst>
          </p:cNvPr>
          <p:cNvSpPr>
            <a:spLocks noGrp="1"/>
          </p:cNvSpPr>
          <p:nvPr>
            <p:ph type="title"/>
          </p:nvPr>
        </p:nvSpPr>
        <p:spPr>
          <a:xfrm>
            <a:off x="609601" y="576274"/>
            <a:ext cx="7106241" cy="1001980"/>
          </a:xfrm>
        </p:spPr>
        <p:txBody>
          <a:bodyPr anchor="t">
            <a:normAutofit/>
          </a:bodyPr>
          <a:lstStyle/>
          <a:p>
            <a:r>
              <a:rPr lang="en-CA"/>
              <a:t>Challenges in Object Detection</a:t>
            </a:r>
          </a:p>
        </p:txBody>
      </p:sp>
      <p:sp>
        <p:nvSpPr>
          <p:cNvPr id="3" name="Text Placeholder 2">
            <a:extLst>
              <a:ext uri="{FF2B5EF4-FFF2-40B4-BE49-F238E27FC236}">
                <a16:creationId xmlns:a16="http://schemas.microsoft.com/office/drawing/2014/main" id="{4FCFFB76-0150-2039-34B1-B626DF5B6894}"/>
              </a:ext>
            </a:extLst>
          </p:cNvPr>
          <p:cNvSpPr>
            <a:spLocks noGrp="1"/>
          </p:cNvSpPr>
          <p:nvPr>
            <p:ph type="body" sz="quarter" idx="15"/>
          </p:nvPr>
        </p:nvSpPr>
        <p:spPr>
          <a:xfrm>
            <a:off x="609602" y="1803401"/>
            <a:ext cx="8710984" cy="3848100"/>
          </a:xfrm>
        </p:spPr>
        <p:txBody>
          <a:bodyPr>
            <a:normAutofit/>
          </a:bodyPr>
          <a:lstStyle/>
          <a:p>
            <a:r>
              <a:rPr lang="en-US"/>
              <a:t>Despite advancements, object detection faces challenges like detecting small or occluded objects, handling diverse and complex backgrounds, and dealing with varying lighting conditions. Balancing precision and recall, especially in crowded scenes, remains a critical issue. There's also the challenge of computational resource requirements for training and deploying sophisticated models.</a:t>
            </a:r>
            <a:endParaRPr lang="en-CA"/>
          </a:p>
        </p:txBody>
      </p:sp>
    </p:spTree>
    <p:extLst>
      <p:ext uri="{BB962C8B-B14F-4D97-AF65-F5344CB8AC3E}">
        <p14:creationId xmlns:p14="http://schemas.microsoft.com/office/powerpoint/2010/main" val="31402279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AD756-10BD-3B1D-ED38-46D65078153C}"/>
              </a:ext>
            </a:extLst>
          </p:cNvPr>
          <p:cNvSpPr>
            <a:spLocks noGrp="1"/>
          </p:cNvSpPr>
          <p:nvPr>
            <p:ph type="title"/>
          </p:nvPr>
        </p:nvSpPr>
        <p:spPr>
          <a:xfrm>
            <a:off x="609601" y="576274"/>
            <a:ext cx="7106241" cy="1001980"/>
          </a:xfrm>
        </p:spPr>
        <p:txBody>
          <a:bodyPr anchor="t">
            <a:normAutofit/>
          </a:bodyPr>
          <a:lstStyle/>
          <a:p>
            <a:r>
              <a:rPr lang="en-CA"/>
              <a:t>Future Perspectives and Emerging Technologies</a:t>
            </a:r>
          </a:p>
        </p:txBody>
      </p:sp>
      <p:sp>
        <p:nvSpPr>
          <p:cNvPr id="3" name="Text Placeholder 2">
            <a:extLst>
              <a:ext uri="{FF2B5EF4-FFF2-40B4-BE49-F238E27FC236}">
                <a16:creationId xmlns:a16="http://schemas.microsoft.com/office/drawing/2014/main" id="{CBC877A7-17C4-8ACA-9392-345063FEC3A7}"/>
              </a:ext>
            </a:extLst>
          </p:cNvPr>
          <p:cNvSpPr>
            <a:spLocks noGrp="1"/>
          </p:cNvSpPr>
          <p:nvPr>
            <p:ph type="body" sz="quarter" idx="15"/>
          </p:nvPr>
        </p:nvSpPr>
        <p:spPr>
          <a:xfrm>
            <a:off x="609602" y="1803401"/>
            <a:ext cx="8710984" cy="3848100"/>
          </a:xfrm>
        </p:spPr>
        <p:txBody>
          <a:bodyPr>
            <a:normAutofit/>
          </a:bodyPr>
          <a:lstStyle/>
          <a:p>
            <a:r>
              <a:rPr lang="en-US"/>
              <a:t>The future of object detection lies in integrating it with emerging technologies like augmented reality (AR) and the Internet of Things (IoT). The development of low-power, high-performance models is essential for edge computing applications. Furthermore, incorporating advances in artificial intelligence, such as explainable AI and reinforcement learning, can lead to more robust and intelligent object detection systems that understand context and interactions within a scene.</a:t>
            </a:r>
            <a:endParaRPr lang="en-CA"/>
          </a:p>
        </p:txBody>
      </p:sp>
    </p:spTree>
    <p:extLst>
      <p:ext uri="{BB962C8B-B14F-4D97-AF65-F5344CB8AC3E}">
        <p14:creationId xmlns:p14="http://schemas.microsoft.com/office/powerpoint/2010/main" val="31487858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9AF91-D311-FA16-2900-8B026A4BDA35}"/>
              </a:ext>
            </a:extLst>
          </p:cNvPr>
          <p:cNvSpPr>
            <a:spLocks noGrp="1"/>
          </p:cNvSpPr>
          <p:nvPr>
            <p:ph type="title"/>
          </p:nvPr>
        </p:nvSpPr>
        <p:spPr>
          <a:xfrm>
            <a:off x="609601" y="576274"/>
            <a:ext cx="7106241" cy="1001980"/>
          </a:xfrm>
        </p:spPr>
        <p:txBody>
          <a:bodyPr anchor="t">
            <a:normAutofit/>
          </a:bodyPr>
          <a:lstStyle/>
          <a:p>
            <a:r>
              <a:rPr lang="en-CA"/>
              <a:t>Conclusion and Key Takeaways</a:t>
            </a:r>
          </a:p>
        </p:txBody>
      </p:sp>
      <p:sp>
        <p:nvSpPr>
          <p:cNvPr id="3" name="Text Placeholder 2">
            <a:extLst>
              <a:ext uri="{FF2B5EF4-FFF2-40B4-BE49-F238E27FC236}">
                <a16:creationId xmlns:a16="http://schemas.microsoft.com/office/drawing/2014/main" id="{E1BFD383-441B-868E-D786-2A223D93A527}"/>
              </a:ext>
            </a:extLst>
          </p:cNvPr>
          <p:cNvSpPr>
            <a:spLocks noGrp="1"/>
          </p:cNvSpPr>
          <p:nvPr>
            <p:ph type="body" sz="quarter" idx="15"/>
          </p:nvPr>
        </p:nvSpPr>
        <p:spPr>
          <a:xfrm>
            <a:off x="609602" y="1803401"/>
            <a:ext cx="8710984" cy="3848100"/>
          </a:xfrm>
        </p:spPr>
        <p:txBody>
          <a:bodyPr>
            <a:normAutofit/>
          </a:bodyPr>
          <a:lstStyle/>
          <a:p>
            <a:r>
              <a:rPr lang="en-US"/>
              <a:t>In conclusion, object detection has evolved from traditional methods to advanced deep learning techniques, significantly enhancing its capabilities and applications. The field continues to grow, driven by ongoing research and technological advancements. Key takeaways include the importance of robust feature extraction, the efficiency gains from modern detection methods, and the challenges and opportunities that lie ahead in this dynamic and impactful area of computer vision.</a:t>
            </a:r>
            <a:endParaRPr lang="en-CA"/>
          </a:p>
        </p:txBody>
      </p:sp>
    </p:spTree>
    <p:extLst>
      <p:ext uri="{BB962C8B-B14F-4D97-AF65-F5344CB8AC3E}">
        <p14:creationId xmlns:p14="http://schemas.microsoft.com/office/powerpoint/2010/main" val="50377783"/>
      </p:ext>
    </p:extLst>
  </p:cSld>
  <p:clrMapOvr>
    <a:masterClrMapping/>
  </p:clrMapOvr>
</p:sld>
</file>

<file path=ppt/theme/theme1.xml><?xml version="1.0" encoding="utf-8"?>
<a:theme xmlns:a="http://schemas.openxmlformats.org/drawingml/2006/main" name="Office Theme">
  <a:themeElements>
    <a:clrScheme name="Algonquin College Colours">
      <a:dk1>
        <a:srgbClr val="423F3F"/>
      </a:dk1>
      <a:lt1>
        <a:sysClr val="window" lastClr="FFFFFF"/>
      </a:lt1>
      <a:dk2>
        <a:srgbClr val="00673E"/>
      </a:dk2>
      <a:lt2>
        <a:srgbClr val="FFFFFF"/>
      </a:lt2>
      <a:accent1>
        <a:srgbClr val="00673E"/>
      </a:accent1>
      <a:accent2>
        <a:srgbClr val="599A83"/>
      </a:accent2>
      <a:accent3>
        <a:srgbClr val="A6C8BC"/>
      </a:accent3>
      <a:accent4>
        <a:srgbClr val="408A70"/>
      </a:accent4>
      <a:accent5>
        <a:srgbClr val="423F3F"/>
      </a:accent5>
      <a:accent6>
        <a:srgbClr val="B4B2B5"/>
      </a:accent6>
      <a:hlink>
        <a:srgbClr val="43B02A"/>
      </a:hlink>
      <a:folHlink>
        <a:srgbClr val="7AC14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d546e5e1-5d42-4630-bacd-c69bfdcbd5e8}" enabled="1" method="Standard" siteId="{96ece526-9c7d-48b0-8daf-8b93c90a5d18}" contentBits="0" removed="0"/>
</clbl:labelList>
</file>

<file path=docProps/app.xml><?xml version="1.0" encoding="utf-8"?>
<Properties xmlns="http://schemas.openxmlformats.org/officeDocument/2006/extended-properties" xmlns:vt="http://schemas.openxmlformats.org/officeDocument/2006/docPropsVTypes">
  <Template>lesson-template-nov2017</Template>
  <TotalTime>4302</TotalTime>
  <Words>1866</Words>
  <Application>Microsoft Office PowerPoint</Application>
  <PresentationFormat>Widescreen</PresentationFormat>
  <Paragraphs>82</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Segoe UI</vt:lpstr>
      <vt:lpstr>Wingdings</vt:lpstr>
      <vt:lpstr>Office Theme</vt:lpstr>
      <vt:lpstr>Object Detection Fundamentals</vt:lpstr>
      <vt:lpstr>Today’s Topics</vt:lpstr>
      <vt:lpstr>Introduction to Object Detection</vt:lpstr>
      <vt:lpstr>The Evolution of Object Detection</vt:lpstr>
      <vt:lpstr>Traditional Object Detection: Overview</vt:lpstr>
      <vt:lpstr>Traditional Object Detection: Key Concepts</vt:lpstr>
      <vt:lpstr>Limitations of Traditional Object Detection</vt:lpstr>
      <vt:lpstr>Transition to Deep Learning</vt:lpstr>
      <vt:lpstr>Transition to Deep Learning</vt:lpstr>
      <vt:lpstr>Deep Learning in Object Detection: Feature Extraction</vt:lpstr>
      <vt:lpstr>Deep Learning in Object Detection: Detection Head</vt:lpstr>
      <vt:lpstr>Outputs of Detection Models vs. Classification Models</vt:lpstr>
      <vt:lpstr>Types of Detection Heads: Anchor-Based</vt:lpstr>
      <vt:lpstr>Types of Detection Heads: Anchorless</vt:lpstr>
      <vt:lpstr>Case Studies and Applications: Real-World Examples</vt:lpstr>
      <vt:lpstr>Case Studies and Applications: Industry Use-Cases</vt:lpstr>
      <vt:lpstr>Advanced Topics in Object Detection: R-CNNs and Beyond</vt:lpstr>
      <vt:lpstr>R-CNN (Region-based CNN)</vt:lpstr>
      <vt:lpstr>PowerPoint Presentation</vt:lpstr>
      <vt:lpstr>Intersection Over Union (IOU) Metric</vt:lpstr>
      <vt:lpstr>Advanced Topics: Single Shot Detectors (SSD) and YOLO</vt:lpstr>
      <vt:lpstr>SSD vs YOLO</vt:lpstr>
      <vt:lpstr>Single Shot Detectors (SSD)</vt:lpstr>
      <vt:lpstr>You Only Look Once (YOLO)</vt:lpstr>
      <vt:lpstr>Challenges in Object Detection</vt:lpstr>
      <vt:lpstr>Future Perspectives and Emerging Technologies</vt:lpstr>
      <vt:lpstr>Conclusion and 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Detection</dc:title>
  <dc:creator>Wassim El Ahmar</dc:creator>
  <cp:lastModifiedBy>Thomas, Stephin</cp:lastModifiedBy>
  <cp:revision>75</cp:revision>
  <dcterms:created xsi:type="dcterms:W3CDTF">2024-01-03T20:04:39Z</dcterms:created>
  <dcterms:modified xsi:type="dcterms:W3CDTF">2026-03-19T15:53:15Z</dcterms:modified>
</cp:coreProperties>
</file>
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sldIdLst>
    <p:sldId id="256" r:id="rId2"/>
    <p:sldId id="257" r:id="rId3"/>
    <p:sldId id="284" r:id="rId4"/>
    <p:sldId id="283" r:id="rId5"/>
    <p:sldId id="282" r:id="rId6"/>
    <p:sldId id="285" r:id="rId7"/>
    <p:sldId id="286" r:id="rId8"/>
    <p:sldId id="260" r:id="rId9"/>
    <p:sldId id="277" r:id="rId10"/>
    <p:sldId id="278" r:id="rId11"/>
    <p:sldId id="261" r:id="rId12"/>
    <p:sldId id="280" r:id="rId13"/>
    <p:sldId id="290" r:id="rId14"/>
    <p:sldId id="281" r:id="rId15"/>
    <p:sldId id="276" r:id="rId16"/>
    <p:sldId id="288" r:id="rId17"/>
    <p:sldId id="263" r:id="rId18"/>
    <p:sldId id="291" r:id="rId19"/>
    <p:sldId id="267" r:id="rId20"/>
    <p:sldId id="293" r:id="rId21"/>
    <p:sldId id="287" r:id="rId22"/>
    <p:sldId id="270" r:id="rId23"/>
    <p:sldId id="294" r:id="rId24"/>
    <p:sldId id="271" r:id="rId25"/>
  </p:sldIdLst>
  <p:sldSz cx="12192000" cy="6858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1"/>
    <p:restoredTop sz="94014"/>
  </p:normalViewPr>
  <p:slideViewPr>
    <p:cSldViewPr snapToGrid="0">
      <p:cViewPr varScale="1">
        <p:scale>
          <a:sx n="120" d="100"/>
          <a:sy n="120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56B3F-3064-6740-A4BB-B85926022D22}" type="datetimeFigureOut">
              <a:rPr lang="en-CZ" smtClean="0"/>
              <a:t>18.01.2026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5FAD7-7F93-B54F-A807-96BC888A4281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842078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5FAD7-7F93-B54F-A807-96BC888A4281}" type="slidenum">
              <a:rPr lang="en-CZ" smtClean="0"/>
              <a:t>10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911524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5FAD7-7F93-B54F-A807-96BC888A4281}" type="slidenum">
              <a:rPr lang="en-CZ" smtClean="0"/>
              <a:t>12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06200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13EB-D094-4886-95D6-F2C8D578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AC13F-5E3E-1680-BF6A-F2142E749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276D6-7674-DA3D-C5EB-C10542FFD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52B11-0E7A-75C8-87FF-7D5B99E0E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5FAD7-7F93-B54F-A807-96BC888A4281}" type="slidenum">
              <a:rPr lang="en-CZ" smtClean="0"/>
              <a:t>13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013103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1984"/>
            <a:ext cx="12192000" cy="1304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2" y="1287430"/>
            <a:ext cx="7250674" cy="163551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2" y="3024545"/>
            <a:ext cx="9117331" cy="1752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600" baseline="0">
                <a:solidFill>
                  <a:schemeClr val="accent3"/>
                </a:solidFill>
              </a:defRPr>
            </a:lvl1pPr>
            <a:lvl2pPr marL="586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8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22239" y="5509909"/>
            <a:ext cx="5358682" cy="745331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12" y="619055"/>
            <a:ext cx="2542927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1984"/>
            <a:ext cx="12192000" cy="1304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544637"/>
            <a:ext cx="7250676" cy="136207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6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3062821"/>
            <a:ext cx="7250676" cy="1500188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2550" baseline="0">
                <a:solidFill>
                  <a:srgbClr val="A6C8BC"/>
                </a:solidFill>
              </a:defRPr>
            </a:lvl1pPr>
            <a:lvl2pPr marL="586109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2pPr>
            <a:lvl3pPr marL="1172219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7583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444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305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166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102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6888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99" y="517457"/>
            <a:ext cx="723829" cy="5334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459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2501574" y="1803401"/>
            <a:ext cx="3474729" cy="3227685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6222189" y="2336800"/>
            <a:ext cx="3504744" cy="2160887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6221598" y="1803797"/>
            <a:ext cx="3504858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6221598" y="4498182"/>
            <a:ext cx="3504858" cy="532904"/>
          </a:xfrm>
        </p:spPr>
        <p:txBody>
          <a:bodyPr anchor="b"/>
          <a:lstStyle>
            <a:lvl1pPr>
              <a:defRPr sz="1575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2964306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22300" y="1803797"/>
            <a:ext cx="1625307" cy="1509752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2488956" y="2336800"/>
            <a:ext cx="3504744" cy="17907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488365" y="1803797"/>
            <a:ext cx="3504858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2488365" y="4127500"/>
            <a:ext cx="3504858" cy="532904"/>
          </a:xfrm>
        </p:spPr>
        <p:txBody>
          <a:bodyPr anchor="b"/>
          <a:lstStyle>
            <a:lvl1pPr>
              <a:defRPr sz="1575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6222271" y="1803797"/>
            <a:ext cx="1625307" cy="1509752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8088927" y="2336800"/>
            <a:ext cx="3504744" cy="17907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088336" y="1803797"/>
            <a:ext cx="3504858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8088336" y="4127500"/>
            <a:ext cx="3504858" cy="532904"/>
          </a:xfrm>
        </p:spPr>
        <p:txBody>
          <a:bodyPr anchor="b"/>
          <a:lstStyle>
            <a:lvl1pPr>
              <a:defRPr sz="1575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369"/>
            <a:ext cx="12192000" cy="133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05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8710984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460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495299"/>
            <a:ext cx="8710984" cy="51562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874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5371319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70" y="1803401"/>
            <a:ext cx="5360131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486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5371319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70" y="2336799"/>
            <a:ext cx="5360131" cy="3314702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3" y="1803797"/>
            <a:ext cx="5371319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22270" y="1803797"/>
            <a:ext cx="536013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05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3504662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1803401"/>
            <a:ext cx="3482660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1803401"/>
            <a:ext cx="3504744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520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3504662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2336799"/>
            <a:ext cx="3482660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2336799"/>
            <a:ext cx="3504744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1803797"/>
            <a:ext cx="3482660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088847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5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3504662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1803401"/>
            <a:ext cx="3482660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1803401"/>
            <a:ext cx="3504744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3848101"/>
            <a:ext cx="3504662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3848101"/>
            <a:ext cx="3482660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088847" y="3848101"/>
            <a:ext cx="3504744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4982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800"/>
            <a:ext cx="3504662" cy="12734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2336800"/>
            <a:ext cx="3482660" cy="12734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2336800"/>
            <a:ext cx="3504744" cy="12734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4393805"/>
            <a:ext cx="3504662" cy="1261149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4393805"/>
            <a:ext cx="3482660" cy="1261149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088847" y="4393805"/>
            <a:ext cx="3504744" cy="1261149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4355533" y="1803797"/>
            <a:ext cx="3482660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609603" y="3860802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355533" y="3860802"/>
            <a:ext cx="3482660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8088847" y="3860802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2502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8710984" cy="3848100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468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495299"/>
            <a:ext cx="8710984" cy="5156202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182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5371319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222269" y="2336799"/>
            <a:ext cx="5360131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2" y="1803797"/>
            <a:ext cx="5371318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222268" y="1803797"/>
            <a:ext cx="5360131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11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3504662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088848" y="2336799"/>
            <a:ext cx="3493552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03797"/>
            <a:ext cx="3493552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4355535" y="2336799"/>
            <a:ext cx="3482658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355534" y="1803797"/>
            <a:ext cx="3482658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9097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609602" y="4393804"/>
            <a:ext cx="350466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8088848" y="4393804"/>
            <a:ext cx="349355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609603" y="3860802"/>
            <a:ext cx="3504661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8088847" y="3860802"/>
            <a:ext cx="3493552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4355535" y="4393804"/>
            <a:ext cx="3482658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4355534" y="3860802"/>
            <a:ext cx="3482658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800"/>
            <a:ext cx="350466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088848" y="2336800"/>
            <a:ext cx="349355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03797"/>
            <a:ext cx="3493552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4355535" y="2336800"/>
            <a:ext cx="3482658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355534" y="1803797"/>
            <a:ext cx="3482658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835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2895600"/>
            <a:ext cx="3504662" cy="2759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2895600"/>
            <a:ext cx="3482660" cy="2759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2895600"/>
            <a:ext cx="3504744" cy="2759354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1856581"/>
            <a:ext cx="3504663" cy="919747"/>
          </a:xfrm>
        </p:spPr>
        <p:txBody>
          <a:bodyPr anchor="b"/>
          <a:lstStyle>
            <a:lvl1pPr>
              <a:lnSpc>
                <a:spcPct val="80000"/>
              </a:lnSpc>
              <a:defRPr sz="8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4355534" y="1856581"/>
            <a:ext cx="3482659" cy="919747"/>
          </a:xfrm>
        </p:spPr>
        <p:txBody>
          <a:bodyPr anchor="b"/>
          <a:lstStyle>
            <a:lvl1pPr>
              <a:lnSpc>
                <a:spcPct val="80000"/>
              </a:lnSpc>
              <a:defRPr sz="8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56581"/>
            <a:ext cx="3504744" cy="919747"/>
          </a:xfrm>
        </p:spPr>
        <p:txBody>
          <a:bodyPr anchor="b"/>
          <a:lstStyle>
            <a:lvl1pPr>
              <a:lnSpc>
                <a:spcPct val="80000"/>
              </a:lnSpc>
              <a:defRPr sz="8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031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2776327"/>
            <a:ext cx="3504662" cy="2878627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2776327"/>
            <a:ext cx="3482660" cy="2878627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2776327"/>
            <a:ext cx="3504744" cy="2878627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1831182"/>
            <a:ext cx="3504663" cy="945146"/>
          </a:xfrm>
        </p:spPr>
        <p:txBody>
          <a:bodyPr anchor="t"/>
          <a:lstStyle>
            <a:lvl1pPr>
              <a:lnSpc>
                <a:spcPct val="80000"/>
              </a:lnSpc>
              <a:defRPr sz="5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4355534" y="1856581"/>
            <a:ext cx="3482659" cy="919747"/>
          </a:xfrm>
        </p:spPr>
        <p:txBody>
          <a:bodyPr anchor="t"/>
          <a:lstStyle>
            <a:lvl1pPr>
              <a:lnSpc>
                <a:spcPct val="80000"/>
              </a:lnSpc>
              <a:defRPr sz="5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56581"/>
            <a:ext cx="3504744" cy="919747"/>
          </a:xfrm>
        </p:spPr>
        <p:txBody>
          <a:bodyPr anchor="t"/>
          <a:lstStyle>
            <a:lvl1pPr>
              <a:lnSpc>
                <a:spcPct val="80000"/>
              </a:lnSpc>
              <a:defRPr sz="5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77604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3403600"/>
            <a:ext cx="3504662" cy="2251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3403600"/>
            <a:ext cx="3482660" cy="2251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3403600"/>
            <a:ext cx="3504744" cy="2251354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46048" y="1841105"/>
            <a:ext cx="1316703" cy="13168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880138" y="2175520"/>
            <a:ext cx="648524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/>
        </p:nvSpPr>
        <p:spPr>
          <a:xfrm>
            <a:off x="4292041" y="1841105"/>
            <a:ext cx="1316703" cy="13168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4626130" y="2175520"/>
            <a:ext cx="648523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/>
        </p:nvSpPr>
        <p:spPr>
          <a:xfrm>
            <a:off x="8025355" y="1841105"/>
            <a:ext cx="1316703" cy="13168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8359737" y="2175520"/>
            <a:ext cx="647937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3828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2465067" y="622300"/>
            <a:ext cx="7261866" cy="5626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3753467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966" y="628650"/>
            <a:ext cx="10984069" cy="56007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2090307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1593878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465067" y="4921484"/>
            <a:ext cx="7261866" cy="291603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951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2090307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1593878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465067" y="4921484"/>
            <a:ext cx="7261866" cy="291603"/>
          </a:xfr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067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275"/>
            <a:ext cx="12190809" cy="313372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985406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488976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748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275"/>
            <a:ext cx="12190809" cy="313372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985406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488976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4775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5206" cy="3428553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235377" y="1914188"/>
            <a:ext cx="7721246" cy="3029625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8399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76178" y="2259471"/>
            <a:ext cx="7239644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476178" y="4232939"/>
            <a:ext cx="7239644" cy="291603"/>
          </a:xfr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55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1803401"/>
            <a:ext cx="5612587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5612588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488876" y="4700460"/>
            <a:ext cx="3733314" cy="951040"/>
          </a:xfrm>
        </p:spPr>
        <p:txBody>
          <a:bodyPr anchor="b"/>
          <a:lstStyle>
            <a:lvl1pPr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7009488" y="639773"/>
            <a:ext cx="5182512" cy="501172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7009488" y="4057215"/>
            <a:ext cx="3771409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7838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993702" y="1803401"/>
            <a:ext cx="5612587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93700" y="576274"/>
            <a:ext cx="5612588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993700" y="4700460"/>
            <a:ext cx="3733314" cy="951040"/>
          </a:xfrm>
        </p:spPr>
        <p:txBody>
          <a:bodyPr anchor="b"/>
          <a:lstStyle>
            <a:lvl1pPr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639773"/>
            <a:ext cx="5182512" cy="501172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4057215"/>
            <a:ext cx="3771409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676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89" y="0"/>
            <a:ext cx="12191111" cy="6858000"/>
          </a:xfrm>
        </p:spPr>
        <p:txBody>
          <a:bodyPr/>
          <a:lstStyle>
            <a:lvl1pPr marL="0" indent="0">
              <a:buNone/>
              <a:defRPr sz="3000" baseline="0"/>
            </a:lvl1pPr>
            <a:lvl2pPr marL="586109" indent="0">
              <a:buNone/>
              <a:defRPr sz="3600"/>
            </a:lvl2pPr>
            <a:lvl3pPr marL="1172219" indent="0">
              <a:buNone/>
              <a:defRPr sz="3075"/>
            </a:lvl3pPr>
            <a:lvl4pPr marL="1758328" indent="0">
              <a:buNone/>
              <a:defRPr sz="2550"/>
            </a:lvl4pPr>
            <a:lvl5pPr marL="2344438" indent="0">
              <a:buNone/>
              <a:defRPr sz="2550"/>
            </a:lvl5pPr>
            <a:lvl6pPr marL="2930547" indent="0">
              <a:buNone/>
              <a:defRPr sz="2550"/>
            </a:lvl6pPr>
            <a:lvl7pPr marL="3516656" indent="0">
              <a:buNone/>
              <a:defRPr sz="2550"/>
            </a:lvl7pPr>
            <a:lvl8pPr marL="4102766" indent="0">
              <a:buNone/>
              <a:defRPr sz="2550"/>
            </a:lvl8pPr>
            <a:lvl9pPr marL="4688875" indent="0">
              <a:buNone/>
              <a:defRPr sz="255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4680866"/>
            <a:ext cx="5968223" cy="678593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1575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904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249078" y="622301"/>
            <a:ext cx="5333402" cy="5022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22220" y="622301"/>
            <a:ext cx="5358701" cy="5022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0" y="4064673"/>
            <a:ext cx="3504743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249079" y="4064673"/>
            <a:ext cx="3490554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52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645"/>
            <a:ext cx="12192000" cy="1304320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22220" y="622301"/>
            <a:ext cx="8698367" cy="5022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0" y="4064673"/>
            <a:ext cx="3504743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643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645"/>
            <a:ext cx="12192000" cy="1304320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22220" y="1803401"/>
            <a:ext cx="7093623" cy="38409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6305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609540" y="1803798"/>
            <a:ext cx="7106147" cy="384095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82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11100" y="2338355"/>
            <a:ext cx="7769800" cy="195912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accent5"/>
                </a:solidFill>
              </a:defRPr>
            </a:lvl1pPr>
            <a:lvl2pPr marL="586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8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90464" y="1562096"/>
            <a:ext cx="7211074" cy="76355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490463" y="4513380"/>
            <a:ext cx="7211075" cy="346810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692" y="621411"/>
            <a:ext cx="476310" cy="350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369"/>
            <a:ext cx="12192000" cy="133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224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3785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E115-6ACD-3150-79F4-C05DD70FE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6820D-57F9-1DFE-C434-1BCA3EAD4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C26D8-D23C-D2F4-CA98-49636EF2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F598-D958-4FF4-98CE-AFF8D81F5B4A}" type="datetimeFigureOut">
              <a:rPr lang="en-CA" smtClean="0"/>
              <a:t>2026-01-18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91F9-F188-EA7E-710D-B2272287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4E987-BB16-D401-8E1B-845CB218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012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499889"/>
            <a:ext cx="10972800" cy="11003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972800" cy="3903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51"/>
            <a:ext cx="885052" cy="3651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575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4C197-93F7-4252-8ED8-8274701364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69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</p:sldLayoutIdLst>
  <p:txStyles>
    <p:titleStyle>
      <a:lvl1pPr algn="l" defTabSz="586109" rtl="0" eaLnBrk="1" latinLnBrk="0" hangingPunct="1">
        <a:lnSpc>
          <a:spcPct val="80000"/>
        </a:lnSpc>
        <a:spcBef>
          <a:spcPct val="0"/>
        </a:spcBef>
        <a:buNone/>
        <a:defRPr sz="5399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586109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24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952428" indent="-366319" algn="l" defTabSz="586109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515073" indent="-342854" algn="l" defTabSz="586109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24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051383" indent="-293055" algn="l" defTabSz="586109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1575" kern="1200">
          <a:solidFill>
            <a:schemeClr val="accent4"/>
          </a:solidFill>
          <a:latin typeface="+mn-lt"/>
          <a:ea typeface="+mn-ea"/>
          <a:cs typeface="+mn-cs"/>
        </a:defRPr>
      </a:lvl4pPr>
      <a:lvl5pPr marL="2637492" indent="-293055" algn="l" defTabSz="586109" rtl="0" eaLnBrk="1" latinLnBrk="0" hangingPunct="1">
        <a:spcBef>
          <a:spcPct val="20000"/>
        </a:spcBef>
        <a:buFont typeface="Arial"/>
        <a:buChar char="»"/>
        <a:defRPr sz="2550" kern="1200">
          <a:solidFill>
            <a:schemeClr val="accent5"/>
          </a:solidFill>
          <a:latin typeface="+mn-lt"/>
          <a:ea typeface="+mn-ea"/>
          <a:cs typeface="+mn-cs"/>
        </a:defRPr>
      </a:lvl5pPr>
      <a:lvl6pPr marL="3223602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09711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395821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4981930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1pPr>
      <a:lvl2pPr marL="586109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2pPr>
      <a:lvl3pPr marL="1172219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758328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4pPr>
      <a:lvl5pPr marL="2344438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5pPr>
      <a:lvl6pPr marL="2930547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6pPr>
      <a:lvl7pPr marL="3516656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7pPr>
      <a:lvl8pPr marL="4102766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8pPr>
      <a:lvl9pPr marL="4688875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5.x/da/d22/tutorial_py_canny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opencv.org/5.x/d8/dbc/tutorial_histogram_calculation.html" TargetMode="Externa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6F4EC-C4EE-D2AF-6FD6-1BA1853809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5709716" cy="38481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Exploring the core aspect of Computer Vision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sz="2000" dirty="0"/>
          </a:p>
          <a:p>
            <a:r>
              <a:rPr lang="en-US" sz="2000" dirty="0"/>
              <a:t>Instructor: Stephin Rachel Thomas</a:t>
            </a:r>
            <a:br>
              <a:rPr lang="en-US" sz="2000"/>
            </a:br>
            <a:r>
              <a:rPr lang="en-US" sz="2000"/>
              <a:t>22-01-2026</a:t>
            </a:r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E5BC8-9232-E442-86CE-667C1E95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5612588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Fundamentals of Image Processing</a:t>
            </a:r>
          </a:p>
        </p:txBody>
      </p:sp>
      <p:pic>
        <p:nvPicPr>
          <p:cNvPr id="5" name="Video 4" descr="Maths And Science Formulae">
            <a:extLst>
              <a:ext uri="{FF2B5EF4-FFF2-40B4-BE49-F238E27FC236}">
                <a16:creationId xmlns:a16="http://schemas.microsoft.com/office/drawing/2014/main" id="{4833F6F8-E74F-5B52-C61F-AE2DCC8E95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4034" r="27634" b="1"/>
          <a:stretch/>
        </p:blipFill>
        <p:spPr>
          <a:xfrm>
            <a:off x="7009488" y="639773"/>
            <a:ext cx="5182512" cy="50117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69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92103-F7D8-27F8-6E65-AF9C308CF4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8915" y="2207013"/>
            <a:ext cx="6061664" cy="38481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Introduction to Image Processing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It’s importance in Machine Vision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Steps involved in Image processing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Introduction to Image Filtering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Image Blurring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Image Sharpening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Edge Detection using Canny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Image Histograms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Image Thresholding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Morphological operations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Image Transformation Techniques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C485A-FE19-5456-777E-469F0628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138" y="2077235"/>
            <a:ext cx="5612588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Today’s Topics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1D5E57-996F-8095-426E-13EF1EB55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6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2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06FF-89AB-2FA3-B98B-02F82BF6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BA6B1-70A3-63D8-DFDA-54CC4FCFF4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5767" y="1803400"/>
            <a:ext cx="6475228" cy="40338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</a:rPr>
              <a:t>Image Processing </a:t>
            </a:r>
            <a:r>
              <a:rPr lang="en-US" sz="2000" dirty="0"/>
              <a:t>is the building block of Machine Vision.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It involves </a:t>
            </a:r>
            <a:r>
              <a:rPr lang="en-US" sz="2000" dirty="0">
                <a:solidFill>
                  <a:srgbClr val="7030A0"/>
                </a:solidFill>
              </a:rPr>
              <a:t>manipulation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7030A0"/>
                </a:solidFill>
              </a:rPr>
              <a:t>analysis of images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It </a:t>
            </a:r>
            <a:r>
              <a:rPr lang="en-US" sz="2000" dirty="0">
                <a:solidFill>
                  <a:srgbClr val="7030A0"/>
                </a:solidFill>
              </a:rPr>
              <a:t>enhances</a:t>
            </a:r>
            <a:r>
              <a:rPr lang="en-US" sz="2000" dirty="0"/>
              <a:t> quality of image and </a:t>
            </a:r>
            <a:r>
              <a:rPr lang="en-US" sz="2000" dirty="0">
                <a:solidFill>
                  <a:srgbClr val="7030A0"/>
                </a:solidFill>
              </a:rPr>
              <a:t>extract</a:t>
            </a:r>
            <a:r>
              <a:rPr lang="en-US" sz="2000" dirty="0"/>
              <a:t> meaningful information.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73D45-DE49-C3B6-BFC7-B44B98D3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700" y="576274"/>
            <a:ext cx="5612588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Introduction to Image Processing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82D8340C-F64E-1373-6C08-A42E8598A8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48" r="8630" b="3"/>
          <a:stretch/>
        </p:blipFill>
        <p:spPr>
          <a:xfrm>
            <a:off x="20" y="639773"/>
            <a:ext cx="5182492" cy="50117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270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411C-7C2C-830E-62EB-6DB91353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92C75-4F30-9605-0804-DBD743D22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7061" y="1274204"/>
            <a:ext cx="7086730" cy="4860781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GB" sz="1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 Enhancement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Improves image quality by </a:t>
            </a:r>
            <a:r>
              <a:rPr lang="en-GB" sz="1800" b="0" i="0" dirty="0">
                <a:solidFill>
                  <a:srgbClr val="00B0F0"/>
                </a:solidFill>
                <a:effectLst/>
                <a:latin typeface="Segoe UI" panose="020B0502040204020203" pitchFamily="34" charset="0"/>
              </a:rPr>
              <a:t>reducing noise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GB" sz="1800" b="0" i="0" dirty="0">
                <a:solidFill>
                  <a:srgbClr val="00B0F0"/>
                </a:solidFill>
                <a:effectLst/>
                <a:latin typeface="Segoe UI" panose="020B0502040204020203" pitchFamily="34" charset="0"/>
              </a:rPr>
              <a:t>enhancing contrast, and sharpening details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making it easier to </a:t>
            </a:r>
            <a:r>
              <a:rPr lang="en-GB" sz="18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analyze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GB" sz="1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Feature Extraction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Identifies and extracts important features like </a:t>
            </a:r>
            <a:r>
              <a:rPr lang="en-GB" sz="1800" b="0" i="0" dirty="0">
                <a:solidFill>
                  <a:srgbClr val="00B0F0"/>
                </a:solidFill>
                <a:effectLst/>
                <a:latin typeface="Segoe UI" panose="020B0502040204020203" pitchFamily="34" charset="0"/>
              </a:rPr>
              <a:t>edges, corners, and textures, 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which are crucial for recognizing objects and patterns.</a:t>
            </a:r>
          </a:p>
          <a:p>
            <a:pPr algn="l">
              <a:buFont typeface="+mj-lt"/>
              <a:buAutoNum type="arabicPeriod"/>
            </a:pPr>
            <a:r>
              <a:rPr lang="en-GB" sz="1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Segmentation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Divides an image into </a:t>
            </a:r>
            <a:r>
              <a:rPr lang="en-GB" sz="1800" b="0" i="0" dirty="0">
                <a:solidFill>
                  <a:srgbClr val="00B0F0"/>
                </a:solidFill>
                <a:effectLst/>
                <a:latin typeface="Segoe UI" panose="020B0502040204020203" pitchFamily="34" charset="0"/>
              </a:rPr>
              <a:t>meaningful regions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or objects, facilitating object detection and classification.</a:t>
            </a:r>
          </a:p>
          <a:p>
            <a:pPr algn="l">
              <a:buFont typeface="+mj-lt"/>
              <a:buAutoNum type="arabicPeriod"/>
            </a:pPr>
            <a:r>
              <a:rPr lang="en-GB" sz="1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Object Recognition</a:t>
            </a:r>
            <a:r>
              <a:rPr lang="en-GB" sz="1800" b="0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Helps in identifying and classifying objects within an image, which is essential for applications like automated inspection and robotics.</a:t>
            </a:r>
          </a:p>
          <a:p>
            <a:pPr algn="l">
              <a:buFont typeface="+mj-lt"/>
              <a:buAutoNum type="arabicPeriod"/>
            </a:pPr>
            <a:r>
              <a:rPr lang="en-GB" sz="1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Measurement</a:t>
            </a:r>
            <a:r>
              <a:rPr lang="en-GB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Allows for precise measurement of object dimensions, distances, and other parameters, which is vital in quality control and industrial automation.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A4638-AF26-00AC-7E72-56F4F6D24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270" y="193501"/>
            <a:ext cx="8182604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sz="3200" dirty="0"/>
              <a:t>Why is Image Processing used in Machine Vision?</a:t>
            </a:r>
          </a:p>
        </p:txBody>
      </p:sp>
      <p:pic>
        <p:nvPicPr>
          <p:cNvPr id="6" name="Picture 5" descr="A group of people in a room with computers and monitors&#10;&#10;Description automatically generated">
            <a:extLst>
              <a:ext uri="{FF2B5EF4-FFF2-40B4-BE49-F238E27FC236}">
                <a16:creationId xmlns:a16="http://schemas.microsoft.com/office/drawing/2014/main" id="{9E2292D4-2A3C-BC81-0C04-73E8EBD2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4" y="1496984"/>
            <a:ext cx="4127022" cy="430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A098-4C40-906C-84A1-14EFA94F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C5409-656C-F5E4-DCFF-062EA76EA0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9697" y="1504950"/>
            <a:ext cx="6061664" cy="38481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br>
              <a:rPr lang="en-US" sz="2000" dirty="0"/>
            </a:b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Acquisition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Enhancement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Restoration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Morphological processing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Segmentation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Object recognition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Representation and description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 Image compression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/>
              <a:t>Colour</a:t>
            </a:r>
            <a:r>
              <a:rPr lang="en-US" sz="2000" dirty="0"/>
              <a:t> Image Processing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CA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4C2B1-C5EF-EA3D-77D5-B5AE952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700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Key stages in Image Processing </a:t>
            </a:r>
          </a:p>
        </p:txBody>
      </p:sp>
      <p:pic>
        <p:nvPicPr>
          <p:cNvPr id="6" name="Picture 5" descr="A tablet with graphics and icons&#10;&#10;Description automatically generated">
            <a:extLst>
              <a:ext uri="{FF2B5EF4-FFF2-40B4-BE49-F238E27FC236}">
                <a16:creationId xmlns:a16="http://schemas.microsoft.com/office/drawing/2014/main" id="{E748B515-F9DE-F540-4DCB-C8764189A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9" y="576274"/>
            <a:ext cx="5054599" cy="505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1AD3-ACEE-7D47-7DC3-AA4FBC5B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09C9-6A78-7584-6A1D-18378FB7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791" y="576274"/>
            <a:ext cx="10592497" cy="467335"/>
          </a:xfrm>
        </p:spPr>
        <p:txBody>
          <a:bodyPr anchor="t">
            <a:normAutofit/>
          </a:bodyPr>
          <a:lstStyle/>
          <a:p>
            <a:r>
              <a:rPr lang="en-CA" dirty="0"/>
              <a:t>Key stages in Image Processing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9FCD5-9902-915E-13AD-B8ACCC10E5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6104" y="1202635"/>
            <a:ext cx="10970184" cy="4929808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 on the application </a:t>
            </a:r>
            <a:r>
              <a:rPr lang="en-US" sz="2000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combination of 2 or 3 steps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can be used. It is </a:t>
            </a:r>
            <a:r>
              <a:rPr lang="en-US" sz="2000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 mandatory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that all these steps are to be done In every image processing task.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 Acquisition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Acquiring image using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camera or sensors</a:t>
            </a:r>
            <a:endParaRPr lang="en-CZ" sz="2000" kern="100" dirty="0">
              <a:solidFill>
                <a:srgbClr val="00B0F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 enhancement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manipulates image so that the result is more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suitable than the original image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specific application.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This step b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rings out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hidden details of an image and highlights certain features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which may be important for further analysis.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 restoration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Process of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improving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appearance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 image.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Eg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removal of noise</a:t>
            </a:r>
            <a:b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includes mathematical or probabilistic models of image degradation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Morphological processing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deals with tools for extracting image components that are useful in the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representation and description of shape. </a:t>
            </a:r>
            <a:r>
              <a:rPr lang="en-US" sz="2000" kern="100" dirty="0" err="1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Eg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fingerprint recognition</a:t>
            </a:r>
            <a:endParaRPr lang="en-CZ" sz="2000" kern="100" dirty="0">
              <a:solidFill>
                <a:srgbClr val="00B0F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79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2D46-F435-7909-CB25-8069F83E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EC9A-0925-3C1D-C150-1A03051E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791" y="576274"/>
            <a:ext cx="10592497" cy="467335"/>
          </a:xfrm>
        </p:spPr>
        <p:txBody>
          <a:bodyPr anchor="t">
            <a:normAutofit/>
          </a:bodyPr>
          <a:lstStyle/>
          <a:p>
            <a:r>
              <a:rPr lang="en-CA" dirty="0"/>
              <a:t>Key stages in Image Processing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89610D-0F9A-279B-C6C4-34C479DF09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511" y="1125054"/>
            <a:ext cx="11020577" cy="4607892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 segmentation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one of the most difficult task, it partition an image into its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constituent parts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or objects.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 Recognition: 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process that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assigns a label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an object based on the information provided by its description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Representation and description:</a:t>
            </a:r>
            <a:b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Choosing a representation for transforming raw data into a form suitable for subsequent computer processin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boundary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representation or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region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representation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 Compression: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Reducing storage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required to save an image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Color image processing: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Involves use of </a:t>
            </a:r>
            <a:r>
              <a:rPr lang="en-US" sz="20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color of image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extract meaningful information</a:t>
            </a:r>
            <a:endParaRPr lang="en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15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A197-5467-A744-7818-40635518E2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1578254"/>
            <a:ext cx="11314919" cy="3848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Filtering in image processing is a technique used to manipulate or enhance an image by </a:t>
            </a:r>
            <a:r>
              <a:rPr lang="en-US" sz="2200" dirty="0">
                <a:solidFill>
                  <a:srgbClr val="00B0F0"/>
                </a:solidFill>
              </a:rPr>
              <a:t>altering its pixels</a:t>
            </a:r>
            <a:r>
              <a:rPr lang="en-US" sz="2200" dirty="0"/>
              <a:t>. It's a fundamental tool that can either </a:t>
            </a:r>
            <a:r>
              <a:rPr lang="en-US" sz="2200" dirty="0">
                <a:solidFill>
                  <a:srgbClr val="00B0F0"/>
                </a:solidFill>
              </a:rPr>
              <a:t>amplify certain features </a:t>
            </a:r>
            <a:r>
              <a:rPr lang="en-US" sz="2200" dirty="0"/>
              <a:t>or </a:t>
            </a:r>
            <a:r>
              <a:rPr lang="en-US" sz="2200" dirty="0">
                <a:solidFill>
                  <a:srgbClr val="00B0F0"/>
                </a:solidFill>
              </a:rPr>
              <a:t>suppress unwanted distortions</a:t>
            </a:r>
            <a:r>
              <a:rPr lang="en-US" sz="22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Filters act like a </a:t>
            </a:r>
            <a:r>
              <a:rPr lang="en-US" sz="2200" dirty="0">
                <a:solidFill>
                  <a:srgbClr val="7030A0"/>
                </a:solidFill>
              </a:rPr>
              <a:t>sieve</a:t>
            </a:r>
            <a:r>
              <a:rPr lang="en-US" sz="2200" dirty="0"/>
              <a:t> through which the original image is passed: they can highlight specific attributes, remove noise, or prepare the image for further analysis. </a:t>
            </a:r>
            <a:endParaRPr lang="en-CA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774D1-3007-BF1A-43B4-08743D49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9147716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Introduction to Image Filtering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80F331-561F-4E61-F1F7-9EF6AD0A8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339" y="3601616"/>
            <a:ext cx="4760641" cy="268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99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A197-5467-A744-7818-40635518E2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5612587" cy="3848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Blurring is a type of filtering that </a:t>
            </a:r>
            <a:r>
              <a:rPr lang="en-US" sz="2000" dirty="0">
                <a:solidFill>
                  <a:srgbClr val="7030A0"/>
                </a:solidFill>
              </a:rPr>
              <a:t>softens</a:t>
            </a:r>
            <a:r>
              <a:rPr lang="en-US" sz="2000" dirty="0"/>
              <a:t> an image. It’s used to </a:t>
            </a:r>
            <a:r>
              <a:rPr lang="en-US" sz="2000" dirty="0">
                <a:solidFill>
                  <a:srgbClr val="7030A0"/>
                </a:solidFill>
              </a:rPr>
              <a:t>reduce detail and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Blurring works by averaging the pixels around a target pixel, which smooths out rapid intensity changes.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filter used here is:</a:t>
            </a:r>
            <a:r>
              <a:rPr lang="en-CA" sz="2000" dirty="0"/>
              <a:t>[[1,1,1],[1,1,1],[1,1,1]]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774D1-3007-BF1A-43B4-08743D49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Blurring</a:t>
            </a:r>
          </a:p>
        </p:txBody>
      </p:sp>
      <p:pic>
        <p:nvPicPr>
          <p:cNvPr id="4" name="Picture 2" descr="Moving Average">
            <a:extLst>
              <a:ext uri="{FF2B5EF4-FFF2-40B4-BE49-F238E27FC236}">
                <a16:creationId xmlns:a16="http://schemas.microsoft.com/office/drawing/2014/main" id="{9255B414-6649-2740-F085-EB553C337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870" y="797710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Moving Average">
            <a:extLst>
              <a:ext uri="{FF2B5EF4-FFF2-40B4-BE49-F238E27FC236}">
                <a16:creationId xmlns:a16="http://schemas.microsoft.com/office/drawing/2014/main" id="{14743C9C-75D0-0F5F-7F13-8D2AF25CE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283" y="3546687"/>
            <a:ext cx="4681113" cy="234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1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A197-5467-A744-7818-40635518E2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5612587" cy="3848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Sharpening, in contrast to blurring, is a filter that </a:t>
            </a:r>
            <a:r>
              <a:rPr lang="en-US" sz="2000" dirty="0">
                <a:solidFill>
                  <a:srgbClr val="7030A0"/>
                </a:solidFill>
              </a:rPr>
              <a:t>enhances the edges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7030A0"/>
                </a:solidFill>
              </a:rPr>
              <a:t>details</a:t>
            </a:r>
            <a:r>
              <a:rPr lang="en-US" sz="2000" dirty="0"/>
              <a:t> in an image, making it appear clearer and more defined.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increases the contrast between adjacent pixels to </a:t>
            </a:r>
            <a:r>
              <a:rPr lang="en-US" sz="2000" dirty="0">
                <a:solidFill>
                  <a:srgbClr val="7030A0"/>
                </a:solidFill>
              </a:rPr>
              <a:t>highlight boundaries of objects </a:t>
            </a:r>
            <a:r>
              <a:rPr lang="en-US" sz="2000" dirty="0"/>
              <a:t>within the image.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technique is vital when </a:t>
            </a:r>
            <a:r>
              <a:rPr lang="en-US" sz="2000" dirty="0">
                <a:solidFill>
                  <a:srgbClr val="7030A0"/>
                </a:solidFill>
              </a:rPr>
              <a:t>details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7030A0"/>
                </a:solidFill>
              </a:rPr>
              <a:t>are critical </a:t>
            </a:r>
            <a:r>
              <a:rPr lang="en-US" sz="2000" dirty="0"/>
              <a:t>for analysis, such as in </a:t>
            </a:r>
            <a:r>
              <a:rPr lang="en-US" sz="2000" dirty="0">
                <a:solidFill>
                  <a:srgbClr val="0070C0"/>
                </a:solidFill>
              </a:rPr>
              <a:t>medical imaging or precision manufacturing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774D1-3007-BF1A-43B4-08743D49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Sharpening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9C59E-8D37-C724-6902-9928770E0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127" y="1989398"/>
            <a:ext cx="5264661" cy="287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36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27BC-3014-4029-14EA-6F6F8ED0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544637"/>
            <a:ext cx="7250676" cy="1362076"/>
          </a:xfrm>
        </p:spPr>
        <p:txBody>
          <a:bodyPr anchor="b">
            <a:normAutofit/>
          </a:bodyPr>
          <a:lstStyle/>
          <a:p>
            <a:r>
              <a:rPr lang="en-CA"/>
              <a:t>Basic Image Manipulations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6C16F-8780-DA8E-F4AB-D56D988DB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3062821"/>
            <a:ext cx="7250676" cy="150018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Let's explore basic manipulations like resizing, cropping, and rotating images. These are the bread and butter of image processing – simple yet powerful tools in our visual toolkit.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649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457C1-19D6-3ABC-2BE2-F345BCE610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335" y="1396241"/>
            <a:ext cx="6951497" cy="536344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The Canny filter is a </a:t>
            </a:r>
            <a:r>
              <a:rPr lang="en-US" sz="2000" dirty="0">
                <a:solidFill>
                  <a:srgbClr val="0070C0"/>
                </a:solidFill>
              </a:rPr>
              <a:t>sophisticated edge detection</a:t>
            </a:r>
            <a:r>
              <a:rPr lang="en-US" sz="2000" dirty="0"/>
              <a:t> algorithm that is known for its precision in detecting a wide range of edges in images.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It involves multiple stages: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Noise Reduction </a:t>
            </a:r>
            <a:r>
              <a:rPr lang="en-US" sz="2000" dirty="0"/>
              <a:t>- By smoothing the image with a Gaussian filter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Gradient Calculation </a:t>
            </a:r>
            <a:r>
              <a:rPr lang="en-US" sz="2000" dirty="0"/>
              <a:t>-  Finding intensity gradients and its direction at each pixel.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</a:t>
            </a:r>
            <a:r>
              <a:rPr lang="en-GB" sz="2000" dirty="0" err="1"/>
              <a:t>moothened</a:t>
            </a:r>
            <a:r>
              <a:rPr lang="en-GB" sz="2000" dirty="0"/>
              <a:t> image is then filtered with a </a:t>
            </a:r>
            <a:r>
              <a:rPr lang="en-GB" sz="2000" dirty="0">
                <a:solidFill>
                  <a:srgbClr val="7030A0"/>
                </a:solidFill>
              </a:rPr>
              <a:t>Sobel kernel </a:t>
            </a:r>
            <a:r>
              <a:rPr lang="en-GB" sz="2000" dirty="0"/>
              <a:t>in both horizontal and vertical direction to get first derivative in horizontal direction and vertical direction </a:t>
            </a: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C6C67-54FE-A40C-EAED-E9BC5D61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04" y="586907"/>
            <a:ext cx="6861109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Edge Detection using Canny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8" descr="Figure 1 from Object Detection using the Canny Edge Detector | Semantic  Scholar">
            <a:extLst>
              <a:ext uri="{FF2B5EF4-FFF2-40B4-BE49-F238E27FC236}">
                <a16:creationId xmlns:a16="http://schemas.microsoft.com/office/drawing/2014/main" id="{5B3092BC-D717-4584-D642-A95ED3A20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18" y="1725850"/>
            <a:ext cx="5076168" cy="264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761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FD346-9881-E8E3-6840-75EFA487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ED498-9B54-DE77-7510-5B5CEE3FFD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439" y="1420131"/>
            <a:ext cx="7429962" cy="4559677"/>
          </a:xfrm>
        </p:spPr>
        <p:txBody>
          <a:bodyPr>
            <a:no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7030A0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Non-maximum Suppression </a:t>
            </a:r>
            <a:r>
              <a:rPr lang="en-US" sz="2000" dirty="0"/>
              <a:t>– Thins out edges by suppressing non-maximum gradient values</a:t>
            </a:r>
            <a:endParaRPr lang="en-US" sz="2000" dirty="0">
              <a:solidFill>
                <a:srgbClr val="7030A0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Double Thresholding </a:t>
            </a:r>
            <a:r>
              <a:rPr lang="en-US" sz="2000" dirty="0"/>
              <a:t>– Algorithm applies 2 thresholds (high and low) to classify edges into strong, weak and non-edges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Edge Tracking by Hysteresis- </a:t>
            </a:r>
            <a:r>
              <a:rPr lang="en-US" sz="2000" dirty="0"/>
              <a:t>the algorithm tracks edges by connecting weak edges to strong edges, helps to preserve true edges while discarding isolated weak edges caused by noise.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>
              <a:hlinkClick r:id="rId3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hlinkClick r:id="rId3"/>
              </a:rPr>
              <a:t>https://docs.opencv.org/5.x/da/d22/tutorial_py_canny.html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4173B-1350-02E1-8B77-A6E5822F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62" y="377202"/>
            <a:ext cx="6861109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Edge Detection using Canny</a:t>
            </a:r>
            <a:br>
              <a:rPr lang="en-CA" dirty="0"/>
            </a:b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98808-65F0-658E-CAF7-5C7FDF1A8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1" y="1178712"/>
            <a:ext cx="4187688" cy="19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04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457C1-19D6-3ABC-2BE2-F345BCE610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417735"/>
            <a:ext cx="5612587" cy="3848100"/>
          </a:xfrm>
        </p:spPr>
        <p:txBody>
          <a:bodyPr>
            <a:normAutofit/>
          </a:bodyPr>
          <a:lstStyle/>
          <a:p>
            <a:r>
              <a:rPr lang="en-US" dirty="0"/>
              <a:t>An image histogram is a chart that shows how many pixels in an image have a particular brightness level. The horizontal axis shows </a:t>
            </a:r>
            <a:r>
              <a:rPr lang="en-US" dirty="0">
                <a:solidFill>
                  <a:srgbClr val="7030A0"/>
                </a:solidFill>
              </a:rPr>
              <a:t>different brightness levels,</a:t>
            </a:r>
            <a:r>
              <a:rPr lang="en-US" dirty="0"/>
              <a:t> from </a:t>
            </a:r>
            <a:r>
              <a:rPr lang="en-US" dirty="0">
                <a:solidFill>
                  <a:srgbClr val="7030A0"/>
                </a:solidFill>
              </a:rPr>
              <a:t>dark to light</a:t>
            </a:r>
            <a:r>
              <a:rPr lang="en-US" dirty="0"/>
              <a:t>, and the vertical axis shows </a:t>
            </a:r>
            <a:r>
              <a:rPr lang="en-US" dirty="0">
                <a:solidFill>
                  <a:srgbClr val="7030A0"/>
                </a:solidFill>
              </a:rPr>
              <a:t>how many pixels are at each level</a:t>
            </a:r>
            <a:r>
              <a:rPr lang="en-US" dirty="0"/>
              <a:t>. It helps us understand if an image is mostly bright, dark, or balanced, and is useful for improving the image's look.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C6C67-54FE-A40C-EAED-E9BC5D61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6861109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Histograms</a:t>
            </a:r>
          </a:p>
        </p:txBody>
      </p:sp>
      <p:pic>
        <p:nvPicPr>
          <p:cNvPr id="3074" name="Picture 2" descr="Histograms in Image Processing with skimage-Python | by Mathanraj Sharma |  Towards Data Science">
            <a:extLst>
              <a:ext uri="{FF2B5EF4-FFF2-40B4-BE49-F238E27FC236}">
                <a16:creationId xmlns:a16="http://schemas.microsoft.com/office/drawing/2014/main" id="{D8A07228-2AF3-46F6-2043-F95CD91D2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943" y="1077264"/>
            <a:ext cx="51308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968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D6EA-6A52-6F43-C382-BD980C1E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69B1BB-E02D-CB08-C6D4-185D08EA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5612588" cy="439726"/>
          </a:xfrm>
        </p:spPr>
        <p:txBody>
          <a:bodyPr/>
          <a:lstStyle/>
          <a:p>
            <a:r>
              <a:rPr lang="en-GB" sz="3200" dirty="0"/>
              <a:t>What is Histogram?</a:t>
            </a:r>
            <a:br>
              <a:rPr lang="en-GB" sz="2400" dirty="0"/>
            </a:br>
            <a:endParaRPr lang="en-CZ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498B3-1228-B090-D172-420F4AD968E0}"/>
              </a:ext>
            </a:extLst>
          </p:cNvPr>
          <p:cNvSpPr txBox="1"/>
          <p:nvPr/>
        </p:nvSpPr>
        <p:spPr>
          <a:xfrm>
            <a:off x="483411" y="1192811"/>
            <a:ext cx="634489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/>
              <a:t>Histogram is a graph or plot, which gives you an overall idea about </a:t>
            </a:r>
            <a:r>
              <a:rPr lang="en-GB" sz="2400" dirty="0">
                <a:solidFill>
                  <a:srgbClr val="7030A0"/>
                </a:solidFill>
              </a:rPr>
              <a:t>the intensity distribution of an image. </a:t>
            </a:r>
          </a:p>
          <a:p>
            <a:endParaRPr lang="en-GB" sz="2400" dirty="0">
              <a:solidFill>
                <a:srgbClr val="7030A0"/>
              </a:solidFill>
            </a:endParaRPr>
          </a:p>
          <a:p>
            <a:endParaRPr lang="en-GB" sz="2400" dirty="0">
              <a:solidFill>
                <a:srgbClr val="7030A0"/>
              </a:solidFill>
            </a:endParaRPr>
          </a:p>
          <a:p>
            <a:r>
              <a:rPr lang="en-GB" sz="2400" dirty="0"/>
              <a:t>It is a plot with pixel values (ranging from </a:t>
            </a:r>
            <a:r>
              <a:rPr lang="en-GB" sz="2400" dirty="0">
                <a:solidFill>
                  <a:srgbClr val="7030A0"/>
                </a:solidFill>
              </a:rPr>
              <a:t>0 to 255</a:t>
            </a:r>
            <a:r>
              <a:rPr lang="en-GB" sz="2400" dirty="0"/>
              <a:t>) in X-axis and corresponding number of pixels in the image on Y-axis.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7030A0"/>
                </a:solidFill>
              </a:rPr>
              <a:t>Left</a:t>
            </a:r>
            <a:r>
              <a:rPr lang="en-GB" sz="2400" dirty="0"/>
              <a:t> region of histogram shows the amount of </a:t>
            </a:r>
            <a:r>
              <a:rPr lang="en-GB" sz="2400" dirty="0">
                <a:solidFill>
                  <a:srgbClr val="7030A0"/>
                </a:solidFill>
              </a:rPr>
              <a:t>darker</a:t>
            </a:r>
            <a:r>
              <a:rPr lang="en-GB" sz="2400" dirty="0"/>
              <a:t> pixels in image and </a:t>
            </a:r>
            <a:r>
              <a:rPr lang="en-GB" sz="2400" dirty="0">
                <a:solidFill>
                  <a:srgbClr val="7030A0"/>
                </a:solidFill>
              </a:rPr>
              <a:t>right</a:t>
            </a:r>
            <a:r>
              <a:rPr lang="en-GB" sz="2400" dirty="0"/>
              <a:t> region shows the amount of </a:t>
            </a:r>
            <a:r>
              <a:rPr lang="en-GB" sz="2400" dirty="0">
                <a:solidFill>
                  <a:srgbClr val="7030A0"/>
                </a:solidFill>
              </a:rPr>
              <a:t>brighter</a:t>
            </a:r>
            <a:r>
              <a:rPr lang="en-GB" sz="2400" dirty="0"/>
              <a:t> pixels.</a:t>
            </a:r>
            <a:br>
              <a:rPr lang="en-GB" sz="2400" dirty="0"/>
            </a:br>
            <a:br>
              <a:rPr lang="en-GB" sz="2400" dirty="0"/>
            </a:br>
            <a:br>
              <a:rPr lang="en-GB" sz="2400" dirty="0"/>
            </a:br>
            <a:br>
              <a:rPr lang="en-GB" sz="2400" dirty="0"/>
            </a:br>
            <a:endParaRPr lang="en-CZ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B1593-A427-B776-7B09-342D2C136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944" y="1104405"/>
            <a:ext cx="4861414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64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47B34-88EC-5BEC-B669-6191D0EE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ACF4B8-23D5-305A-0B9F-B5E5B39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6">
                    <a:lumMod val="50000"/>
                  </a:schemeClr>
                </a:solidFill>
              </a:rPr>
              <a:t>Histogram and bin</a:t>
            </a:r>
            <a:br>
              <a:rPr lang="en-GB" dirty="0"/>
            </a:br>
            <a:endParaRPr lang="en-CZ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26B4E3-3174-E6E5-CB44-EE3D0A231401}"/>
              </a:ext>
            </a:extLst>
          </p:cNvPr>
          <p:cNvSpPr txBox="1"/>
          <p:nvPr/>
        </p:nvSpPr>
        <p:spPr>
          <a:xfrm>
            <a:off x="318245" y="5499366"/>
            <a:ext cx="731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hlinkClick r:id="rId2"/>
              </a:rPr>
              <a:t>https://docs.opencv.org/5.x/d8/dbc/tutorial_histogram_calculation.html</a:t>
            </a:r>
            <a:endParaRPr lang="en-CZ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5C1FA-C258-6C8C-E580-57F82BCEF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7030"/>
            <a:ext cx="5426229" cy="3281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D199FF-84AF-38F0-1098-109547D7951E}"/>
              </a:ext>
            </a:extLst>
          </p:cNvPr>
          <p:cNvSpPr txBox="1"/>
          <p:nvPr/>
        </p:nvSpPr>
        <p:spPr>
          <a:xfrm>
            <a:off x="5229709" y="1775623"/>
            <a:ext cx="55699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We can segment our range in subparts </a:t>
            </a:r>
          </a:p>
          <a:p>
            <a:r>
              <a:rPr lang="en-GB" sz="2400" dirty="0"/>
              <a:t>(called </a:t>
            </a:r>
            <a:r>
              <a:rPr lang="en-GB" sz="2400" b="1" dirty="0">
                <a:solidFill>
                  <a:srgbClr val="00B0F0"/>
                </a:solidFill>
              </a:rPr>
              <a:t>bins</a:t>
            </a:r>
            <a:r>
              <a:rPr lang="en-GB" sz="2400" dirty="0"/>
              <a:t>)</a:t>
            </a:r>
          </a:p>
          <a:p>
            <a:br>
              <a:rPr lang="en-GB" sz="2400" dirty="0"/>
            </a:br>
            <a:endParaRPr lang="en-CZ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4DDE5-5F63-E9FA-0BE2-1F5441721BEF}"/>
              </a:ext>
            </a:extLst>
          </p:cNvPr>
          <p:cNvSpPr txBox="1"/>
          <p:nvPr/>
        </p:nvSpPr>
        <p:spPr>
          <a:xfrm>
            <a:off x="3055883" y="3108462"/>
            <a:ext cx="6111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CZ" dirty="0"/>
            </a:br>
            <a:br>
              <a:rPr lang="en-CZ" dirty="0"/>
            </a:br>
            <a:endParaRPr lang="en-CZ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C5A45B-FD15-BAE3-E6DC-F34474CC1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85971"/>
            <a:ext cx="43815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8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457C1-19D6-3ABC-2BE2-F345BCE610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1254642"/>
            <a:ext cx="4738666" cy="485907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Thresholding is a simple yet effective way to </a:t>
            </a:r>
            <a:r>
              <a:rPr lang="en-US" dirty="0">
                <a:solidFill>
                  <a:srgbClr val="7030A0"/>
                </a:solidFill>
              </a:rPr>
              <a:t>segment images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By converting an image to black and white based on a threshold value, we can </a:t>
            </a:r>
            <a:r>
              <a:rPr lang="en-US" dirty="0">
                <a:solidFill>
                  <a:srgbClr val="7030A0"/>
                </a:solidFill>
              </a:rPr>
              <a:t>isolate objects or features easily.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C6C67-54FE-A40C-EAED-E9BC5D61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Thresholding</a:t>
            </a:r>
          </a:p>
        </p:txBody>
      </p:sp>
      <p:pic>
        <p:nvPicPr>
          <p:cNvPr id="2050" name="Picture 2" descr="Thresholding — skimage 0.22.0 documentation">
            <a:extLst>
              <a:ext uri="{FF2B5EF4-FFF2-40B4-BE49-F238E27FC236}">
                <a16:creationId xmlns:a16="http://schemas.microsoft.com/office/drawing/2014/main" id="{ED638890-75E0-A9C5-E7D7-ECED024BD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8267" y="1501861"/>
            <a:ext cx="6479594" cy="297444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2232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97A5-043D-53EF-77C8-6330D299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6A0DF-C7E9-F342-493D-A730A3A562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6949" y="1255381"/>
            <a:ext cx="9969796" cy="4859079"/>
          </a:xfrm>
        </p:spPr>
        <p:txBody>
          <a:bodyPr>
            <a:normAutofit/>
          </a:bodyPr>
          <a:lstStyle/>
          <a:p>
            <a:r>
              <a:rPr lang="en-GB" b="1" dirty="0"/>
              <a:t>Simple Thresholding</a:t>
            </a:r>
          </a:p>
          <a:p>
            <a:r>
              <a:rPr lang="en-GB" dirty="0"/>
              <a:t>For every pixel, the </a:t>
            </a:r>
            <a:r>
              <a:rPr lang="en-GB" dirty="0">
                <a:solidFill>
                  <a:srgbClr val="00B0F0"/>
                </a:solidFill>
              </a:rPr>
              <a:t>same threshold value </a:t>
            </a:r>
            <a:r>
              <a:rPr lang="en-GB" dirty="0"/>
              <a:t>is applied. If the pixel value is smaller than or equal to the threshold, it is set to 0, otherwise it is set to a maximum value.</a:t>
            </a:r>
          </a:p>
          <a:p>
            <a:endParaRPr lang="en-CA" b="1" dirty="0"/>
          </a:p>
          <a:p>
            <a:r>
              <a:rPr lang="en-CA" b="1" dirty="0"/>
              <a:t>Adaptive Thresholding</a:t>
            </a:r>
          </a:p>
          <a:p>
            <a:r>
              <a:rPr lang="en-GB" dirty="0"/>
              <a:t>The algorithm determines the threshold for a pixel based on </a:t>
            </a:r>
            <a:r>
              <a:rPr lang="en-GB" dirty="0">
                <a:solidFill>
                  <a:srgbClr val="7030A0"/>
                </a:solidFill>
              </a:rPr>
              <a:t>a small region around it</a:t>
            </a:r>
            <a:r>
              <a:rPr lang="en-GB" dirty="0"/>
              <a:t>. So we get different thresholds for different regions of the same image which gives better results for images with varying illumination.</a:t>
            </a:r>
            <a:endParaRPr lang="en-CA" b="1" dirty="0"/>
          </a:p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44135-B4B7-03A0-A59A-01BED73E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12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Thresholding</a:t>
            </a:r>
          </a:p>
        </p:txBody>
      </p:sp>
    </p:spTree>
    <p:extLst>
      <p:ext uri="{BB962C8B-B14F-4D97-AF65-F5344CB8AC3E}">
        <p14:creationId xmlns:p14="http://schemas.microsoft.com/office/powerpoint/2010/main" val="1654505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CB742-AD47-B500-B783-14F243240F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2833" y="978195"/>
            <a:ext cx="7260590" cy="490160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+mj-lt"/>
              </a:rPr>
              <a:t>Morphology is a broad set of image processing operations that process images based on </a:t>
            </a:r>
            <a:r>
              <a:rPr lang="en-US" sz="2000" dirty="0">
                <a:solidFill>
                  <a:srgbClr val="00B050"/>
                </a:solidFill>
                <a:latin typeface="+mj-lt"/>
              </a:rPr>
              <a:t>shapes</a:t>
            </a:r>
            <a:r>
              <a:rPr lang="en-US" sz="2000" dirty="0">
                <a:latin typeface="+mj-lt"/>
              </a:rPr>
              <a:t>. </a:t>
            </a:r>
          </a:p>
          <a:p>
            <a:endParaRPr lang="en-GB" sz="2000" dirty="0">
              <a:solidFill>
                <a:srgbClr val="242424"/>
              </a:solidFill>
              <a:latin typeface="+mj-lt"/>
            </a:endParaRP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</a:rPr>
              <a:t>Erosion</a:t>
            </a:r>
            <a:r>
              <a:rPr lang="en-GB" sz="2000" dirty="0">
                <a:solidFill>
                  <a:srgbClr val="242424"/>
                </a:solidFill>
                <a:latin typeface="Segoe UI" panose="020B0502040204020203" pitchFamily="34" charset="0"/>
              </a:rPr>
              <a:t>: Shrinks objects.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The kernel slides through the image (as in 2D convolution). A pixel in the original image (either 1 or 0) will be considered 1 </a:t>
            </a:r>
            <a:r>
              <a:rPr lang="en-GB" sz="2000" dirty="0">
                <a:solidFill>
                  <a:srgbClr val="7030A0"/>
                </a:solidFill>
                <a:latin typeface="Helvetica" pitchFamily="2" charset="0"/>
              </a:rPr>
              <a:t>only if all the pixels under the kernel is 1, </a:t>
            </a: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otherwise it is eroded (made to zero).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All the pixels near boundary will be discarded depending upon the size of kernel. So the </a:t>
            </a:r>
            <a:r>
              <a:rPr lang="en-GB" sz="2000" dirty="0">
                <a:solidFill>
                  <a:srgbClr val="00B0F0"/>
                </a:solidFill>
                <a:latin typeface="Helvetica" pitchFamily="2" charset="0"/>
              </a:rPr>
              <a:t>thickness</a:t>
            </a: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 or size of the foreground object </a:t>
            </a:r>
            <a:r>
              <a:rPr lang="en-GB" sz="2000" dirty="0">
                <a:solidFill>
                  <a:srgbClr val="00B0F0"/>
                </a:solidFill>
                <a:latin typeface="Helvetica" pitchFamily="2" charset="0"/>
              </a:rPr>
              <a:t>decreases</a:t>
            </a: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 or simply white region decreases in the image. 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It is useful for </a:t>
            </a:r>
            <a:r>
              <a:rPr lang="en-GB" sz="2000" dirty="0">
                <a:solidFill>
                  <a:srgbClr val="00B0F0"/>
                </a:solidFill>
                <a:latin typeface="Helvetica" pitchFamily="2" charset="0"/>
              </a:rPr>
              <a:t>removing small white noises, detach two connected objects </a:t>
            </a: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etc.</a:t>
            </a:r>
          </a:p>
          <a:p>
            <a:endParaRPr lang="en-US" sz="2000" dirty="0">
              <a:latin typeface="+mj-lt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42424"/>
                </a:solidFill>
                <a:effectLst/>
                <a:latin typeface="+mj-lt"/>
              </a:rPr>
              <a:t> 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242424"/>
              </a:solidFill>
              <a:effectLst/>
              <a:latin typeface="+mj-lt"/>
            </a:endParaRPr>
          </a:p>
          <a:p>
            <a:endParaRPr lang="en-CA" sz="20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6C109-C9BC-FA5F-CAC6-FA09292A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33" y="374255"/>
            <a:ext cx="7337748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Morphological Operations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E83AE39-64AA-EFB8-7110-3F0EE4D8C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402" y="2000250"/>
            <a:ext cx="26670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4D992-461E-6F41-11E0-C60B824AC40B}"/>
              </a:ext>
            </a:extLst>
          </p:cNvPr>
          <p:cNvSpPr txBox="1"/>
          <p:nvPr/>
        </p:nvSpPr>
        <p:spPr>
          <a:xfrm>
            <a:off x="7756849" y="3720498"/>
            <a:ext cx="4435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Left image: original image, right image: resulting erosion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1188489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F5F6-B45B-8F37-4014-03C0F1B4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9AE21-2D63-8142-3FBF-E1185469E7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2833" y="1222744"/>
            <a:ext cx="7260590" cy="4901609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latin typeface="+mj-lt"/>
            </a:endParaRP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b="1" i="0" dirty="0">
                <a:solidFill>
                  <a:srgbClr val="C00000"/>
                </a:solidFill>
                <a:effectLst/>
                <a:latin typeface="+mj-lt"/>
              </a:rPr>
              <a:t>Dilation</a:t>
            </a:r>
            <a:r>
              <a:rPr lang="en-GB" b="0" i="0" dirty="0">
                <a:solidFill>
                  <a:srgbClr val="0070C0"/>
                </a:solidFill>
                <a:effectLst/>
                <a:latin typeface="+mj-lt"/>
              </a:rPr>
              <a:t>: </a:t>
            </a:r>
            <a:r>
              <a:rPr lang="en-GB" b="0" i="0" dirty="0">
                <a:solidFill>
                  <a:srgbClr val="242424"/>
                </a:solidFill>
                <a:effectLst/>
                <a:latin typeface="+mj-lt"/>
              </a:rPr>
              <a:t>Expands objects.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dirty="0"/>
              <a:t>A pixel element is '1' if at least one pixel under the kernel is '1'. So it increases the white region in the image or size of foreground object increases. 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endParaRPr lang="en-GB" dirty="0"/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dirty="0"/>
              <a:t>Normally, in cases like </a:t>
            </a:r>
            <a:r>
              <a:rPr lang="en-GB" dirty="0">
                <a:solidFill>
                  <a:srgbClr val="7030A0"/>
                </a:solidFill>
              </a:rPr>
              <a:t>noise removal</a:t>
            </a:r>
            <a:r>
              <a:rPr lang="en-GB" dirty="0"/>
              <a:t>, erosion is followed by dilation. 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endParaRPr lang="en-GB" dirty="0"/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dirty="0"/>
              <a:t>It is also useful in joining broken parts of an object.</a:t>
            </a:r>
            <a:endParaRPr lang="en-GB" sz="2000" b="0" i="0" dirty="0">
              <a:solidFill>
                <a:srgbClr val="242424"/>
              </a:solidFill>
              <a:effectLst/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42424"/>
                </a:solidFill>
                <a:effectLst/>
                <a:latin typeface="+mj-lt"/>
              </a:rPr>
              <a:t> 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242424"/>
              </a:solidFill>
              <a:effectLst/>
              <a:latin typeface="+mj-lt"/>
            </a:endParaRPr>
          </a:p>
          <a:p>
            <a:endParaRPr lang="en-CA" sz="20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A8260-A81D-D1FB-30B5-6F014F14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7337748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Morphological Operations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7778AEE-8899-85F1-AF6B-8C3DE45C0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898" y="2095361"/>
            <a:ext cx="26670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01376F-E2E3-0551-FF0B-386C4A17510C}"/>
              </a:ext>
            </a:extLst>
          </p:cNvPr>
          <p:cNvSpPr txBox="1"/>
          <p:nvPr/>
        </p:nvSpPr>
        <p:spPr>
          <a:xfrm>
            <a:off x="7564016" y="3720498"/>
            <a:ext cx="4435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Left image: original image, right image: resulting dilatation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436662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25C9-AC64-382B-CD98-92DD7701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CDA4A-B304-F2FF-49EE-F6EB1D4367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631" y="1449861"/>
            <a:ext cx="7342205" cy="4677466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GB" sz="20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Opening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Removes small objects (</a:t>
            </a:r>
            <a:r>
              <a:rPr lang="en-GB" sz="2000" b="0" i="0" dirty="0">
                <a:solidFill>
                  <a:srgbClr val="0070C0"/>
                </a:solidFill>
                <a:effectLst/>
                <a:latin typeface="Segoe UI" panose="020B0502040204020203" pitchFamily="34" charset="0"/>
              </a:rPr>
              <a:t>erosion followed by dilation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E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rosion </a:t>
            </a:r>
            <a:r>
              <a:rPr lang="en-GB" sz="2000" b="0" i="0" dirty="0">
                <a:solidFill>
                  <a:srgbClr val="7030A0"/>
                </a:solidFill>
                <a:effectLst/>
                <a:latin typeface="Helvetica" pitchFamily="2" charset="0"/>
              </a:rPr>
              <a:t>removes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GB" sz="2000" b="0" i="0" dirty="0">
                <a:solidFill>
                  <a:srgbClr val="7030A0"/>
                </a:solidFill>
                <a:effectLst/>
                <a:latin typeface="Helvetica" pitchFamily="2" charset="0"/>
              </a:rPr>
              <a:t>white noises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, but it also shrinks our object. </a:t>
            </a:r>
            <a:r>
              <a:rPr lang="en-GB" sz="2000" dirty="0">
                <a:solidFill>
                  <a:srgbClr val="000000"/>
                </a:solidFill>
                <a:latin typeface="Helvetica" pitchFamily="2" charset="0"/>
              </a:rPr>
              <a:t>Then 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we dilate it. Since noise is gone, they won't come back, but our object area increases. It is also useful in joining broken parts of an object.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endParaRPr lang="en-GB" sz="28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GB" sz="20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Closing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Fills small holes (</a:t>
            </a:r>
            <a:r>
              <a:rPr lang="en-GB" sz="2000" b="0" i="0" dirty="0">
                <a:solidFill>
                  <a:srgbClr val="0070C0"/>
                </a:solidFill>
                <a:effectLst/>
                <a:latin typeface="Segoe UI" panose="020B0502040204020203" pitchFamily="34" charset="0"/>
              </a:rPr>
              <a:t>dilation followed by erosion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).</a:t>
            </a: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GB" sz="2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It is useful in </a:t>
            </a:r>
            <a:r>
              <a:rPr lang="en-GB" sz="2000" b="0" i="0" dirty="0">
                <a:solidFill>
                  <a:srgbClr val="7030A0"/>
                </a:solidFill>
                <a:effectLst/>
                <a:latin typeface="Helvetica" pitchFamily="2" charset="0"/>
              </a:rPr>
              <a:t>closing small holes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(filling the gap) inside the foreground objects, or small black points on the object.</a:t>
            </a:r>
            <a:endParaRPr lang="en-GB" sz="2800" b="1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endParaRPr lang="en-CA" sz="2000" dirty="0"/>
          </a:p>
          <a:p>
            <a:r>
              <a:rPr lang="en-GB" sz="2000" dirty="0">
                <a:solidFill>
                  <a:srgbClr val="242424"/>
                </a:solidFill>
                <a:latin typeface="Segoe UI" panose="020B0502040204020203" pitchFamily="34" charset="0"/>
              </a:rPr>
              <a:t>Application: Medical Imaging, Robotics, Computer Vision, Document processing</a:t>
            </a:r>
          </a:p>
          <a:p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3AD5D-B161-5488-C4A3-3858A68D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867" y="447881"/>
            <a:ext cx="9100929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Morphological Operations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F8BF1-350F-9E05-30BA-1853FD6A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08" y="1039506"/>
            <a:ext cx="2959100" cy="200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382E9E-153D-5118-B99D-B4C9956B7216}"/>
              </a:ext>
            </a:extLst>
          </p:cNvPr>
          <p:cNvSpPr txBox="1"/>
          <p:nvPr/>
        </p:nvSpPr>
        <p:spPr>
          <a:xfrm>
            <a:off x="8913548" y="3136741"/>
            <a:ext cx="13648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100" dirty="0"/>
              <a:t>Opening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71A4CC-C21E-876C-98C2-E15DB6DA3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08" y="3537850"/>
            <a:ext cx="2933700" cy="194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C32CF9-BBFA-B02B-0433-7C0FC46D6E51}"/>
              </a:ext>
            </a:extLst>
          </p:cNvPr>
          <p:cNvSpPr txBox="1"/>
          <p:nvPr/>
        </p:nvSpPr>
        <p:spPr>
          <a:xfrm>
            <a:off x="9104244" y="5620449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Z" sz="1100" dirty="0"/>
              <a:t>Closing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28624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12A8074-8CB2-7DE5-44A2-6DEAF12CD5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997751"/>
            <a:ext cx="10353260" cy="5860249"/>
          </a:xfrm>
        </p:spPr>
        <p:txBody>
          <a:bodyPr/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Image transformation techniques are </a:t>
            </a:r>
            <a:r>
              <a:rPr lang="en-GB" b="0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essential tools</a:t>
            </a:r>
            <a:r>
              <a:rPr lang="en-GB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 digital image processing, allowing for various modifications and enhancements to image.</a:t>
            </a:r>
            <a:endParaRPr lang="en-GB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endParaRPr lang="en-GB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r>
              <a:rPr lang="en-GB" b="1" dirty="0">
                <a:solidFill>
                  <a:srgbClr val="242424"/>
                </a:solidFill>
                <a:latin typeface="Segoe UI" panose="020B0502040204020203" pitchFamily="34" charset="0"/>
              </a:rPr>
              <a:t>Affine transformation </a:t>
            </a:r>
            <a: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  <a:t>– Preserve lines and parallelism in the image. </a:t>
            </a:r>
            <a:b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</a:br>
            <a: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  <a:t>y = Ax + b</a:t>
            </a:r>
          </a:p>
          <a:p>
            <a:b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</a:br>
            <a:r>
              <a:rPr lang="en-GB" sz="1800" b="0" i="1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8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The input vector (e.g., a point in 2D or 3D space).</a:t>
            </a:r>
          </a:p>
          <a:p>
            <a:pPr algn="l">
              <a:spcAft>
                <a:spcPts val="600"/>
              </a:spcAft>
            </a:pPr>
            <a:r>
              <a:rPr lang="en-GB" sz="18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1800" dirty="0">
                <a:solidFill>
                  <a:srgbClr val="424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sz="18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matrix that applies a linear transformation (like rotation, scaling, or shearing).</a:t>
            </a:r>
          </a:p>
          <a:p>
            <a:pPr algn="l">
              <a:spcAft>
                <a:spcPts val="600"/>
              </a:spcAft>
            </a:pPr>
            <a:r>
              <a:rPr lang="en-GB" sz="18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A vector that applies a translation (shifts the result).</a:t>
            </a:r>
          </a:p>
          <a:p>
            <a:pPr algn="l">
              <a:spcAft>
                <a:spcPts val="600"/>
              </a:spcAft>
            </a:pPr>
            <a:r>
              <a:rPr lang="en-GB" sz="18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y: The output vector after the transformation.</a:t>
            </a:r>
            <a:endParaRPr lang="en-GB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E3A86-42E9-9BCC-F995-D9A48B42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312" y="368211"/>
            <a:ext cx="10575072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Transformation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1184706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93FC-569E-812C-6E7E-FE058EA2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E16615B-2280-762E-200C-98E8384395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1761643"/>
            <a:ext cx="10353260" cy="5860249"/>
          </a:xfrm>
        </p:spPr>
        <p:txBody>
          <a:bodyPr/>
          <a:lstStyle/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GB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Translation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Shifting the image in the x or y direction.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endParaRPr lang="en-GB" sz="2000" b="1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GB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Rotation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Rotating the image around a specified point.</a:t>
            </a:r>
          </a:p>
          <a:p>
            <a:pPr algn="l">
              <a:spcBef>
                <a:spcPts val="750"/>
              </a:spcBef>
              <a:spcAft>
                <a:spcPts val="750"/>
              </a:spcAft>
            </a:pPr>
            <a:endParaRPr lang="en-GB" sz="20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GB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Scaling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Changing the size of the image.</a:t>
            </a:r>
          </a:p>
          <a:p>
            <a:pPr algn="l">
              <a:spcBef>
                <a:spcPts val="750"/>
              </a:spcBef>
              <a:spcAft>
                <a:spcPts val="750"/>
              </a:spcAft>
            </a:pPr>
            <a:endParaRPr lang="en-GB" sz="20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GB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Shearing</a:t>
            </a:r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Slanting the image along the x or y axis.</a:t>
            </a:r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43E43-A923-D788-8356-C105B685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59" y="759663"/>
            <a:ext cx="10575072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Image Transformation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2303158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1F96-915F-5587-97B0-6BE02D7F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544637"/>
            <a:ext cx="7250676" cy="1362076"/>
          </a:xfrm>
        </p:spPr>
        <p:txBody>
          <a:bodyPr anchor="b">
            <a:normAutofit/>
          </a:bodyPr>
          <a:lstStyle/>
          <a:p>
            <a:r>
              <a:rPr lang="en-CA"/>
              <a:t>Next Week Preview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3086B-D7E6-0D2C-83D0-BB812726E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3075178"/>
            <a:ext cx="8514521" cy="1500188"/>
          </a:xfrm>
        </p:spPr>
        <p:txBody>
          <a:bodyPr anchor="t">
            <a:normAutofit/>
          </a:bodyPr>
          <a:lstStyle/>
          <a:p>
            <a:r>
              <a:rPr lang="en-US" dirty="0"/>
              <a:t>Next week, we'll dive into the Feature detection and Description.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324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lesson-template-nov2017</Template>
  <TotalTime>7840</TotalTime>
  <Words>1658</Words>
  <Application>Microsoft Macintosh PowerPoint</Application>
  <PresentationFormat>Widescreen</PresentationFormat>
  <Paragraphs>161</Paragraphs>
  <Slides>24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Helvetica</vt:lpstr>
      <vt:lpstr>Segoe UI</vt:lpstr>
      <vt:lpstr>Wingdings</vt:lpstr>
      <vt:lpstr>Office Theme</vt:lpstr>
      <vt:lpstr>Fundamentals of Image Processing</vt:lpstr>
      <vt:lpstr>Today’s Topics</vt:lpstr>
      <vt:lpstr>Introduction to Image Processing</vt:lpstr>
      <vt:lpstr>Why is Image Processing used in Machine Vision?</vt:lpstr>
      <vt:lpstr>Key stages in Image Processing </vt:lpstr>
      <vt:lpstr>Key stages in Image Processing </vt:lpstr>
      <vt:lpstr>Key stages in Image Processing </vt:lpstr>
      <vt:lpstr>Introduction to Image Filtering</vt:lpstr>
      <vt:lpstr>Image Blurring</vt:lpstr>
      <vt:lpstr>Image Sharpening</vt:lpstr>
      <vt:lpstr>Basic Image Manipulations</vt:lpstr>
      <vt:lpstr>Edge Detection using Canny </vt:lpstr>
      <vt:lpstr>Edge Detection using Canny </vt:lpstr>
      <vt:lpstr>Image Histograms</vt:lpstr>
      <vt:lpstr>What is Histogram? </vt:lpstr>
      <vt:lpstr>Histogram and bin </vt:lpstr>
      <vt:lpstr>Image Thresholding</vt:lpstr>
      <vt:lpstr>Image Thresholding</vt:lpstr>
      <vt:lpstr>Morphological Operations</vt:lpstr>
      <vt:lpstr>Morphological Operations</vt:lpstr>
      <vt:lpstr>Morphological Operations</vt:lpstr>
      <vt:lpstr>Image Transformation Techniques</vt:lpstr>
      <vt:lpstr>Image Transformation Techniques</vt:lpstr>
      <vt:lpstr>Next Week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Image Processing</dc:title>
  <dc:creator>Wassim El Ahmar</dc:creator>
  <cp:lastModifiedBy>Stephin Rachel Thomas</cp:lastModifiedBy>
  <cp:revision>79</cp:revision>
  <dcterms:created xsi:type="dcterms:W3CDTF">2023-12-22T20:15:26Z</dcterms:created>
  <dcterms:modified xsi:type="dcterms:W3CDTF">2026-01-22T00:47:10Z</dcterms:modified>
</cp:coreProperties>
</file>
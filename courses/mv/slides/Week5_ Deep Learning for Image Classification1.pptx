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4"/>
  </p:notesMasterIdLst>
  <p:sldIdLst>
    <p:sldId id="276" r:id="rId2"/>
    <p:sldId id="284" r:id="rId3"/>
    <p:sldId id="257" r:id="rId4"/>
    <p:sldId id="258" r:id="rId5"/>
    <p:sldId id="260" r:id="rId6"/>
    <p:sldId id="261" r:id="rId7"/>
    <p:sldId id="281" r:id="rId8"/>
    <p:sldId id="262" r:id="rId9"/>
    <p:sldId id="263" r:id="rId10"/>
    <p:sldId id="308" r:id="rId11"/>
    <p:sldId id="310" r:id="rId12"/>
    <p:sldId id="311" r:id="rId13"/>
    <p:sldId id="312" r:id="rId14"/>
    <p:sldId id="313" r:id="rId15"/>
    <p:sldId id="314" r:id="rId16"/>
    <p:sldId id="315" r:id="rId17"/>
    <p:sldId id="316" r:id="rId18"/>
    <p:sldId id="317" r:id="rId19"/>
    <p:sldId id="319" r:id="rId20"/>
    <p:sldId id="320" r:id="rId21"/>
    <p:sldId id="322" r:id="rId22"/>
    <p:sldId id="323" r:id="rId23"/>
    <p:sldId id="266" r:id="rId24"/>
    <p:sldId id="267" r:id="rId25"/>
    <p:sldId id="268" r:id="rId26"/>
    <p:sldId id="269" r:id="rId27"/>
    <p:sldId id="270" r:id="rId28"/>
    <p:sldId id="271" r:id="rId29"/>
    <p:sldId id="275" r:id="rId30"/>
    <p:sldId id="325" r:id="rId31"/>
    <p:sldId id="277" r:id="rId32"/>
    <p:sldId id="324" r:id="rId33"/>
  </p:sldIdLst>
  <p:sldSz cx="12192000" cy="6858000"/>
  <p:notesSz cx="6858000" cy="9144000"/>
  <p:defaultText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451"/>
    <p:restoredTop sz="94490"/>
  </p:normalViewPr>
  <p:slideViewPr>
    <p:cSldViewPr snapToGrid="0">
      <p:cViewPr varScale="1">
        <p:scale>
          <a:sx n="121" d="100"/>
          <a:sy n="121" d="100"/>
        </p:scale>
        <p:origin x="17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474ABC-0E7D-8446-85FA-9C6BDA5D0C6C}" type="datetimeFigureOut">
              <a:rPr lang="en-CZ" smtClean="0"/>
              <a:t>09.02.2026</a:t>
            </a:fld>
            <a:endParaRPr lang="en-C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D3CB87-CBD0-A74C-A39C-028BD66AF791}" type="slidenum">
              <a:rPr lang="en-CZ" smtClean="0"/>
              <a:t>‹#›</a:t>
            </a:fld>
            <a:endParaRPr lang="en-CZ"/>
          </a:p>
        </p:txBody>
      </p:sp>
    </p:spTree>
    <p:extLst>
      <p:ext uri="{BB962C8B-B14F-4D97-AF65-F5344CB8AC3E}">
        <p14:creationId xmlns:p14="http://schemas.microsoft.com/office/powerpoint/2010/main" val="3428332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Z" dirty="0"/>
          </a:p>
        </p:txBody>
      </p:sp>
      <p:sp>
        <p:nvSpPr>
          <p:cNvPr id="4" name="Slide Number Placeholder 3"/>
          <p:cNvSpPr>
            <a:spLocks noGrp="1"/>
          </p:cNvSpPr>
          <p:nvPr>
            <p:ph type="sldNum" sz="quarter" idx="5"/>
          </p:nvPr>
        </p:nvSpPr>
        <p:spPr/>
        <p:txBody>
          <a:bodyPr/>
          <a:lstStyle/>
          <a:p>
            <a:fld id="{24D3CB87-CBD0-A74C-A39C-028BD66AF791}" type="slidenum">
              <a:rPr lang="en-CZ" smtClean="0"/>
              <a:t>5</a:t>
            </a:fld>
            <a:endParaRPr lang="en-CZ"/>
          </a:p>
        </p:txBody>
      </p:sp>
    </p:spTree>
    <p:extLst>
      <p:ext uri="{BB962C8B-B14F-4D97-AF65-F5344CB8AC3E}">
        <p14:creationId xmlns:p14="http://schemas.microsoft.com/office/powerpoint/2010/main" val="4211476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Z" dirty="0"/>
          </a:p>
        </p:txBody>
      </p:sp>
      <p:sp>
        <p:nvSpPr>
          <p:cNvPr id="4" name="Slide Number Placeholder 3"/>
          <p:cNvSpPr>
            <a:spLocks noGrp="1"/>
          </p:cNvSpPr>
          <p:nvPr>
            <p:ph type="sldNum" sz="quarter" idx="5"/>
          </p:nvPr>
        </p:nvSpPr>
        <p:spPr/>
        <p:txBody>
          <a:bodyPr/>
          <a:lstStyle/>
          <a:p>
            <a:fld id="{24D3CB87-CBD0-A74C-A39C-028BD66AF791}" type="slidenum">
              <a:rPr lang="en-CZ" smtClean="0"/>
              <a:t>10</a:t>
            </a:fld>
            <a:endParaRPr lang="en-CZ"/>
          </a:p>
        </p:txBody>
      </p:sp>
    </p:spTree>
    <p:extLst>
      <p:ext uri="{BB962C8B-B14F-4D97-AF65-F5344CB8AC3E}">
        <p14:creationId xmlns:p14="http://schemas.microsoft.com/office/powerpoint/2010/main" val="3664050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E7623-27D6-A75A-BC6F-2BA1812AF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EA9EB9-50E0-864D-8C85-7E0833B29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C6605-4CCA-A3EA-3A39-479475CE6D7A}"/>
              </a:ext>
            </a:extLst>
          </p:cNvPr>
          <p:cNvSpPr>
            <a:spLocks noGrp="1"/>
          </p:cNvSpPr>
          <p:nvPr>
            <p:ph type="body" idx="1"/>
          </p:nvPr>
        </p:nvSpPr>
        <p:spPr/>
        <p:txBody>
          <a:bodyPr/>
          <a:lstStyle/>
          <a:p>
            <a:endParaRPr lang="en-CZ" dirty="0"/>
          </a:p>
        </p:txBody>
      </p:sp>
      <p:sp>
        <p:nvSpPr>
          <p:cNvPr id="4" name="Slide Number Placeholder 3">
            <a:extLst>
              <a:ext uri="{FF2B5EF4-FFF2-40B4-BE49-F238E27FC236}">
                <a16:creationId xmlns:a16="http://schemas.microsoft.com/office/drawing/2014/main" id="{A79F4F77-9F3E-EE55-F08B-F01948D7C590}"/>
              </a:ext>
            </a:extLst>
          </p:cNvPr>
          <p:cNvSpPr>
            <a:spLocks noGrp="1"/>
          </p:cNvSpPr>
          <p:nvPr>
            <p:ph type="sldNum" sz="quarter" idx="5"/>
          </p:nvPr>
        </p:nvSpPr>
        <p:spPr/>
        <p:txBody>
          <a:bodyPr/>
          <a:lstStyle/>
          <a:p>
            <a:fld id="{24D3CB87-CBD0-A74C-A39C-028BD66AF791}" type="slidenum">
              <a:rPr lang="en-CZ" smtClean="0"/>
              <a:t>11</a:t>
            </a:fld>
            <a:endParaRPr lang="en-CZ"/>
          </a:p>
        </p:txBody>
      </p:sp>
    </p:spTree>
    <p:extLst>
      <p:ext uri="{BB962C8B-B14F-4D97-AF65-F5344CB8AC3E}">
        <p14:creationId xmlns:p14="http://schemas.microsoft.com/office/powerpoint/2010/main" val="1336726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774CC-0987-FE0F-910E-3931D4D94C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3A2A8-A666-ECC3-BA7C-9167B776B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92681C-C90C-8C8A-76C8-B37F5937BA88}"/>
              </a:ext>
            </a:extLst>
          </p:cNvPr>
          <p:cNvSpPr>
            <a:spLocks noGrp="1"/>
          </p:cNvSpPr>
          <p:nvPr>
            <p:ph type="body" idx="1"/>
          </p:nvPr>
        </p:nvSpPr>
        <p:spPr/>
        <p:txBody>
          <a:bodyPr/>
          <a:lstStyle/>
          <a:p>
            <a:endParaRPr lang="en-CZ" dirty="0"/>
          </a:p>
        </p:txBody>
      </p:sp>
      <p:sp>
        <p:nvSpPr>
          <p:cNvPr id="4" name="Slide Number Placeholder 3">
            <a:extLst>
              <a:ext uri="{FF2B5EF4-FFF2-40B4-BE49-F238E27FC236}">
                <a16:creationId xmlns:a16="http://schemas.microsoft.com/office/drawing/2014/main" id="{A473310B-6E3D-469B-825E-FDCA6CB75C0A}"/>
              </a:ext>
            </a:extLst>
          </p:cNvPr>
          <p:cNvSpPr>
            <a:spLocks noGrp="1"/>
          </p:cNvSpPr>
          <p:nvPr>
            <p:ph type="sldNum" sz="quarter" idx="5"/>
          </p:nvPr>
        </p:nvSpPr>
        <p:spPr/>
        <p:txBody>
          <a:bodyPr/>
          <a:lstStyle/>
          <a:p>
            <a:fld id="{24D3CB87-CBD0-A74C-A39C-028BD66AF791}" type="slidenum">
              <a:rPr lang="en-CZ" smtClean="0"/>
              <a:t>12</a:t>
            </a:fld>
            <a:endParaRPr lang="en-CZ"/>
          </a:p>
        </p:txBody>
      </p:sp>
    </p:spTree>
    <p:extLst>
      <p:ext uri="{BB962C8B-B14F-4D97-AF65-F5344CB8AC3E}">
        <p14:creationId xmlns:p14="http://schemas.microsoft.com/office/powerpoint/2010/main" val="3155579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727CD-E8C0-2F77-CEC8-859613F7E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54EC1-22C9-08DE-9C33-B7D0E9961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400FBA-3B09-1D24-5668-0E8213B2EA36}"/>
              </a:ext>
            </a:extLst>
          </p:cNvPr>
          <p:cNvSpPr>
            <a:spLocks noGrp="1"/>
          </p:cNvSpPr>
          <p:nvPr>
            <p:ph type="body" idx="1"/>
          </p:nvPr>
        </p:nvSpPr>
        <p:spPr/>
        <p:txBody>
          <a:bodyPr/>
          <a:lstStyle/>
          <a:p>
            <a:endParaRPr lang="en-CZ" dirty="0"/>
          </a:p>
        </p:txBody>
      </p:sp>
      <p:sp>
        <p:nvSpPr>
          <p:cNvPr id="4" name="Slide Number Placeholder 3">
            <a:extLst>
              <a:ext uri="{FF2B5EF4-FFF2-40B4-BE49-F238E27FC236}">
                <a16:creationId xmlns:a16="http://schemas.microsoft.com/office/drawing/2014/main" id="{E93CCFD6-5050-EA1A-EA5B-8C62B1339BE9}"/>
              </a:ext>
            </a:extLst>
          </p:cNvPr>
          <p:cNvSpPr>
            <a:spLocks noGrp="1"/>
          </p:cNvSpPr>
          <p:nvPr>
            <p:ph type="sldNum" sz="quarter" idx="5"/>
          </p:nvPr>
        </p:nvSpPr>
        <p:spPr/>
        <p:txBody>
          <a:bodyPr/>
          <a:lstStyle/>
          <a:p>
            <a:fld id="{24D3CB87-CBD0-A74C-A39C-028BD66AF791}" type="slidenum">
              <a:rPr lang="en-CZ" smtClean="0"/>
              <a:t>13</a:t>
            </a:fld>
            <a:endParaRPr lang="en-CZ"/>
          </a:p>
        </p:txBody>
      </p:sp>
    </p:spTree>
    <p:extLst>
      <p:ext uri="{BB962C8B-B14F-4D97-AF65-F5344CB8AC3E}">
        <p14:creationId xmlns:p14="http://schemas.microsoft.com/office/powerpoint/2010/main" val="3813288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63BDF-433D-0634-FD77-4CE29B4ED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930B6-401C-8A5B-5FC8-F9EB76873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83EF8E-F945-9E12-04B3-41E457039DBE}"/>
              </a:ext>
            </a:extLst>
          </p:cNvPr>
          <p:cNvSpPr>
            <a:spLocks noGrp="1"/>
          </p:cNvSpPr>
          <p:nvPr>
            <p:ph type="body" idx="1"/>
          </p:nvPr>
        </p:nvSpPr>
        <p:spPr/>
        <p:txBody>
          <a:bodyPr/>
          <a:lstStyle/>
          <a:p>
            <a:r>
              <a:rPr lang="en-GB" sz="1200" dirty="0"/>
              <a:t>(log loss) </a:t>
            </a:r>
            <a:endParaRPr lang="en-CZ" dirty="0"/>
          </a:p>
        </p:txBody>
      </p:sp>
      <p:sp>
        <p:nvSpPr>
          <p:cNvPr id="4" name="Slide Number Placeholder 3">
            <a:extLst>
              <a:ext uri="{FF2B5EF4-FFF2-40B4-BE49-F238E27FC236}">
                <a16:creationId xmlns:a16="http://schemas.microsoft.com/office/drawing/2014/main" id="{129D5141-6F97-D989-53B7-E996D9EF864C}"/>
              </a:ext>
            </a:extLst>
          </p:cNvPr>
          <p:cNvSpPr>
            <a:spLocks noGrp="1"/>
          </p:cNvSpPr>
          <p:nvPr>
            <p:ph type="sldNum" sz="quarter" idx="5"/>
          </p:nvPr>
        </p:nvSpPr>
        <p:spPr/>
        <p:txBody>
          <a:bodyPr/>
          <a:lstStyle/>
          <a:p>
            <a:fld id="{24D3CB87-CBD0-A74C-A39C-028BD66AF791}" type="slidenum">
              <a:rPr lang="en-CZ" smtClean="0"/>
              <a:t>14</a:t>
            </a:fld>
            <a:endParaRPr lang="en-CZ"/>
          </a:p>
        </p:txBody>
      </p:sp>
    </p:spTree>
    <p:extLst>
      <p:ext uri="{BB962C8B-B14F-4D97-AF65-F5344CB8AC3E}">
        <p14:creationId xmlns:p14="http://schemas.microsoft.com/office/powerpoint/2010/main" val="1323866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41928-09F2-EF18-30C0-0D21E0B5F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02CFB-B699-C3B9-04C2-848E425B8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4784E0-5E5A-286F-D997-12F2C13392FE}"/>
              </a:ext>
            </a:extLst>
          </p:cNvPr>
          <p:cNvSpPr>
            <a:spLocks noGrp="1"/>
          </p:cNvSpPr>
          <p:nvPr>
            <p:ph type="body" idx="1"/>
          </p:nvPr>
        </p:nvSpPr>
        <p:spPr/>
        <p:txBody>
          <a:bodyPr/>
          <a:lstStyle/>
          <a:p>
            <a:endParaRPr lang="en-CZ" dirty="0"/>
          </a:p>
        </p:txBody>
      </p:sp>
      <p:sp>
        <p:nvSpPr>
          <p:cNvPr id="4" name="Slide Number Placeholder 3">
            <a:extLst>
              <a:ext uri="{FF2B5EF4-FFF2-40B4-BE49-F238E27FC236}">
                <a16:creationId xmlns:a16="http://schemas.microsoft.com/office/drawing/2014/main" id="{E741770B-8E70-EC5A-9A0E-372674B5CF67}"/>
              </a:ext>
            </a:extLst>
          </p:cNvPr>
          <p:cNvSpPr>
            <a:spLocks noGrp="1"/>
          </p:cNvSpPr>
          <p:nvPr>
            <p:ph type="sldNum" sz="quarter" idx="5"/>
          </p:nvPr>
        </p:nvSpPr>
        <p:spPr/>
        <p:txBody>
          <a:bodyPr/>
          <a:lstStyle/>
          <a:p>
            <a:fld id="{24D3CB87-CBD0-A74C-A39C-028BD66AF791}" type="slidenum">
              <a:rPr lang="en-CZ" smtClean="0"/>
              <a:t>15</a:t>
            </a:fld>
            <a:endParaRPr lang="en-CZ"/>
          </a:p>
        </p:txBody>
      </p:sp>
    </p:spTree>
    <p:extLst>
      <p:ext uri="{BB962C8B-B14F-4D97-AF65-F5344CB8AC3E}">
        <p14:creationId xmlns:p14="http://schemas.microsoft.com/office/powerpoint/2010/main" val="2704933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7AB07-6CC9-4317-D693-0CD425C3E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2231C-1E45-F773-C832-4E7B3D38AB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8F7C50-75D9-55CC-9FD2-1C06045C3195}"/>
              </a:ext>
            </a:extLst>
          </p:cNvPr>
          <p:cNvSpPr>
            <a:spLocks noGrp="1"/>
          </p:cNvSpPr>
          <p:nvPr>
            <p:ph type="body" idx="1"/>
          </p:nvPr>
        </p:nvSpPr>
        <p:spPr/>
        <p:txBody>
          <a:bodyPr/>
          <a:lstStyle/>
          <a:p>
            <a:r>
              <a:rPr lang="en-GB" sz="1200" dirty="0"/>
              <a:t>(log loss) </a:t>
            </a:r>
            <a:endParaRPr lang="en-CZ" dirty="0"/>
          </a:p>
        </p:txBody>
      </p:sp>
      <p:sp>
        <p:nvSpPr>
          <p:cNvPr id="4" name="Slide Number Placeholder 3">
            <a:extLst>
              <a:ext uri="{FF2B5EF4-FFF2-40B4-BE49-F238E27FC236}">
                <a16:creationId xmlns:a16="http://schemas.microsoft.com/office/drawing/2014/main" id="{0466EC06-A990-1834-9092-49D9911B8FFB}"/>
              </a:ext>
            </a:extLst>
          </p:cNvPr>
          <p:cNvSpPr>
            <a:spLocks noGrp="1"/>
          </p:cNvSpPr>
          <p:nvPr>
            <p:ph type="sldNum" sz="quarter" idx="5"/>
          </p:nvPr>
        </p:nvSpPr>
        <p:spPr/>
        <p:txBody>
          <a:bodyPr/>
          <a:lstStyle/>
          <a:p>
            <a:fld id="{24D3CB87-CBD0-A74C-A39C-028BD66AF791}" type="slidenum">
              <a:rPr lang="en-CZ" smtClean="0"/>
              <a:t>16</a:t>
            </a:fld>
            <a:endParaRPr lang="en-CZ"/>
          </a:p>
        </p:txBody>
      </p:sp>
    </p:spTree>
    <p:extLst>
      <p:ext uri="{BB962C8B-B14F-4D97-AF65-F5344CB8AC3E}">
        <p14:creationId xmlns:p14="http://schemas.microsoft.com/office/powerpoint/2010/main" val="3386041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C03CD-C47D-2E36-D6BD-3A7DD54E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DDDC1-B049-29C2-B508-56B28CB75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99AB9-60A4-A61C-5FAE-FFD154FF9DB5}"/>
              </a:ext>
            </a:extLst>
          </p:cNvPr>
          <p:cNvSpPr>
            <a:spLocks noGrp="1"/>
          </p:cNvSpPr>
          <p:nvPr>
            <p:ph type="body" idx="1"/>
          </p:nvPr>
        </p:nvSpPr>
        <p:spPr/>
        <p:txBody>
          <a:bodyPr/>
          <a:lstStyle/>
          <a:p>
            <a:r>
              <a:rPr lang="en-GB" sz="1200" dirty="0"/>
              <a:t>(log loss) </a:t>
            </a:r>
            <a:endParaRPr lang="en-CZ" dirty="0"/>
          </a:p>
        </p:txBody>
      </p:sp>
      <p:sp>
        <p:nvSpPr>
          <p:cNvPr id="4" name="Slide Number Placeholder 3">
            <a:extLst>
              <a:ext uri="{FF2B5EF4-FFF2-40B4-BE49-F238E27FC236}">
                <a16:creationId xmlns:a16="http://schemas.microsoft.com/office/drawing/2014/main" id="{ED71696B-1C03-D2BE-AF08-5B48435219E3}"/>
              </a:ext>
            </a:extLst>
          </p:cNvPr>
          <p:cNvSpPr>
            <a:spLocks noGrp="1"/>
          </p:cNvSpPr>
          <p:nvPr>
            <p:ph type="sldNum" sz="quarter" idx="5"/>
          </p:nvPr>
        </p:nvSpPr>
        <p:spPr/>
        <p:txBody>
          <a:bodyPr/>
          <a:lstStyle/>
          <a:p>
            <a:fld id="{24D3CB87-CBD0-A74C-A39C-028BD66AF791}" type="slidenum">
              <a:rPr lang="en-CZ" smtClean="0"/>
              <a:t>17</a:t>
            </a:fld>
            <a:endParaRPr lang="en-CZ"/>
          </a:p>
        </p:txBody>
      </p:sp>
    </p:spTree>
    <p:extLst>
      <p:ext uri="{BB962C8B-B14F-4D97-AF65-F5344CB8AC3E}">
        <p14:creationId xmlns:p14="http://schemas.microsoft.com/office/powerpoint/2010/main" val="581876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EB501-DA0F-D41E-B551-A4D35F413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A9E760-12D6-17C5-A110-93F9E082BE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147B4-5EE2-91C5-82ED-B9E0F55DD1DC}"/>
              </a:ext>
            </a:extLst>
          </p:cNvPr>
          <p:cNvSpPr>
            <a:spLocks noGrp="1"/>
          </p:cNvSpPr>
          <p:nvPr>
            <p:ph type="body" idx="1"/>
          </p:nvPr>
        </p:nvSpPr>
        <p:spPr/>
        <p:txBody>
          <a:bodyPr/>
          <a:lstStyle/>
          <a:p>
            <a:r>
              <a:rPr lang="en-GB" sz="1200" dirty="0"/>
              <a:t>(log loss) </a:t>
            </a:r>
            <a:endParaRPr lang="en-CZ" dirty="0"/>
          </a:p>
        </p:txBody>
      </p:sp>
      <p:sp>
        <p:nvSpPr>
          <p:cNvPr id="4" name="Slide Number Placeholder 3">
            <a:extLst>
              <a:ext uri="{FF2B5EF4-FFF2-40B4-BE49-F238E27FC236}">
                <a16:creationId xmlns:a16="http://schemas.microsoft.com/office/drawing/2014/main" id="{334AC5E3-BE13-BC23-F511-9D18307FB05E}"/>
              </a:ext>
            </a:extLst>
          </p:cNvPr>
          <p:cNvSpPr>
            <a:spLocks noGrp="1"/>
          </p:cNvSpPr>
          <p:nvPr>
            <p:ph type="sldNum" sz="quarter" idx="5"/>
          </p:nvPr>
        </p:nvSpPr>
        <p:spPr/>
        <p:txBody>
          <a:bodyPr/>
          <a:lstStyle/>
          <a:p>
            <a:fld id="{24D3CB87-CBD0-A74C-A39C-028BD66AF791}" type="slidenum">
              <a:rPr lang="en-CZ" smtClean="0"/>
              <a:t>18</a:t>
            </a:fld>
            <a:endParaRPr lang="en-CZ"/>
          </a:p>
        </p:txBody>
      </p:sp>
    </p:spTree>
    <p:extLst>
      <p:ext uri="{BB962C8B-B14F-4D97-AF65-F5344CB8AC3E}">
        <p14:creationId xmlns:p14="http://schemas.microsoft.com/office/powerpoint/2010/main" val="632267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24D09-7BE3-F819-BCBA-EB1BE99C2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4B2C56-E75B-A1C0-3346-ED55951693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0129CB-AA82-B0F0-A71A-285B172F3054}"/>
              </a:ext>
            </a:extLst>
          </p:cNvPr>
          <p:cNvSpPr>
            <a:spLocks noGrp="1"/>
          </p:cNvSpPr>
          <p:nvPr>
            <p:ph type="body" idx="1"/>
          </p:nvPr>
        </p:nvSpPr>
        <p:spPr/>
        <p:txBody>
          <a:bodyPr/>
          <a:lstStyle/>
          <a:p>
            <a:r>
              <a:rPr lang="en-GB" sz="1200" dirty="0"/>
              <a:t>(log loss) </a:t>
            </a:r>
            <a:endParaRPr lang="en-CZ" dirty="0"/>
          </a:p>
        </p:txBody>
      </p:sp>
      <p:sp>
        <p:nvSpPr>
          <p:cNvPr id="4" name="Slide Number Placeholder 3">
            <a:extLst>
              <a:ext uri="{FF2B5EF4-FFF2-40B4-BE49-F238E27FC236}">
                <a16:creationId xmlns:a16="http://schemas.microsoft.com/office/drawing/2014/main" id="{D4C0A977-9F53-80D9-6E6D-B0BF5AB93214}"/>
              </a:ext>
            </a:extLst>
          </p:cNvPr>
          <p:cNvSpPr>
            <a:spLocks noGrp="1"/>
          </p:cNvSpPr>
          <p:nvPr>
            <p:ph type="sldNum" sz="quarter" idx="5"/>
          </p:nvPr>
        </p:nvSpPr>
        <p:spPr/>
        <p:txBody>
          <a:bodyPr/>
          <a:lstStyle/>
          <a:p>
            <a:fld id="{24D3CB87-CBD0-A74C-A39C-028BD66AF791}" type="slidenum">
              <a:rPr lang="en-CZ" smtClean="0"/>
              <a:t>19</a:t>
            </a:fld>
            <a:endParaRPr lang="en-CZ"/>
          </a:p>
        </p:txBody>
      </p:sp>
    </p:spTree>
    <p:extLst>
      <p:ext uri="{BB962C8B-B14F-4D97-AF65-F5344CB8AC3E}">
        <p14:creationId xmlns:p14="http://schemas.microsoft.com/office/powerpoint/2010/main" val="3527455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30BF2-FCC8-2E4D-1EDA-3DF084342F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DDD0E8-858F-C47D-E91F-2E908918C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3A87C4-7690-7595-1742-A3C79D88EE17}"/>
              </a:ext>
            </a:extLst>
          </p:cNvPr>
          <p:cNvSpPr>
            <a:spLocks noGrp="1"/>
          </p:cNvSpPr>
          <p:nvPr>
            <p:ph type="body" idx="1"/>
          </p:nvPr>
        </p:nvSpPr>
        <p:spPr/>
        <p:txBody>
          <a:bodyPr/>
          <a:lstStyle/>
          <a:p>
            <a:r>
              <a:rPr lang="en-GB" sz="1200" dirty="0"/>
              <a:t>(log loss) </a:t>
            </a:r>
            <a:endParaRPr lang="en-CZ" dirty="0"/>
          </a:p>
        </p:txBody>
      </p:sp>
      <p:sp>
        <p:nvSpPr>
          <p:cNvPr id="4" name="Slide Number Placeholder 3">
            <a:extLst>
              <a:ext uri="{FF2B5EF4-FFF2-40B4-BE49-F238E27FC236}">
                <a16:creationId xmlns:a16="http://schemas.microsoft.com/office/drawing/2014/main" id="{EF66710D-C1D6-A12D-40A5-B71C3D02D966}"/>
              </a:ext>
            </a:extLst>
          </p:cNvPr>
          <p:cNvSpPr>
            <a:spLocks noGrp="1"/>
          </p:cNvSpPr>
          <p:nvPr>
            <p:ph type="sldNum" sz="quarter" idx="5"/>
          </p:nvPr>
        </p:nvSpPr>
        <p:spPr/>
        <p:txBody>
          <a:bodyPr/>
          <a:lstStyle/>
          <a:p>
            <a:fld id="{24D3CB87-CBD0-A74C-A39C-028BD66AF791}" type="slidenum">
              <a:rPr lang="en-CZ" smtClean="0"/>
              <a:t>20</a:t>
            </a:fld>
            <a:endParaRPr lang="en-CZ"/>
          </a:p>
        </p:txBody>
      </p:sp>
    </p:spTree>
    <p:extLst>
      <p:ext uri="{BB962C8B-B14F-4D97-AF65-F5344CB8AC3E}">
        <p14:creationId xmlns:p14="http://schemas.microsoft.com/office/powerpoint/2010/main" val="35256399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475EE-CC26-890A-8247-0939EA6AE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049E5E-0552-ED38-4F9E-6B6768A250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EC5678-87A4-3D11-2CE6-82039C8158E0}"/>
              </a:ext>
            </a:extLst>
          </p:cNvPr>
          <p:cNvSpPr>
            <a:spLocks noGrp="1"/>
          </p:cNvSpPr>
          <p:nvPr>
            <p:ph type="body" idx="1"/>
          </p:nvPr>
        </p:nvSpPr>
        <p:spPr/>
        <p:txBody>
          <a:bodyPr/>
          <a:lstStyle/>
          <a:p>
            <a:r>
              <a:rPr lang="en-GB" sz="1200" dirty="0"/>
              <a:t>(log loss) </a:t>
            </a:r>
            <a:endParaRPr lang="en-CZ" dirty="0"/>
          </a:p>
        </p:txBody>
      </p:sp>
      <p:sp>
        <p:nvSpPr>
          <p:cNvPr id="4" name="Slide Number Placeholder 3">
            <a:extLst>
              <a:ext uri="{FF2B5EF4-FFF2-40B4-BE49-F238E27FC236}">
                <a16:creationId xmlns:a16="http://schemas.microsoft.com/office/drawing/2014/main" id="{CF9A5BF4-0D5D-CDB0-6E99-AE563B2378AF}"/>
              </a:ext>
            </a:extLst>
          </p:cNvPr>
          <p:cNvSpPr>
            <a:spLocks noGrp="1"/>
          </p:cNvSpPr>
          <p:nvPr>
            <p:ph type="sldNum" sz="quarter" idx="5"/>
          </p:nvPr>
        </p:nvSpPr>
        <p:spPr/>
        <p:txBody>
          <a:bodyPr/>
          <a:lstStyle/>
          <a:p>
            <a:fld id="{24D3CB87-CBD0-A74C-A39C-028BD66AF791}" type="slidenum">
              <a:rPr lang="en-CZ" smtClean="0"/>
              <a:t>21</a:t>
            </a:fld>
            <a:endParaRPr lang="en-CZ"/>
          </a:p>
        </p:txBody>
      </p:sp>
    </p:spTree>
    <p:extLst>
      <p:ext uri="{BB962C8B-B14F-4D97-AF65-F5344CB8AC3E}">
        <p14:creationId xmlns:p14="http://schemas.microsoft.com/office/powerpoint/2010/main" val="3988455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CF335-8EC5-D749-C42F-F368F62CF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E10F3-0D47-F557-9C30-D97803F42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56445-3307-2737-4A45-87D483FA8A41}"/>
              </a:ext>
            </a:extLst>
          </p:cNvPr>
          <p:cNvSpPr>
            <a:spLocks noGrp="1"/>
          </p:cNvSpPr>
          <p:nvPr>
            <p:ph type="body" idx="1"/>
          </p:nvPr>
        </p:nvSpPr>
        <p:spPr/>
        <p:txBody>
          <a:bodyPr/>
          <a:lstStyle/>
          <a:p>
            <a:r>
              <a:rPr lang="en-GB" sz="1200" dirty="0"/>
              <a:t>(log loss) </a:t>
            </a:r>
            <a:endParaRPr lang="en-CZ" dirty="0"/>
          </a:p>
        </p:txBody>
      </p:sp>
      <p:sp>
        <p:nvSpPr>
          <p:cNvPr id="4" name="Slide Number Placeholder 3">
            <a:extLst>
              <a:ext uri="{FF2B5EF4-FFF2-40B4-BE49-F238E27FC236}">
                <a16:creationId xmlns:a16="http://schemas.microsoft.com/office/drawing/2014/main" id="{E578D0A2-1134-7C8D-825C-A308B8018B31}"/>
              </a:ext>
            </a:extLst>
          </p:cNvPr>
          <p:cNvSpPr>
            <a:spLocks noGrp="1"/>
          </p:cNvSpPr>
          <p:nvPr>
            <p:ph type="sldNum" sz="quarter" idx="5"/>
          </p:nvPr>
        </p:nvSpPr>
        <p:spPr/>
        <p:txBody>
          <a:bodyPr/>
          <a:lstStyle/>
          <a:p>
            <a:fld id="{24D3CB87-CBD0-A74C-A39C-028BD66AF791}" type="slidenum">
              <a:rPr lang="en-CZ" smtClean="0"/>
              <a:t>22</a:t>
            </a:fld>
            <a:endParaRPr lang="en-CZ"/>
          </a:p>
        </p:txBody>
      </p:sp>
    </p:spTree>
    <p:extLst>
      <p:ext uri="{BB962C8B-B14F-4D97-AF65-F5344CB8AC3E}">
        <p14:creationId xmlns:p14="http://schemas.microsoft.com/office/powerpoint/2010/main" val="3927544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11984"/>
            <a:ext cx="12192000" cy="1304320"/>
          </a:xfrm>
          <a:prstGeom prst="rect">
            <a:avLst/>
          </a:prstGeom>
        </p:spPr>
      </p:pic>
      <p:sp>
        <p:nvSpPr>
          <p:cNvPr id="2" name="Title 1"/>
          <p:cNvSpPr>
            <a:spLocks noGrp="1"/>
          </p:cNvSpPr>
          <p:nvPr>
            <p:ph type="ctrTitle" hasCustomPrompt="1"/>
          </p:nvPr>
        </p:nvSpPr>
        <p:spPr>
          <a:xfrm>
            <a:off x="609602" y="1287430"/>
            <a:ext cx="7250674" cy="1635518"/>
          </a:xfrm>
        </p:spPr>
        <p:txBody>
          <a:bodyPr anchor="b"/>
          <a:lstStyle>
            <a:lvl1pPr>
              <a:defRPr>
                <a:solidFill>
                  <a:schemeClr val="bg1"/>
                </a:solidFill>
              </a:defRPr>
            </a:lvl1pPr>
          </a:lstStyle>
          <a:p>
            <a:r>
              <a:rPr lang="en-CA" dirty="0"/>
              <a:t>This is your presentation title</a:t>
            </a:r>
            <a:endParaRPr lang="en-US" dirty="0"/>
          </a:p>
        </p:txBody>
      </p:sp>
      <p:sp>
        <p:nvSpPr>
          <p:cNvPr id="3" name="Subtitle 2"/>
          <p:cNvSpPr>
            <a:spLocks noGrp="1"/>
          </p:cNvSpPr>
          <p:nvPr>
            <p:ph type="subTitle" idx="1" hasCustomPrompt="1"/>
          </p:nvPr>
        </p:nvSpPr>
        <p:spPr>
          <a:xfrm>
            <a:off x="609602" y="3024545"/>
            <a:ext cx="9117331" cy="1752600"/>
          </a:xfrm>
        </p:spPr>
        <p:txBody>
          <a:bodyPr lIns="0" tIns="0" rIns="0" bIns="0">
            <a:noAutofit/>
          </a:bodyPr>
          <a:lstStyle>
            <a:lvl1pPr marL="0" indent="0" algn="l">
              <a:lnSpc>
                <a:spcPct val="100000"/>
              </a:lnSpc>
              <a:buNone/>
              <a:defRPr sz="3600" baseline="0">
                <a:solidFill>
                  <a:schemeClr val="accent3"/>
                </a:solidFill>
              </a:defRPr>
            </a:lvl1pPr>
            <a:lvl2pPr marL="586109" indent="0" algn="ctr">
              <a:buNone/>
              <a:defRPr>
                <a:solidFill>
                  <a:schemeClr val="tx1">
                    <a:tint val="75000"/>
                  </a:schemeClr>
                </a:solidFill>
              </a:defRPr>
            </a:lvl2pPr>
            <a:lvl3pPr marL="1172219" indent="0" algn="ctr">
              <a:buNone/>
              <a:defRPr>
                <a:solidFill>
                  <a:schemeClr val="tx1">
                    <a:tint val="75000"/>
                  </a:schemeClr>
                </a:solidFill>
              </a:defRPr>
            </a:lvl3pPr>
            <a:lvl4pPr marL="1758328" indent="0" algn="ctr">
              <a:buNone/>
              <a:defRPr>
                <a:solidFill>
                  <a:schemeClr val="tx1">
                    <a:tint val="75000"/>
                  </a:schemeClr>
                </a:solidFill>
              </a:defRPr>
            </a:lvl4pPr>
            <a:lvl5pPr marL="2344438" indent="0" algn="ctr">
              <a:buNone/>
              <a:defRPr>
                <a:solidFill>
                  <a:schemeClr val="tx1">
                    <a:tint val="75000"/>
                  </a:schemeClr>
                </a:solidFill>
              </a:defRPr>
            </a:lvl5pPr>
            <a:lvl6pPr marL="2930547" indent="0" algn="ctr">
              <a:buNone/>
              <a:defRPr>
                <a:solidFill>
                  <a:schemeClr val="tx1">
                    <a:tint val="75000"/>
                  </a:schemeClr>
                </a:solidFill>
              </a:defRPr>
            </a:lvl6pPr>
            <a:lvl7pPr marL="3516656" indent="0" algn="ctr">
              <a:buNone/>
              <a:defRPr>
                <a:solidFill>
                  <a:schemeClr val="tx1">
                    <a:tint val="75000"/>
                  </a:schemeClr>
                </a:solidFill>
              </a:defRPr>
            </a:lvl7pPr>
            <a:lvl8pPr marL="4102766" indent="0" algn="ctr">
              <a:buNone/>
              <a:defRPr>
                <a:solidFill>
                  <a:schemeClr val="tx1">
                    <a:tint val="75000"/>
                  </a:schemeClr>
                </a:solidFill>
              </a:defRPr>
            </a:lvl8pPr>
            <a:lvl9pPr marL="4688875" indent="0" algn="ctr">
              <a:buNone/>
              <a:defRPr>
                <a:solidFill>
                  <a:schemeClr val="tx1">
                    <a:tint val="75000"/>
                  </a:schemeClr>
                </a:solidFill>
              </a:defRPr>
            </a:lvl9pPr>
          </a:lstStyle>
          <a:p>
            <a:r>
              <a:rPr lang="en-CA" dirty="0"/>
              <a:t>Presentation subtitle or brief one-sentence description.</a:t>
            </a:r>
            <a:endParaRPr lang="en-US" dirty="0"/>
          </a:p>
        </p:txBody>
      </p:sp>
      <p:sp>
        <p:nvSpPr>
          <p:cNvPr id="5" name="Text Placeholder 4"/>
          <p:cNvSpPr>
            <a:spLocks noGrp="1"/>
          </p:cNvSpPr>
          <p:nvPr>
            <p:ph type="body" sz="quarter" idx="10" hasCustomPrompt="1"/>
          </p:nvPr>
        </p:nvSpPr>
        <p:spPr>
          <a:xfrm>
            <a:off x="622239" y="5509909"/>
            <a:ext cx="5358682" cy="745331"/>
          </a:xfrm>
        </p:spPr>
        <p:txBody>
          <a:bodyPr anchor="b"/>
          <a:lstStyle>
            <a:lvl1pPr>
              <a:defRPr baseline="0">
                <a:solidFill>
                  <a:schemeClr val="bg1"/>
                </a:solidFill>
              </a:defRPr>
            </a:lvl1pPr>
          </a:lstStyle>
          <a:p>
            <a:pPr lvl="0"/>
            <a:r>
              <a:rPr lang="en-CA" dirty="0"/>
              <a:t>Month 24th, 2017</a:t>
            </a:r>
            <a:endParaRPr lang="en-US" dirty="0"/>
          </a:p>
        </p:txBody>
      </p:sp>
      <p:pic>
        <p:nvPicPr>
          <p:cNvPr id="4" name="Picture 3" descr="ac-log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42412" y="619055"/>
            <a:ext cx="2542927" cy="533400"/>
          </a:xfrm>
          <a:prstGeom prst="rect">
            <a:avLst/>
          </a:prstGeom>
        </p:spPr>
      </p:pic>
    </p:spTree>
    <p:extLst>
      <p:ext uri="{BB962C8B-B14F-4D97-AF65-F5344CB8AC3E}">
        <p14:creationId xmlns:p14="http://schemas.microsoft.com/office/powerpoint/2010/main" val="2296212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11984"/>
            <a:ext cx="12192000" cy="1304320"/>
          </a:xfrm>
          <a:prstGeom prst="rect">
            <a:avLst/>
          </a:prstGeom>
        </p:spPr>
      </p:pic>
      <p:sp>
        <p:nvSpPr>
          <p:cNvPr id="2" name="Title 1"/>
          <p:cNvSpPr>
            <a:spLocks noGrp="1"/>
          </p:cNvSpPr>
          <p:nvPr>
            <p:ph type="title" hasCustomPrompt="1"/>
          </p:nvPr>
        </p:nvSpPr>
        <p:spPr>
          <a:xfrm>
            <a:off x="609601" y="1544637"/>
            <a:ext cx="7250676" cy="1362076"/>
          </a:xfrm>
        </p:spPr>
        <p:txBody>
          <a:bodyPr anchor="b">
            <a:noAutofit/>
          </a:bodyPr>
          <a:lstStyle>
            <a:lvl1pPr algn="l">
              <a:lnSpc>
                <a:spcPct val="100000"/>
              </a:lnSpc>
              <a:defRPr sz="36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609601" y="3062821"/>
            <a:ext cx="7250676" cy="1500188"/>
          </a:xfrm>
        </p:spPr>
        <p:txBody>
          <a:bodyPr lIns="0" tIns="0" rIns="0" bIns="0" anchor="t"/>
          <a:lstStyle>
            <a:lvl1pPr marL="0" indent="0">
              <a:lnSpc>
                <a:spcPct val="100000"/>
              </a:lnSpc>
              <a:buNone/>
              <a:defRPr sz="2550" baseline="0">
                <a:solidFill>
                  <a:srgbClr val="A6C8BC"/>
                </a:solidFill>
              </a:defRPr>
            </a:lvl1pPr>
            <a:lvl2pPr marL="586109" indent="0">
              <a:buNone/>
              <a:defRPr sz="2325">
                <a:solidFill>
                  <a:schemeClr val="tx1">
                    <a:tint val="75000"/>
                  </a:schemeClr>
                </a:solidFill>
              </a:defRPr>
            </a:lvl2pPr>
            <a:lvl3pPr marL="1172219" indent="0">
              <a:buNone/>
              <a:defRPr sz="2025">
                <a:solidFill>
                  <a:schemeClr val="tx1">
                    <a:tint val="75000"/>
                  </a:schemeClr>
                </a:solidFill>
              </a:defRPr>
            </a:lvl3pPr>
            <a:lvl4pPr marL="1758328" indent="0">
              <a:buNone/>
              <a:defRPr sz="1800">
                <a:solidFill>
                  <a:schemeClr val="tx1">
                    <a:tint val="75000"/>
                  </a:schemeClr>
                </a:solidFill>
              </a:defRPr>
            </a:lvl4pPr>
            <a:lvl5pPr marL="2344438" indent="0">
              <a:buNone/>
              <a:defRPr sz="1800">
                <a:solidFill>
                  <a:schemeClr val="tx1">
                    <a:tint val="75000"/>
                  </a:schemeClr>
                </a:solidFill>
              </a:defRPr>
            </a:lvl5pPr>
            <a:lvl6pPr marL="2930547" indent="0">
              <a:buNone/>
              <a:defRPr sz="1800">
                <a:solidFill>
                  <a:schemeClr val="tx1">
                    <a:tint val="75000"/>
                  </a:schemeClr>
                </a:solidFill>
              </a:defRPr>
            </a:lvl6pPr>
            <a:lvl7pPr marL="3516656" indent="0">
              <a:buNone/>
              <a:defRPr sz="1800">
                <a:solidFill>
                  <a:schemeClr val="tx1">
                    <a:tint val="75000"/>
                  </a:schemeClr>
                </a:solidFill>
              </a:defRPr>
            </a:lvl7pPr>
            <a:lvl8pPr marL="4102766" indent="0">
              <a:buNone/>
              <a:defRPr sz="1800">
                <a:solidFill>
                  <a:schemeClr val="tx1">
                    <a:tint val="75000"/>
                  </a:schemeClr>
                </a:solidFill>
              </a:defRPr>
            </a:lvl8pPr>
            <a:lvl9pPr marL="4688875" indent="0">
              <a:buNone/>
              <a:defRPr sz="180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3099" y="517457"/>
            <a:ext cx="723829" cy="533400"/>
          </a:xfrm>
          <a:prstGeom prst="rect">
            <a:avLst/>
          </a:prstGeom>
        </p:spPr>
      </p:pic>
      <p:sp>
        <p:nvSpPr>
          <p:cNvPr id="15" name="Slide Number Placeholder 8"/>
          <p:cNvSpPr>
            <a:spLocks noGrp="1"/>
          </p:cNvSpPr>
          <p:nvPr>
            <p:ph type="sldNum" sz="quarter" idx="11"/>
          </p:nvPr>
        </p:nvSpPr>
        <p:spPr>
          <a:xfrm>
            <a:off x="149297" y="6373091"/>
            <a:ext cx="396810" cy="365126"/>
          </a:xfrm>
        </p:spPr>
        <p:txBody>
          <a:bodyPr/>
          <a:lstStyle>
            <a:lvl1pPr>
              <a:defRPr>
                <a:solidFill>
                  <a:srgbClr val="96B7A6"/>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358974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 Author">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2501574" y="1803401"/>
            <a:ext cx="3474729" cy="3227685"/>
          </a:xfrm>
        </p:spPr>
        <p:txBody>
          <a:bodyPr/>
          <a:lstStyle/>
          <a:p>
            <a:r>
              <a:rPr lang="en-US" dirty="0"/>
              <a:t>Author Photo</a:t>
            </a:r>
          </a:p>
        </p:txBody>
      </p:sp>
      <p:sp>
        <p:nvSpPr>
          <p:cNvPr id="11" name="Text Placeholder 10"/>
          <p:cNvSpPr>
            <a:spLocks noGrp="1"/>
          </p:cNvSpPr>
          <p:nvPr>
            <p:ph type="body" sz="quarter" idx="17" hasCustomPrompt="1"/>
          </p:nvPr>
        </p:nvSpPr>
        <p:spPr>
          <a:xfrm>
            <a:off x="6222189" y="2336800"/>
            <a:ext cx="3504744" cy="2160887"/>
          </a:xfrm>
        </p:spPr>
        <p:txBody>
          <a:bodyPr anchor="ctr"/>
          <a:lstStyle/>
          <a:p>
            <a:pPr lvl="0"/>
            <a:r>
              <a:rPr lang="en-CA" dirty="0"/>
              <a:t>Author description</a:t>
            </a:r>
          </a:p>
        </p:txBody>
      </p:sp>
      <p:sp>
        <p:nvSpPr>
          <p:cNvPr id="8" name="Title 1"/>
          <p:cNvSpPr>
            <a:spLocks noGrp="1"/>
          </p:cNvSpPr>
          <p:nvPr>
            <p:ph type="title" hasCustomPrompt="1"/>
          </p:nvPr>
        </p:nvSpPr>
        <p:spPr>
          <a:xfrm>
            <a:off x="609601" y="576274"/>
            <a:ext cx="7106241" cy="1001980"/>
          </a:xfrm>
        </p:spPr>
        <p:txBody>
          <a:bodyPr anchor="t">
            <a:noAutofit/>
          </a:bodyPr>
          <a:lstStyle>
            <a:lvl1pPr>
              <a:defRPr sz="3600" b="1" baseline="0">
                <a:solidFill>
                  <a:schemeClr val="tx2"/>
                </a:solidFill>
              </a:defRPr>
            </a:lvl1pPr>
          </a:lstStyle>
          <a:p>
            <a:r>
              <a:rPr lang="en-CA" dirty="0"/>
              <a:t>About the Author (1 author)</a:t>
            </a:r>
            <a:endParaRPr lang="en-US" dirty="0"/>
          </a:p>
        </p:txBody>
      </p:sp>
      <p:sp>
        <p:nvSpPr>
          <p:cNvPr id="7" name="Text Placeholder 6"/>
          <p:cNvSpPr>
            <a:spLocks noGrp="1"/>
          </p:cNvSpPr>
          <p:nvPr>
            <p:ph type="body" sz="quarter" idx="18" hasCustomPrompt="1"/>
          </p:nvPr>
        </p:nvSpPr>
        <p:spPr>
          <a:xfrm>
            <a:off x="6221598" y="1803797"/>
            <a:ext cx="3504858" cy="533003"/>
          </a:xfrm>
        </p:spPr>
        <p:txBody>
          <a:bodyPr/>
          <a:lstStyle>
            <a:lvl1pPr>
              <a:defRPr b="1">
                <a:solidFill>
                  <a:srgbClr val="599A83"/>
                </a:solidFill>
              </a:defRPr>
            </a:lvl1pPr>
          </a:lstStyle>
          <a:p>
            <a:pPr lvl="0"/>
            <a:r>
              <a:rPr lang="en-CA" dirty="0"/>
              <a:t>Author Name</a:t>
            </a:r>
          </a:p>
        </p:txBody>
      </p:sp>
      <p:sp>
        <p:nvSpPr>
          <p:cNvPr id="13" name="Text Placeholder 12"/>
          <p:cNvSpPr>
            <a:spLocks noGrp="1"/>
          </p:cNvSpPr>
          <p:nvPr>
            <p:ph type="body" sz="quarter" idx="19" hasCustomPrompt="1"/>
          </p:nvPr>
        </p:nvSpPr>
        <p:spPr>
          <a:xfrm>
            <a:off x="6221598" y="4498182"/>
            <a:ext cx="3504858" cy="532904"/>
          </a:xfrm>
        </p:spPr>
        <p:txBody>
          <a:bodyPr anchor="b"/>
          <a:lstStyle>
            <a:lvl1pPr>
              <a:defRPr sz="1575"/>
            </a:lvl1pPr>
          </a:lstStyle>
          <a:p>
            <a:pPr lvl="0"/>
            <a:r>
              <a:rPr lang="en-CA" dirty="0"/>
              <a:t>Author email</a:t>
            </a:r>
          </a:p>
        </p:txBody>
      </p:sp>
    </p:spTree>
    <p:extLst>
      <p:ext uri="{BB962C8B-B14F-4D97-AF65-F5344CB8AC3E}">
        <p14:creationId xmlns:p14="http://schemas.microsoft.com/office/powerpoint/2010/main" val="271841462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Authors">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622300" y="1803797"/>
            <a:ext cx="1625307" cy="1509752"/>
          </a:xfrm>
        </p:spPr>
        <p:txBody>
          <a:bodyPr/>
          <a:lstStyle/>
          <a:p>
            <a:r>
              <a:rPr lang="en-US" dirty="0"/>
              <a:t>Author Photo</a:t>
            </a:r>
          </a:p>
        </p:txBody>
      </p:sp>
      <p:sp>
        <p:nvSpPr>
          <p:cNvPr id="11" name="Text Placeholder 10"/>
          <p:cNvSpPr>
            <a:spLocks noGrp="1"/>
          </p:cNvSpPr>
          <p:nvPr>
            <p:ph type="body" sz="quarter" idx="17" hasCustomPrompt="1"/>
          </p:nvPr>
        </p:nvSpPr>
        <p:spPr>
          <a:xfrm>
            <a:off x="2488956" y="2336800"/>
            <a:ext cx="3504744" cy="1790700"/>
          </a:xfrm>
        </p:spPr>
        <p:txBody>
          <a:bodyPr anchor="t"/>
          <a:lstStyle/>
          <a:p>
            <a:pPr lvl="0"/>
            <a:r>
              <a:rPr lang="en-CA" dirty="0"/>
              <a:t>Author description</a:t>
            </a:r>
          </a:p>
        </p:txBody>
      </p:sp>
      <p:sp>
        <p:nvSpPr>
          <p:cNvPr id="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About the Author (2 authors)</a:t>
            </a:r>
            <a:endParaRPr lang="en-US" dirty="0"/>
          </a:p>
        </p:txBody>
      </p:sp>
      <p:sp>
        <p:nvSpPr>
          <p:cNvPr id="7" name="Text Placeholder 6"/>
          <p:cNvSpPr>
            <a:spLocks noGrp="1"/>
          </p:cNvSpPr>
          <p:nvPr>
            <p:ph type="body" sz="quarter" idx="18" hasCustomPrompt="1"/>
          </p:nvPr>
        </p:nvSpPr>
        <p:spPr>
          <a:xfrm>
            <a:off x="2488365" y="1803797"/>
            <a:ext cx="3504858" cy="533003"/>
          </a:xfrm>
        </p:spPr>
        <p:txBody>
          <a:bodyPr/>
          <a:lstStyle>
            <a:lvl1pPr>
              <a:defRPr b="1">
                <a:solidFill>
                  <a:srgbClr val="599A83"/>
                </a:solidFill>
              </a:defRPr>
            </a:lvl1pPr>
          </a:lstStyle>
          <a:p>
            <a:pPr lvl="0"/>
            <a:r>
              <a:rPr lang="en-CA" dirty="0"/>
              <a:t>Author 1 Name</a:t>
            </a:r>
          </a:p>
        </p:txBody>
      </p:sp>
      <p:sp>
        <p:nvSpPr>
          <p:cNvPr id="13" name="Text Placeholder 12"/>
          <p:cNvSpPr>
            <a:spLocks noGrp="1"/>
          </p:cNvSpPr>
          <p:nvPr>
            <p:ph type="body" sz="quarter" idx="19" hasCustomPrompt="1"/>
          </p:nvPr>
        </p:nvSpPr>
        <p:spPr>
          <a:xfrm>
            <a:off x="2488365" y="4127500"/>
            <a:ext cx="3504858" cy="532904"/>
          </a:xfrm>
        </p:spPr>
        <p:txBody>
          <a:bodyPr anchor="b"/>
          <a:lstStyle>
            <a:lvl1pPr>
              <a:defRPr sz="1575"/>
            </a:lvl1pPr>
          </a:lstStyle>
          <a:p>
            <a:pPr lvl="0"/>
            <a:r>
              <a:rPr lang="en-CA" dirty="0"/>
              <a:t>Author email</a:t>
            </a:r>
          </a:p>
        </p:txBody>
      </p:sp>
      <p:sp>
        <p:nvSpPr>
          <p:cNvPr id="9" name="Picture Placeholder 4"/>
          <p:cNvSpPr>
            <a:spLocks noGrp="1"/>
          </p:cNvSpPr>
          <p:nvPr>
            <p:ph type="pic" sz="quarter" idx="20" hasCustomPrompt="1"/>
          </p:nvPr>
        </p:nvSpPr>
        <p:spPr>
          <a:xfrm>
            <a:off x="6222271" y="1803797"/>
            <a:ext cx="1625307" cy="1509752"/>
          </a:xfrm>
        </p:spPr>
        <p:txBody>
          <a:bodyPr/>
          <a:lstStyle/>
          <a:p>
            <a:r>
              <a:rPr lang="en-US" dirty="0"/>
              <a:t>Author Photo</a:t>
            </a:r>
          </a:p>
        </p:txBody>
      </p:sp>
      <p:sp>
        <p:nvSpPr>
          <p:cNvPr id="10" name="Text Placeholder 10"/>
          <p:cNvSpPr>
            <a:spLocks noGrp="1"/>
          </p:cNvSpPr>
          <p:nvPr>
            <p:ph type="body" sz="quarter" idx="21" hasCustomPrompt="1"/>
          </p:nvPr>
        </p:nvSpPr>
        <p:spPr>
          <a:xfrm>
            <a:off x="8088927" y="2336800"/>
            <a:ext cx="3504744" cy="1790700"/>
          </a:xfrm>
        </p:spPr>
        <p:txBody>
          <a:bodyPr anchor="t"/>
          <a:lstStyle/>
          <a:p>
            <a:pPr lvl="0"/>
            <a:r>
              <a:rPr lang="en-CA" dirty="0"/>
              <a:t>Author description</a:t>
            </a:r>
          </a:p>
        </p:txBody>
      </p:sp>
      <p:sp>
        <p:nvSpPr>
          <p:cNvPr id="12" name="Text Placeholder 6"/>
          <p:cNvSpPr>
            <a:spLocks noGrp="1"/>
          </p:cNvSpPr>
          <p:nvPr>
            <p:ph type="body" sz="quarter" idx="22" hasCustomPrompt="1"/>
          </p:nvPr>
        </p:nvSpPr>
        <p:spPr>
          <a:xfrm>
            <a:off x="8088336" y="1803797"/>
            <a:ext cx="3504858" cy="533003"/>
          </a:xfrm>
        </p:spPr>
        <p:txBody>
          <a:bodyPr/>
          <a:lstStyle>
            <a:lvl1pPr>
              <a:defRPr b="1">
                <a:solidFill>
                  <a:srgbClr val="599A83"/>
                </a:solidFill>
              </a:defRPr>
            </a:lvl1pPr>
          </a:lstStyle>
          <a:p>
            <a:pPr lvl="0"/>
            <a:r>
              <a:rPr lang="en-CA" dirty="0"/>
              <a:t>Author 2 Name</a:t>
            </a:r>
          </a:p>
        </p:txBody>
      </p:sp>
      <p:sp>
        <p:nvSpPr>
          <p:cNvPr id="14" name="Text Placeholder 12"/>
          <p:cNvSpPr>
            <a:spLocks noGrp="1"/>
          </p:cNvSpPr>
          <p:nvPr>
            <p:ph type="body" sz="quarter" idx="23" hasCustomPrompt="1"/>
          </p:nvPr>
        </p:nvSpPr>
        <p:spPr>
          <a:xfrm>
            <a:off x="8088336" y="4127500"/>
            <a:ext cx="3504858" cy="532904"/>
          </a:xfrm>
        </p:spPr>
        <p:txBody>
          <a:bodyPr anchor="b"/>
          <a:lstStyle>
            <a:lvl1pPr>
              <a:defRPr sz="1575"/>
            </a:lvl1pPr>
          </a:lstStyle>
          <a:p>
            <a:pPr lvl="0"/>
            <a:r>
              <a:rPr lang="en-CA" dirty="0"/>
              <a:t>Author email</a:t>
            </a:r>
          </a:p>
        </p:txBody>
      </p:sp>
      <p:pic>
        <p:nvPicPr>
          <p:cNvPr id="15" name="Picture 14" descr="curtain-100.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524369"/>
            <a:ext cx="12192000" cy="1333631"/>
          </a:xfrm>
          <a:prstGeom prst="rect">
            <a:avLst/>
          </a:prstGeom>
        </p:spPr>
      </p:pic>
    </p:spTree>
    <p:extLst>
      <p:ext uri="{BB962C8B-B14F-4D97-AF65-F5344CB8AC3E}">
        <p14:creationId xmlns:p14="http://schemas.microsoft.com/office/powerpoint/2010/main" val="26706501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609602" y="1803401"/>
            <a:ext cx="8710984"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5" name="Picture 14"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2374903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Col Key Point, No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609602" y="495299"/>
            <a:ext cx="8710984" cy="5156201"/>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A basic 1-column key point slide with no title. 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4" name="Picture 1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633260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2-column key point slide</a:t>
            </a:r>
            <a:endParaRPr lang="en-US" dirty="0"/>
          </a:p>
        </p:txBody>
      </p:sp>
      <p:sp>
        <p:nvSpPr>
          <p:cNvPr id="14" name="Text Placeholder 5"/>
          <p:cNvSpPr>
            <a:spLocks noGrp="1"/>
          </p:cNvSpPr>
          <p:nvPr>
            <p:ph type="body" sz="quarter" idx="15" hasCustomPrompt="1"/>
          </p:nvPr>
        </p:nvSpPr>
        <p:spPr>
          <a:xfrm>
            <a:off x="609602" y="1803401"/>
            <a:ext cx="5371319"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6222270" y="1803401"/>
            <a:ext cx="5360131"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7" name="Picture 16"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8" name="Picture 1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9"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3065025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basic 2-column key point text slide with subtitles</a:t>
            </a:r>
            <a:endParaRPr lang="en-US" dirty="0"/>
          </a:p>
        </p:txBody>
      </p:sp>
      <p:sp>
        <p:nvSpPr>
          <p:cNvPr id="14" name="Text Placeholder 5"/>
          <p:cNvSpPr>
            <a:spLocks noGrp="1"/>
          </p:cNvSpPr>
          <p:nvPr>
            <p:ph type="body" sz="quarter" idx="15" hasCustomPrompt="1"/>
          </p:nvPr>
        </p:nvSpPr>
        <p:spPr>
          <a:xfrm>
            <a:off x="609602" y="2336799"/>
            <a:ext cx="5371319" cy="3314701"/>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6222270" y="2336799"/>
            <a:ext cx="5360131" cy="3314702"/>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6"/>
          <p:cNvSpPr>
            <a:spLocks noGrp="1"/>
          </p:cNvSpPr>
          <p:nvPr>
            <p:ph type="body" sz="quarter" idx="18" hasCustomPrompt="1"/>
          </p:nvPr>
        </p:nvSpPr>
        <p:spPr>
          <a:xfrm>
            <a:off x="609603" y="1803797"/>
            <a:ext cx="5371319" cy="533003"/>
          </a:xfrm>
        </p:spPr>
        <p:txBody>
          <a:bodyPr/>
          <a:lstStyle>
            <a:lvl1pPr>
              <a:defRPr b="1">
                <a:solidFill>
                  <a:srgbClr val="599A83"/>
                </a:solidFill>
              </a:defRPr>
            </a:lvl1pPr>
          </a:lstStyle>
          <a:p>
            <a:pPr lvl="0"/>
            <a:r>
              <a:rPr lang="en-CA" dirty="0"/>
              <a:t>Subtitle</a:t>
            </a:r>
          </a:p>
        </p:txBody>
      </p:sp>
      <p:sp>
        <p:nvSpPr>
          <p:cNvPr id="11" name="Text Placeholder 6"/>
          <p:cNvSpPr>
            <a:spLocks noGrp="1"/>
          </p:cNvSpPr>
          <p:nvPr>
            <p:ph type="body" sz="quarter" idx="19" hasCustomPrompt="1"/>
          </p:nvPr>
        </p:nvSpPr>
        <p:spPr>
          <a:xfrm>
            <a:off x="6222270" y="1803797"/>
            <a:ext cx="5360131" cy="533003"/>
          </a:xfrm>
        </p:spPr>
        <p:txBody>
          <a:bodyPr/>
          <a:lstStyle>
            <a:lvl1pPr>
              <a:defRPr b="1">
                <a:solidFill>
                  <a:srgbClr val="599A83"/>
                </a:solidFill>
              </a:defRPr>
            </a:lvl1pPr>
          </a:lstStyle>
          <a:p>
            <a:pPr lvl="0"/>
            <a:r>
              <a:rPr lang="en-CA" dirty="0"/>
              <a:t>Subtitle</a:t>
            </a:r>
          </a:p>
        </p:txBody>
      </p:sp>
      <p:pic>
        <p:nvPicPr>
          <p:cNvPr id="12" name="Picture 11"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3" name="Picture 12"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20"/>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1585081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key point slide</a:t>
            </a:r>
            <a:endParaRPr lang="en-US" dirty="0"/>
          </a:p>
        </p:txBody>
      </p:sp>
      <p:sp>
        <p:nvSpPr>
          <p:cNvPr id="14" name="Text Placeholder 5"/>
          <p:cNvSpPr>
            <a:spLocks noGrp="1"/>
          </p:cNvSpPr>
          <p:nvPr>
            <p:ph type="body" sz="quarter" idx="15" hasCustomPrompt="1"/>
          </p:nvPr>
        </p:nvSpPr>
        <p:spPr>
          <a:xfrm>
            <a:off x="609602" y="1803401"/>
            <a:ext cx="3504662"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4355533" y="1803401"/>
            <a:ext cx="3482660"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8088847" y="1803401"/>
            <a:ext cx="3504744"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1" name="Picture 10"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2" name="Picture 11"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3"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1541746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key point slide with subtitles</a:t>
            </a:r>
            <a:endParaRPr lang="en-US" dirty="0"/>
          </a:p>
        </p:txBody>
      </p:sp>
      <p:sp>
        <p:nvSpPr>
          <p:cNvPr id="14" name="Text Placeholder 5"/>
          <p:cNvSpPr>
            <a:spLocks noGrp="1"/>
          </p:cNvSpPr>
          <p:nvPr>
            <p:ph type="body" sz="quarter" idx="15" hasCustomPrompt="1"/>
          </p:nvPr>
        </p:nvSpPr>
        <p:spPr>
          <a:xfrm>
            <a:off x="609602" y="2336799"/>
            <a:ext cx="3504662"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4355533" y="2336799"/>
            <a:ext cx="3482660"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8088847" y="2336799"/>
            <a:ext cx="3504744"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6"/>
          <p:cNvSpPr>
            <a:spLocks noGrp="1"/>
          </p:cNvSpPr>
          <p:nvPr>
            <p:ph type="body" sz="quarter" idx="18" hasCustomPrompt="1"/>
          </p:nvPr>
        </p:nvSpPr>
        <p:spPr>
          <a:xfrm>
            <a:off x="609603" y="1803797"/>
            <a:ext cx="3504661" cy="533003"/>
          </a:xfrm>
        </p:spPr>
        <p:txBody>
          <a:bodyPr/>
          <a:lstStyle>
            <a:lvl1pPr>
              <a:defRPr b="1">
                <a:solidFill>
                  <a:srgbClr val="599A83"/>
                </a:solidFill>
              </a:defRPr>
            </a:lvl1pPr>
          </a:lstStyle>
          <a:p>
            <a:pPr lvl="0"/>
            <a:r>
              <a:rPr lang="en-CA" dirty="0"/>
              <a:t>Subtitle</a:t>
            </a:r>
          </a:p>
        </p:txBody>
      </p:sp>
      <p:sp>
        <p:nvSpPr>
          <p:cNvPr id="12" name="Text Placeholder 6"/>
          <p:cNvSpPr>
            <a:spLocks noGrp="1"/>
          </p:cNvSpPr>
          <p:nvPr>
            <p:ph type="body" sz="quarter" idx="19" hasCustomPrompt="1"/>
          </p:nvPr>
        </p:nvSpPr>
        <p:spPr>
          <a:xfrm>
            <a:off x="4355533" y="1803797"/>
            <a:ext cx="3482660" cy="533003"/>
          </a:xfrm>
        </p:spPr>
        <p:txBody>
          <a:bodyPr/>
          <a:lstStyle>
            <a:lvl1pPr>
              <a:defRPr b="1">
                <a:solidFill>
                  <a:srgbClr val="599A83"/>
                </a:solidFill>
              </a:defRPr>
            </a:lvl1pPr>
          </a:lstStyle>
          <a:p>
            <a:pPr lvl="0"/>
            <a:r>
              <a:rPr lang="en-CA" dirty="0"/>
              <a:t>Subtitle</a:t>
            </a:r>
          </a:p>
        </p:txBody>
      </p:sp>
      <p:sp>
        <p:nvSpPr>
          <p:cNvPr id="13" name="Text Placeholder 6"/>
          <p:cNvSpPr>
            <a:spLocks noGrp="1"/>
          </p:cNvSpPr>
          <p:nvPr>
            <p:ph type="body" sz="quarter" idx="20" hasCustomPrompt="1"/>
          </p:nvPr>
        </p:nvSpPr>
        <p:spPr>
          <a:xfrm>
            <a:off x="8088847" y="1803797"/>
            <a:ext cx="3504661" cy="533003"/>
          </a:xfrm>
        </p:spPr>
        <p:txBody>
          <a:bodyPr/>
          <a:lstStyle>
            <a:lvl1pPr>
              <a:defRPr b="1">
                <a:solidFill>
                  <a:srgbClr val="599A83"/>
                </a:solidFill>
              </a:defRPr>
            </a:lvl1pPr>
          </a:lstStyle>
          <a:p>
            <a:pPr lvl="0"/>
            <a:r>
              <a:rPr lang="en-CA" dirty="0"/>
              <a:t>Subtitle</a:t>
            </a:r>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21"/>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557442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Point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6-column key point slide</a:t>
            </a:r>
            <a:endParaRPr lang="en-US" dirty="0"/>
          </a:p>
        </p:txBody>
      </p:sp>
      <p:sp>
        <p:nvSpPr>
          <p:cNvPr id="14" name="Text Placeholder 5"/>
          <p:cNvSpPr>
            <a:spLocks noGrp="1"/>
          </p:cNvSpPr>
          <p:nvPr>
            <p:ph type="body" sz="quarter" idx="15" hasCustomPrompt="1"/>
          </p:nvPr>
        </p:nvSpPr>
        <p:spPr>
          <a:xfrm>
            <a:off x="609602" y="1803401"/>
            <a:ext cx="3504662"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4355533" y="1803401"/>
            <a:ext cx="3482660"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8088847" y="1803401"/>
            <a:ext cx="3504744"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609602" y="3848101"/>
            <a:ext cx="3504662"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4355533" y="3848101"/>
            <a:ext cx="3482660"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8088847" y="3848101"/>
            <a:ext cx="3504744"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21"/>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1661038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6-Point Key Point w/ 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6-point key point slide with subtitles</a:t>
            </a:r>
            <a:endParaRPr lang="en-US" dirty="0"/>
          </a:p>
        </p:txBody>
      </p:sp>
      <p:sp>
        <p:nvSpPr>
          <p:cNvPr id="14" name="Text Placeholder 5"/>
          <p:cNvSpPr>
            <a:spLocks noGrp="1"/>
          </p:cNvSpPr>
          <p:nvPr>
            <p:ph type="body" sz="quarter" idx="15" hasCustomPrompt="1"/>
          </p:nvPr>
        </p:nvSpPr>
        <p:spPr>
          <a:xfrm>
            <a:off x="609602" y="2336800"/>
            <a:ext cx="3504662"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4355533" y="2336800"/>
            <a:ext cx="3482660"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8088847" y="2336800"/>
            <a:ext cx="3504744"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609602" y="4393805"/>
            <a:ext cx="3504662"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4355533" y="4393805"/>
            <a:ext cx="3482660"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8088847" y="4393805"/>
            <a:ext cx="3504744"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7" name="Text Placeholder 6"/>
          <p:cNvSpPr>
            <a:spLocks noGrp="1"/>
          </p:cNvSpPr>
          <p:nvPr>
            <p:ph type="body" sz="quarter" idx="21" hasCustomPrompt="1"/>
          </p:nvPr>
        </p:nvSpPr>
        <p:spPr>
          <a:xfrm>
            <a:off x="609603" y="1803797"/>
            <a:ext cx="3504661" cy="533003"/>
          </a:xfrm>
        </p:spPr>
        <p:txBody>
          <a:bodyPr/>
          <a:lstStyle>
            <a:lvl1pPr>
              <a:defRPr b="1">
                <a:solidFill>
                  <a:srgbClr val="599A83"/>
                </a:solidFill>
              </a:defRPr>
            </a:lvl1pPr>
          </a:lstStyle>
          <a:p>
            <a:pPr lvl="0"/>
            <a:r>
              <a:rPr lang="en-CA" dirty="0"/>
              <a:t>Subtitle</a:t>
            </a:r>
          </a:p>
        </p:txBody>
      </p:sp>
      <p:sp>
        <p:nvSpPr>
          <p:cNvPr id="18" name="Text Placeholder 6"/>
          <p:cNvSpPr>
            <a:spLocks noGrp="1"/>
          </p:cNvSpPr>
          <p:nvPr>
            <p:ph type="body" sz="quarter" idx="22" hasCustomPrompt="1"/>
          </p:nvPr>
        </p:nvSpPr>
        <p:spPr>
          <a:xfrm>
            <a:off x="4355533" y="1803797"/>
            <a:ext cx="3482660" cy="533003"/>
          </a:xfrm>
        </p:spPr>
        <p:txBody>
          <a:bodyPr/>
          <a:lstStyle>
            <a:lvl1pPr>
              <a:defRPr b="1">
                <a:solidFill>
                  <a:srgbClr val="599A83"/>
                </a:solidFill>
              </a:defRPr>
            </a:lvl1pPr>
          </a:lstStyle>
          <a:p>
            <a:pPr lvl="0"/>
            <a:r>
              <a:rPr lang="en-CA" dirty="0"/>
              <a:t>Subtitle</a:t>
            </a:r>
          </a:p>
        </p:txBody>
      </p:sp>
      <p:sp>
        <p:nvSpPr>
          <p:cNvPr id="19" name="Text Placeholder 6"/>
          <p:cNvSpPr>
            <a:spLocks noGrp="1"/>
          </p:cNvSpPr>
          <p:nvPr>
            <p:ph type="body" sz="quarter" idx="23" hasCustomPrompt="1"/>
          </p:nvPr>
        </p:nvSpPr>
        <p:spPr>
          <a:xfrm>
            <a:off x="8088847" y="1803797"/>
            <a:ext cx="3504661" cy="533003"/>
          </a:xfrm>
        </p:spPr>
        <p:txBody>
          <a:bodyPr/>
          <a:lstStyle>
            <a:lvl1pPr>
              <a:defRPr b="1">
                <a:solidFill>
                  <a:srgbClr val="599A83"/>
                </a:solidFill>
              </a:defRPr>
            </a:lvl1pPr>
          </a:lstStyle>
          <a:p>
            <a:pPr lvl="0"/>
            <a:r>
              <a:rPr lang="en-CA" dirty="0"/>
              <a:t>Subtitle</a:t>
            </a:r>
          </a:p>
        </p:txBody>
      </p:sp>
      <p:sp>
        <p:nvSpPr>
          <p:cNvPr id="20" name="Text Placeholder 6"/>
          <p:cNvSpPr>
            <a:spLocks noGrp="1"/>
          </p:cNvSpPr>
          <p:nvPr>
            <p:ph type="body" sz="quarter" idx="24" hasCustomPrompt="1"/>
          </p:nvPr>
        </p:nvSpPr>
        <p:spPr>
          <a:xfrm>
            <a:off x="609603" y="3860802"/>
            <a:ext cx="3504661" cy="533003"/>
          </a:xfrm>
        </p:spPr>
        <p:txBody>
          <a:bodyPr/>
          <a:lstStyle>
            <a:lvl1pPr>
              <a:defRPr b="1">
                <a:solidFill>
                  <a:srgbClr val="599A83"/>
                </a:solidFill>
              </a:defRPr>
            </a:lvl1pPr>
          </a:lstStyle>
          <a:p>
            <a:pPr lvl="0"/>
            <a:r>
              <a:rPr lang="en-CA" dirty="0"/>
              <a:t>Subtitle</a:t>
            </a:r>
          </a:p>
        </p:txBody>
      </p:sp>
      <p:sp>
        <p:nvSpPr>
          <p:cNvPr id="21" name="Text Placeholder 6"/>
          <p:cNvSpPr>
            <a:spLocks noGrp="1"/>
          </p:cNvSpPr>
          <p:nvPr>
            <p:ph type="body" sz="quarter" idx="25" hasCustomPrompt="1"/>
          </p:nvPr>
        </p:nvSpPr>
        <p:spPr>
          <a:xfrm>
            <a:off x="4355533" y="3860802"/>
            <a:ext cx="3482660" cy="533003"/>
          </a:xfrm>
        </p:spPr>
        <p:txBody>
          <a:bodyPr/>
          <a:lstStyle>
            <a:lvl1pPr>
              <a:defRPr b="1">
                <a:solidFill>
                  <a:srgbClr val="599A83"/>
                </a:solidFill>
              </a:defRPr>
            </a:lvl1pPr>
          </a:lstStyle>
          <a:p>
            <a:pPr lvl="0"/>
            <a:r>
              <a:rPr lang="en-CA" dirty="0"/>
              <a:t>Subtitle</a:t>
            </a:r>
          </a:p>
        </p:txBody>
      </p:sp>
      <p:sp>
        <p:nvSpPr>
          <p:cNvPr id="22" name="Text Placeholder 6"/>
          <p:cNvSpPr>
            <a:spLocks noGrp="1"/>
          </p:cNvSpPr>
          <p:nvPr>
            <p:ph type="body" sz="quarter" idx="26" hasCustomPrompt="1"/>
          </p:nvPr>
        </p:nvSpPr>
        <p:spPr>
          <a:xfrm>
            <a:off x="8088847" y="3860802"/>
            <a:ext cx="3504661" cy="533003"/>
          </a:xfrm>
        </p:spPr>
        <p:txBody>
          <a:bodyPr/>
          <a:lstStyle>
            <a:lvl1pPr>
              <a:defRPr b="1">
                <a:solidFill>
                  <a:srgbClr val="599A83"/>
                </a:solidFill>
              </a:defRPr>
            </a:lvl1pPr>
          </a:lstStyle>
          <a:p>
            <a:pPr lvl="0"/>
            <a:r>
              <a:rPr lang="en-CA" dirty="0"/>
              <a:t>Subtitle</a:t>
            </a:r>
          </a:p>
        </p:txBody>
      </p:sp>
      <p:pic>
        <p:nvPicPr>
          <p:cNvPr id="23" name="Picture 2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4" name="Picture 2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5" name="Slide Number Placeholder 8"/>
          <p:cNvSpPr>
            <a:spLocks noGrp="1"/>
          </p:cNvSpPr>
          <p:nvPr>
            <p:ph type="sldNum" sz="quarter" idx="27"/>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27394377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Col Bulk Conte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1-column bulk content slide for long content.</a:t>
            </a:r>
            <a:endParaRPr lang="en-US" dirty="0"/>
          </a:p>
        </p:txBody>
      </p:sp>
      <p:sp>
        <p:nvSpPr>
          <p:cNvPr id="12" name="Text Placeholder 5"/>
          <p:cNvSpPr>
            <a:spLocks noGrp="1"/>
          </p:cNvSpPr>
          <p:nvPr>
            <p:ph type="body" sz="quarter" idx="15" hasCustomPrompt="1"/>
          </p:nvPr>
        </p:nvSpPr>
        <p:spPr>
          <a:xfrm>
            <a:off x="609602" y="1803401"/>
            <a:ext cx="8710984" cy="3848100"/>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solidFill>
                  <a:srgbClr val="599A83"/>
                </a:solidFill>
              </a:defRPr>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4" name="Picture 1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468987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Col Bulk Content, No Title">
    <p:bg>
      <p:bgPr>
        <a:solidFill>
          <a:schemeClr val="bg1"/>
        </a:solidFill>
        <a:effectLst/>
      </p:bgPr>
    </p:bg>
    <p:spTree>
      <p:nvGrpSpPr>
        <p:cNvPr id="1" name=""/>
        <p:cNvGrpSpPr/>
        <p:nvPr/>
      </p:nvGrpSpPr>
      <p:grpSpPr>
        <a:xfrm>
          <a:off x="0" y="0"/>
          <a:ext cx="0" cy="0"/>
          <a:chOff x="0" y="0"/>
          <a:chExt cx="0" cy="0"/>
        </a:xfrm>
      </p:grpSpPr>
      <p:sp>
        <p:nvSpPr>
          <p:cNvPr id="11" name="Text Placeholder 5"/>
          <p:cNvSpPr>
            <a:spLocks noGrp="1"/>
          </p:cNvSpPr>
          <p:nvPr>
            <p:ph type="body" sz="quarter" idx="15" hasCustomPrompt="1"/>
          </p:nvPr>
        </p:nvSpPr>
        <p:spPr>
          <a:xfrm>
            <a:off x="609602" y="495299"/>
            <a:ext cx="8710984" cy="5156202"/>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solidFill>
                  <a:srgbClr val="599A83"/>
                </a:solidFill>
              </a:defRPr>
            </a:lvl4pPr>
          </a:lstStyle>
          <a:p>
            <a:pPr lvl="0"/>
            <a:r>
              <a:rPr lang="en-CA" dirty="0"/>
              <a:t>This is a 1-column bulk content slide without a title. 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5" name="Picture 14"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29391882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2-column bulk content slide for long content.</a:t>
            </a:r>
            <a:endParaRPr lang="en-US" dirty="0"/>
          </a:p>
        </p:txBody>
      </p:sp>
      <p:sp>
        <p:nvSpPr>
          <p:cNvPr id="12" name="Text Placeholder 5"/>
          <p:cNvSpPr>
            <a:spLocks noGrp="1"/>
          </p:cNvSpPr>
          <p:nvPr>
            <p:ph type="body" sz="quarter" idx="15" hasCustomPrompt="1"/>
          </p:nvPr>
        </p:nvSpPr>
        <p:spPr>
          <a:xfrm>
            <a:off x="609602" y="2336799"/>
            <a:ext cx="5371319"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6222269" y="2336799"/>
            <a:ext cx="5360131"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609602" y="1803797"/>
            <a:ext cx="5371318"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6222268" y="1803797"/>
            <a:ext cx="5360131" cy="533003"/>
          </a:xfrm>
        </p:spPr>
        <p:txBody>
          <a:bodyPr/>
          <a:lstStyle>
            <a:lvl1pPr>
              <a:defRPr sz="1575" b="1">
                <a:solidFill>
                  <a:srgbClr val="599A83"/>
                </a:solidFill>
              </a:defRPr>
            </a:lvl1pPr>
          </a:lstStyle>
          <a:p>
            <a:pPr lvl="0"/>
            <a:r>
              <a:rPr lang="en-CA" dirty="0"/>
              <a:t>Bulk content columns always have subtitles</a:t>
            </a:r>
          </a:p>
        </p:txBody>
      </p:sp>
      <p:pic>
        <p:nvPicPr>
          <p:cNvPr id="17" name="Picture 16"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8" name="Picture 1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9"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1763165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bulk content slide for long content.</a:t>
            </a:r>
            <a:endParaRPr lang="en-US" dirty="0"/>
          </a:p>
        </p:txBody>
      </p:sp>
      <p:sp>
        <p:nvSpPr>
          <p:cNvPr id="12" name="Text Placeholder 5"/>
          <p:cNvSpPr>
            <a:spLocks noGrp="1"/>
          </p:cNvSpPr>
          <p:nvPr>
            <p:ph type="body" sz="quarter" idx="15" hasCustomPrompt="1"/>
          </p:nvPr>
        </p:nvSpPr>
        <p:spPr>
          <a:xfrm>
            <a:off x="609602" y="2336799"/>
            <a:ext cx="3504662"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8088848" y="2336799"/>
            <a:ext cx="3493552"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609603" y="1803797"/>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088847" y="1803797"/>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4355535" y="2336799"/>
            <a:ext cx="3482658"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8" name="Text Placeholder 6"/>
          <p:cNvSpPr>
            <a:spLocks noGrp="1"/>
          </p:cNvSpPr>
          <p:nvPr>
            <p:ph type="body" sz="quarter" idx="25" hasCustomPrompt="1"/>
          </p:nvPr>
        </p:nvSpPr>
        <p:spPr>
          <a:xfrm>
            <a:off x="4355534" y="1803797"/>
            <a:ext cx="3482658" cy="533003"/>
          </a:xfrm>
        </p:spPr>
        <p:txBody>
          <a:bodyPr/>
          <a:lstStyle>
            <a:lvl1pPr>
              <a:defRPr sz="1575" b="1">
                <a:solidFill>
                  <a:srgbClr val="599A83"/>
                </a:solidFill>
              </a:defRPr>
            </a:lvl1pPr>
          </a:lstStyle>
          <a:p>
            <a:pPr lvl="0"/>
            <a:r>
              <a:rPr lang="en-CA" dirty="0"/>
              <a:t>Bulk content columns always have subtitles</a:t>
            </a:r>
          </a:p>
        </p:txBody>
      </p:sp>
      <p:pic>
        <p:nvPicPr>
          <p:cNvPr id="19" name="Picture 18"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0" name="Picture 19"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1"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40905594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6-Point Bulk Content">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30" hasCustomPrompt="1"/>
          </p:nvPr>
        </p:nvSpPr>
        <p:spPr>
          <a:xfrm>
            <a:off x="609602" y="4393804"/>
            <a:ext cx="350466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28" name="Text Placeholder 5"/>
          <p:cNvSpPr>
            <a:spLocks noGrp="1"/>
          </p:cNvSpPr>
          <p:nvPr>
            <p:ph type="body" sz="quarter" idx="31" hasCustomPrompt="1"/>
          </p:nvPr>
        </p:nvSpPr>
        <p:spPr>
          <a:xfrm>
            <a:off x="8088848" y="4393804"/>
            <a:ext cx="349355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29" name="Text Placeholder 6"/>
          <p:cNvSpPr>
            <a:spLocks noGrp="1"/>
          </p:cNvSpPr>
          <p:nvPr>
            <p:ph type="body" sz="quarter" idx="32" hasCustomPrompt="1"/>
          </p:nvPr>
        </p:nvSpPr>
        <p:spPr>
          <a:xfrm>
            <a:off x="609603" y="3860802"/>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30" name="Text Placeholder 6"/>
          <p:cNvSpPr>
            <a:spLocks noGrp="1"/>
          </p:cNvSpPr>
          <p:nvPr>
            <p:ph type="body" sz="quarter" idx="33" hasCustomPrompt="1"/>
          </p:nvPr>
        </p:nvSpPr>
        <p:spPr>
          <a:xfrm>
            <a:off x="8088847" y="3860802"/>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31" name="Text Placeholder 5"/>
          <p:cNvSpPr>
            <a:spLocks noGrp="1"/>
          </p:cNvSpPr>
          <p:nvPr>
            <p:ph type="body" sz="quarter" idx="34" hasCustomPrompt="1"/>
          </p:nvPr>
        </p:nvSpPr>
        <p:spPr>
          <a:xfrm>
            <a:off x="4355535" y="4393804"/>
            <a:ext cx="3482658"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32" name="Text Placeholder 6"/>
          <p:cNvSpPr>
            <a:spLocks noGrp="1"/>
          </p:cNvSpPr>
          <p:nvPr>
            <p:ph type="body" sz="quarter" idx="35" hasCustomPrompt="1"/>
          </p:nvPr>
        </p:nvSpPr>
        <p:spPr>
          <a:xfrm>
            <a:off x="4355534" y="3860802"/>
            <a:ext cx="3482658" cy="533003"/>
          </a:xfrm>
        </p:spPr>
        <p:txBody>
          <a:bodyPr/>
          <a:lstStyle>
            <a:lvl1pPr>
              <a:defRPr sz="1575" b="1">
                <a:solidFill>
                  <a:srgbClr val="599A83"/>
                </a:solidFill>
              </a:defRPr>
            </a:lvl1pPr>
          </a:lstStyle>
          <a:p>
            <a:pPr lvl="0"/>
            <a:r>
              <a:rPr lang="en-CA" dirty="0"/>
              <a:t>Bulk content columns always have subtitles</a:t>
            </a:r>
          </a:p>
        </p:txBody>
      </p:sp>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6-point bulk content slide for long content.</a:t>
            </a:r>
            <a:endParaRPr lang="en-US" dirty="0"/>
          </a:p>
        </p:txBody>
      </p:sp>
      <p:sp>
        <p:nvSpPr>
          <p:cNvPr id="12" name="Text Placeholder 5"/>
          <p:cNvSpPr>
            <a:spLocks noGrp="1"/>
          </p:cNvSpPr>
          <p:nvPr>
            <p:ph type="body" sz="quarter" idx="15" hasCustomPrompt="1"/>
          </p:nvPr>
        </p:nvSpPr>
        <p:spPr>
          <a:xfrm>
            <a:off x="609602" y="2336800"/>
            <a:ext cx="350466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4" name="Text Placeholder 5"/>
          <p:cNvSpPr>
            <a:spLocks noGrp="1"/>
          </p:cNvSpPr>
          <p:nvPr>
            <p:ph type="body" sz="quarter" idx="18" hasCustomPrompt="1"/>
          </p:nvPr>
        </p:nvSpPr>
        <p:spPr>
          <a:xfrm>
            <a:off x="8088848" y="2336800"/>
            <a:ext cx="349355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5" name="Text Placeholder 6"/>
          <p:cNvSpPr>
            <a:spLocks noGrp="1"/>
          </p:cNvSpPr>
          <p:nvPr>
            <p:ph type="body" sz="quarter" idx="21" hasCustomPrompt="1"/>
          </p:nvPr>
        </p:nvSpPr>
        <p:spPr>
          <a:xfrm>
            <a:off x="609603" y="1803797"/>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088847" y="1803797"/>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4355535" y="2336800"/>
            <a:ext cx="3482658"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8" name="Text Placeholder 6"/>
          <p:cNvSpPr>
            <a:spLocks noGrp="1"/>
          </p:cNvSpPr>
          <p:nvPr>
            <p:ph type="body" sz="quarter" idx="25" hasCustomPrompt="1"/>
          </p:nvPr>
        </p:nvSpPr>
        <p:spPr>
          <a:xfrm>
            <a:off x="4355534" y="1803797"/>
            <a:ext cx="3482658" cy="533003"/>
          </a:xfrm>
        </p:spPr>
        <p:txBody>
          <a:bodyPr/>
          <a:lstStyle>
            <a:lvl1pPr>
              <a:defRPr sz="1575" b="1">
                <a:solidFill>
                  <a:srgbClr val="599A83"/>
                </a:solidFill>
              </a:defRPr>
            </a:lvl1pPr>
          </a:lstStyle>
          <a:p>
            <a:pPr lvl="0"/>
            <a:r>
              <a:rPr lang="en-CA" dirty="0"/>
              <a:t>Bulk content columns always have subtitles</a:t>
            </a:r>
          </a:p>
        </p:txBody>
      </p:sp>
      <p:pic>
        <p:nvPicPr>
          <p:cNvPr id="33" name="Picture 3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34" name="Picture 3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3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709862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Key Numbers Large">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2895600"/>
            <a:ext cx="3504662" cy="2759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4355533" y="2895600"/>
            <a:ext cx="3482660" cy="2759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8088847" y="2895600"/>
            <a:ext cx="3504744" cy="2759354"/>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609601" y="1856581"/>
            <a:ext cx="3504663" cy="919747"/>
          </a:xfrm>
        </p:spPr>
        <p:txBody>
          <a:bodyPr anchor="b"/>
          <a:lstStyle>
            <a:lvl1pPr>
              <a:lnSpc>
                <a:spcPct val="80000"/>
              </a:lnSpc>
              <a:defRPr sz="8399">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4355534" y="1856581"/>
            <a:ext cx="3482659" cy="919747"/>
          </a:xfrm>
        </p:spPr>
        <p:txBody>
          <a:bodyPr anchor="b"/>
          <a:lstStyle>
            <a:lvl1pPr>
              <a:lnSpc>
                <a:spcPct val="80000"/>
              </a:lnSpc>
              <a:defRPr sz="8399">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8088847" y="1856581"/>
            <a:ext cx="3504744" cy="919747"/>
          </a:xfrm>
        </p:spPr>
        <p:txBody>
          <a:bodyPr anchor="b"/>
          <a:lstStyle>
            <a:lvl1pPr>
              <a:lnSpc>
                <a:spcPct val="80000"/>
              </a:lnSpc>
              <a:defRPr sz="8399">
                <a:solidFill>
                  <a:srgbClr val="599A83"/>
                </a:solidFill>
              </a:defRPr>
            </a:lvl1pPr>
          </a:lstStyle>
          <a:p>
            <a:pPr lvl="0"/>
            <a:r>
              <a:rPr lang="en-CA" dirty="0"/>
              <a:t>#,###</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key numbers slide for short numbers.</a:t>
            </a:r>
            <a:endParaRPr lang="en-US" dirty="0"/>
          </a:p>
        </p:txBody>
      </p:sp>
      <p:pic>
        <p:nvPicPr>
          <p:cNvPr id="33" name="Picture 3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34" name="Picture 3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35" name="Slide Number Placeholder 8"/>
          <p:cNvSpPr>
            <a:spLocks noGrp="1"/>
          </p:cNvSpPr>
          <p:nvPr>
            <p:ph type="sldNum" sz="quarter" idx="24"/>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36479436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Key Numbers Medium">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2776327"/>
            <a:ext cx="3504662" cy="2878627"/>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4355533" y="2776327"/>
            <a:ext cx="3482660" cy="2878627"/>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8088847" y="2776327"/>
            <a:ext cx="3504744" cy="2878627"/>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609601" y="1831182"/>
            <a:ext cx="3504663" cy="945146"/>
          </a:xfrm>
        </p:spPr>
        <p:txBody>
          <a:bodyPr anchor="t"/>
          <a:lstStyle>
            <a:lvl1pPr>
              <a:lnSpc>
                <a:spcPct val="80000"/>
              </a:lnSpc>
              <a:defRPr sz="5399">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4355534" y="1856581"/>
            <a:ext cx="3482659" cy="919747"/>
          </a:xfrm>
        </p:spPr>
        <p:txBody>
          <a:bodyPr anchor="t"/>
          <a:lstStyle>
            <a:lvl1pPr>
              <a:lnSpc>
                <a:spcPct val="80000"/>
              </a:lnSpc>
              <a:defRPr sz="5399">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8088847" y="1856581"/>
            <a:ext cx="3504744" cy="919747"/>
          </a:xfrm>
        </p:spPr>
        <p:txBody>
          <a:bodyPr anchor="t"/>
          <a:lstStyle>
            <a:lvl1pPr>
              <a:lnSpc>
                <a:spcPct val="80000"/>
              </a:lnSpc>
              <a:defRPr sz="5399">
                <a:solidFill>
                  <a:srgbClr val="599A83"/>
                </a:solidFill>
              </a:defRPr>
            </a:lvl1pPr>
          </a:lstStyle>
          <a:p>
            <a:pPr lvl="0"/>
            <a:r>
              <a:rPr lang="en-CA" dirty="0"/>
              <a:t>#,###,####</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key numbers slide for long numbers.</a:t>
            </a:r>
            <a:endParaRPr lang="en-US" dirty="0"/>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6" name="Picture 15"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7" name="Slide Number Placeholder 8"/>
          <p:cNvSpPr>
            <a:spLocks noGrp="1"/>
          </p:cNvSpPr>
          <p:nvPr>
            <p:ph type="sldNum" sz="quarter" idx="24"/>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42629044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Key Points with Icons">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3403600"/>
            <a:ext cx="3504662" cy="2251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3" name="Text Placeholder 5"/>
          <p:cNvSpPr>
            <a:spLocks noGrp="1"/>
          </p:cNvSpPr>
          <p:nvPr>
            <p:ph type="body" sz="quarter" idx="19" hasCustomPrompt="1"/>
          </p:nvPr>
        </p:nvSpPr>
        <p:spPr>
          <a:xfrm>
            <a:off x="4355533" y="3403600"/>
            <a:ext cx="3482660" cy="2251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6" name="Text Placeholder 5"/>
          <p:cNvSpPr>
            <a:spLocks noGrp="1"/>
          </p:cNvSpPr>
          <p:nvPr>
            <p:ph type="body" sz="quarter" idx="23" hasCustomPrompt="1"/>
          </p:nvPr>
        </p:nvSpPr>
        <p:spPr>
          <a:xfrm>
            <a:off x="8088847" y="3403600"/>
            <a:ext cx="3504744" cy="2251354"/>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chemeClr val="accent1"/>
                </a:solidFill>
              </a:defRPr>
            </a:lvl1pPr>
          </a:lstStyle>
          <a:p>
            <a:r>
              <a:rPr lang="en-CA" dirty="0"/>
              <a:t>This is a key point slide with icons to illustrate points.</a:t>
            </a:r>
            <a:endParaRPr lang="en-US" dirty="0"/>
          </a:p>
        </p:txBody>
      </p:sp>
      <p:sp>
        <p:nvSpPr>
          <p:cNvPr id="12" name="Oval 11"/>
          <p:cNvSpPr/>
          <p:nvPr/>
        </p:nvSpPr>
        <p:spPr>
          <a:xfrm>
            <a:off x="546048"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3" name="Picture Placeholder 3"/>
          <p:cNvSpPr>
            <a:spLocks noGrp="1" noChangeAspect="1"/>
          </p:cNvSpPr>
          <p:nvPr>
            <p:ph type="pic" sz="quarter" idx="26" hasCustomPrompt="1"/>
          </p:nvPr>
        </p:nvSpPr>
        <p:spPr>
          <a:xfrm>
            <a:off x="880138" y="2175520"/>
            <a:ext cx="648524" cy="648000"/>
          </a:xfrm>
        </p:spPr>
        <p:txBody>
          <a:bodyPr/>
          <a:lstStyle>
            <a:lvl1pPr>
              <a:defRPr>
                <a:solidFill>
                  <a:schemeClr val="bg1"/>
                </a:solidFill>
              </a:defRPr>
            </a:lvl1pPr>
          </a:lstStyle>
          <a:p>
            <a:r>
              <a:rPr lang="en-US" dirty="0"/>
              <a:t>Icon</a:t>
            </a:r>
          </a:p>
        </p:txBody>
      </p:sp>
      <p:sp>
        <p:nvSpPr>
          <p:cNvPr id="14" name="Oval 13"/>
          <p:cNvSpPr/>
          <p:nvPr/>
        </p:nvSpPr>
        <p:spPr>
          <a:xfrm>
            <a:off x="4292041"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5" name="Picture Placeholder 3"/>
          <p:cNvSpPr>
            <a:spLocks noGrp="1" noChangeAspect="1"/>
          </p:cNvSpPr>
          <p:nvPr>
            <p:ph type="pic" sz="quarter" idx="27" hasCustomPrompt="1"/>
          </p:nvPr>
        </p:nvSpPr>
        <p:spPr>
          <a:xfrm>
            <a:off x="4626130" y="2175520"/>
            <a:ext cx="648523" cy="648000"/>
          </a:xfrm>
        </p:spPr>
        <p:txBody>
          <a:bodyPr/>
          <a:lstStyle>
            <a:lvl1pPr>
              <a:defRPr>
                <a:solidFill>
                  <a:schemeClr val="bg1"/>
                </a:solidFill>
              </a:defRPr>
            </a:lvl1pPr>
          </a:lstStyle>
          <a:p>
            <a:r>
              <a:rPr lang="en-US" dirty="0"/>
              <a:t>Icon</a:t>
            </a:r>
          </a:p>
        </p:txBody>
      </p:sp>
      <p:sp>
        <p:nvSpPr>
          <p:cNvPr id="16" name="Oval 15"/>
          <p:cNvSpPr/>
          <p:nvPr/>
        </p:nvSpPr>
        <p:spPr>
          <a:xfrm>
            <a:off x="8025355"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7" name="Picture Placeholder 3"/>
          <p:cNvSpPr>
            <a:spLocks noGrp="1" noChangeAspect="1"/>
          </p:cNvSpPr>
          <p:nvPr>
            <p:ph type="pic" sz="quarter" idx="28" hasCustomPrompt="1"/>
          </p:nvPr>
        </p:nvSpPr>
        <p:spPr>
          <a:xfrm>
            <a:off x="8359737" y="2175520"/>
            <a:ext cx="647937" cy="648000"/>
          </a:xfrm>
        </p:spPr>
        <p:txBody>
          <a:bodyPr/>
          <a:lstStyle>
            <a:lvl1pPr>
              <a:defRPr>
                <a:solidFill>
                  <a:schemeClr val="bg1"/>
                </a:solidFill>
              </a:defRPr>
            </a:lvl1pPr>
          </a:lstStyle>
          <a:p>
            <a:r>
              <a:rPr lang="en-US" dirty="0"/>
              <a:t>Icon</a:t>
            </a:r>
          </a:p>
        </p:txBody>
      </p:sp>
      <p:pic>
        <p:nvPicPr>
          <p:cNvPr id="18" name="Picture 17"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9" name="Picture 18"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0" name="Slide Number Placeholder 8"/>
          <p:cNvSpPr>
            <a:spLocks noGrp="1"/>
          </p:cNvSpPr>
          <p:nvPr>
            <p:ph type="sldNum" sz="quarter" idx="2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3262164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Video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5" name="Media Placeholder 4"/>
          <p:cNvSpPr>
            <a:spLocks noGrp="1"/>
          </p:cNvSpPr>
          <p:nvPr>
            <p:ph type="media" sz="quarter" idx="10" hasCustomPrompt="1"/>
          </p:nvPr>
        </p:nvSpPr>
        <p:spPr>
          <a:xfrm>
            <a:off x="2465067" y="622300"/>
            <a:ext cx="7261866" cy="5626100"/>
          </a:xfrm>
        </p:spPr>
        <p:txBody>
          <a:bodyPr/>
          <a:lstStyle>
            <a:lvl1pPr>
              <a:defRPr>
                <a:solidFill>
                  <a:schemeClr val="bg1"/>
                </a:solidFill>
              </a:defRPr>
            </a:lvl1pPr>
          </a:lstStyle>
          <a:p>
            <a:r>
              <a:rPr lang="en-US" dirty="0"/>
              <a:t>Click this icon to insert a video</a:t>
            </a:r>
          </a:p>
        </p:txBody>
      </p:sp>
    </p:spTree>
    <p:extLst>
      <p:ext uri="{BB962C8B-B14F-4D97-AF65-F5344CB8AC3E}">
        <p14:creationId xmlns:p14="http://schemas.microsoft.com/office/powerpoint/2010/main" val="5876916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s or Stats V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3" name="Rectangle 2"/>
          <p:cNvSpPr/>
          <p:nvPr/>
        </p:nvSpPr>
        <p:spPr>
          <a:xfrm>
            <a:off x="603966" y="628650"/>
            <a:ext cx="10984069" cy="56007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2" name="Title 1"/>
          <p:cNvSpPr>
            <a:spLocks noGrp="1"/>
          </p:cNvSpPr>
          <p:nvPr>
            <p:ph type="title" hasCustomPrompt="1"/>
          </p:nvPr>
        </p:nvSpPr>
        <p:spPr>
          <a:xfrm>
            <a:off x="2465067" y="2090307"/>
            <a:ext cx="7261866" cy="2619502"/>
          </a:xfrm>
        </p:spPr>
        <p:txBody>
          <a:bodyPr/>
          <a:lstStyle>
            <a:lvl1pPr algn="ctr">
              <a:lnSpc>
                <a:spcPct val="110000"/>
              </a:lnSpc>
              <a:defRPr sz="3600" baseline="0">
                <a:solidFill>
                  <a:srgbClr val="599A83"/>
                </a:solidFill>
              </a:defRPr>
            </a:lvl1pPr>
          </a:lstStyle>
          <a:p>
            <a:r>
              <a:rPr lang="en-CA" dirty="0"/>
              <a:t>Enter an impressive statistic or fact. e.g. 98% of Algonquin students have been hired immediately after graduation.</a:t>
            </a:r>
            <a:endParaRPr lang="en-US" dirty="0"/>
          </a:p>
        </p:txBody>
      </p:sp>
      <p:sp>
        <p:nvSpPr>
          <p:cNvPr id="7" name="Text Placeholder 6"/>
          <p:cNvSpPr>
            <a:spLocks noGrp="1"/>
          </p:cNvSpPr>
          <p:nvPr>
            <p:ph type="body" sz="quarter" idx="13" hasCustomPrompt="1"/>
          </p:nvPr>
        </p:nvSpPr>
        <p:spPr>
          <a:xfrm>
            <a:off x="2465067" y="1593878"/>
            <a:ext cx="7261866" cy="383034"/>
          </a:xfrm>
        </p:spPr>
        <p:txBody>
          <a:bodyPr anchor="ctr"/>
          <a:lstStyle>
            <a:lvl1pPr algn="ctr">
              <a:lnSpc>
                <a:spcPct val="100000"/>
              </a:lnSpc>
              <a:defRPr sz="1575" b="1">
                <a:solidFill>
                  <a:schemeClr val="tx2"/>
                </a:solidFill>
              </a:defRPr>
            </a:lvl1pPr>
          </a:lstStyle>
          <a:p>
            <a:pPr lvl="0"/>
            <a:r>
              <a:rPr lang="en-CA" dirty="0"/>
              <a:t>THIS IS THE TITLE OF YOUR STATISTIC</a:t>
            </a:r>
            <a:endParaRPr lang="en-US" dirty="0"/>
          </a:p>
        </p:txBody>
      </p:sp>
      <p:sp>
        <p:nvSpPr>
          <p:cNvPr id="9" name="Text Placeholder 8"/>
          <p:cNvSpPr>
            <a:spLocks noGrp="1"/>
          </p:cNvSpPr>
          <p:nvPr>
            <p:ph type="body" sz="quarter" idx="14" hasCustomPrompt="1"/>
          </p:nvPr>
        </p:nvSpPr>
        <p:spPr>
          <a:xfrm>
            <a:off x="2465067" y="4921484"/>
            <a:ext cx="7261866" cy="291603"/>
          </a:xfrm>
        </p:spPr>
        <p:txBody>
          <a:bodyPr anchor="ctr"/>
          <a:lstStyle>
            <a:lvl1pPr algn="ctr">
              <a:defRPr sz="1200"/>
            </a:lvl1pPr>
          </a:lstStyle>
          <a:p>
            <a:pPr lvl="0"/>
            <a:r>
              <a:rPr lang="en-CA" dirty="0"/>
              <a:t>THIS IS A SPACE FOR A CITATION OR SOURCE</a:t>
            </a:r>
            <a:endParaRPr lang="en-US" dirty="0"/>
          </a:p>
        </p:txBody>
      </p:sp>
    </p:spTree>
    <p:extLst>
      <p:ext uri="{BB962C8B-B14F-4D97-AF65-F5344CB8AC3E}">
        <p14:creationId xmlns:p14="http://schemas.microsoft.com/office/powerpoint/2010/main" val="11943362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s or Stats V2">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 name="Picture 4"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8" name="Title 1"/>
          <p:cNvSpPr>
            <a:spLocks noGrp="1"/>
          </p:cNvSpPr>
          <p:nvPr>
            <p:ph type="title" hasCustomPrompt="1"/>
          </p:nvPr>
        </p:nvSpPr>
        <p:spPr>
          <a:xfrm>
            <a:off x="2465067" y="2090307"/>
            <a:ext cx="7261866" cy="2619502"/>
          </a:xfrm>
        </p:spPr>
        <p:txBody>
          <a:bodyPr/>
          <a:lstStyle>
            <a:lvl1pPr algn="ctr">
              <a:lnSpc>
                <a:spcPct val="110000"/>
              </a:lnSpc>
              <a:defRPr sz="3600" baseline="0">
                <a:solidFill>
                  <a:srgbClr val="A6C8BC"/>
                </a:solidFill>
              </a:defRPr>
            </a:lvl1pPr>
          </a:lstStyle>
          <a:p>
            <a:r>
              <a:rPr lang="en-CA" dirty="0"/>
              <a:t>Enter an impressive statistic or fact. e.g. 98% of Algonquin students have been hired immediately after graduation.</a:t>
            </a:r>
            <a:endParaRPr lang="en-US" dirty="0"/>
          </a:p>
        </p:txBody>
      </p:sp>
      <p:sp>
        <p:nvSpPr>
          <p:cNvPr id="10" name="Text Placeholder 6"/>
          <p:cNvSpPr>
            <a:spLocks noGrp="1"/>
          </p:cNvSpPr>
          <p:nvPr>
            <p:ph type="body" sz="quarter" idx="13" hasCustomPrompt="1"/>
          </p:nvPr>
        </p:nvSpPr>
        <p:spPr>
          <a:xfrm>
            <a:off x="2465067" y="1593878"/>
            <a:ext cx="7261866" cy="383034"/>
          </a:xfrm>
        </p:spPr>
        <p:txBody>
          <a:bodyPr anchor="ctr"/>
          <a:lstStyle>
            <a:lvl1pPr algn="ctr">
              <a:lnSpc>
                <a:spcPct val="100000"/>
              </a:lnSpc>
              <a:defRPr sz="1575" b="1">
                <a:solidFill>
                  <a:schemeClr val="bg1"/>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2465067" y="4921484"/>
            <a:ext cx="7261866" cy="291603"/>
          </a:xfrm>
        </p:spPr>
        <p:txBody>
          <a:bodyPr anchor="ctr"/>
          <a:lstStyle>
            <a:lvl1pPr algn="ctr">
              <a:defRPr sz="12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6615123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s or Stats V3">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campus-scape.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24275"/>
            <a:ext cx="12190809" cy="3133725"/>
          </a:xfrm>
          <a:prstGeom prst="rect">
            <a:avLst/>
          </a:prstGeom>
        </p:spPr>
      </p:pic>
      <p:sp>
        <p:nvSpPr>
          <p:cNvPr id="5" name="Title 1"/>
          <p:cNvSpPr>
            <a:spLocks noGrp="1"/>
          </p:cNvSpPr>
          <p:nvPr>
            <p:ph type="title" hasCustomPrompt="1"/>
          </p:nvPr>
        </p:nvSpPr>
        <p:spPr>
          <a:xfrm>
            <a:off x="2465067" y="985406"/>
            <a:ext cx="7261866" cy="2619502"/>
          </a:xfrm>
        </p:spPr>
        <p:txBody>
          <a:bodyPr/>
          <a:lstStyle>
            <a:lvl1pPr algn="ctr">
              <a:lnSpc>
                <a:spcPct val="110000"/>
              </a:lnSpc>
              <a:defRPr sz="3600" baseline="0">
                <a:solidFill>
                  <a:srgbClr val="A6C8BC"/>
                </a:solidFill>
              </a:defRPr>
            </a:lvl1pPr>
          </a:lstStyle>
          <a:p>
            <a:r>
              <a:rPr lang="en-CA" dirty="0"/>
              <a:t>Enter an impressive statistic or fact. e.g. We raised $1,000,000 this year. Highlight a number by making it bold and white.</a:t>
            </a:r>
            <a:endParaRPr lang="en-US" dirty="0"/>
          </a:p>
        </p:txBody>
      </p:sp>
      <p:sp>
        <p:nvSpPr>
          <p:cNvPr id="6" name="Text Placeholder 6"/>
          <p:cNvSpPr>
            <a:spLocks noGrp="1"/>
          </p:cNvSpPr>
          <p:nvPr>
            <p:ph type="body" sz="quarter" idx="13" hasCustomPrompt="1"/>
          </p:nvPr>
        </p:nvSpPr>
        <p:spPr>
          <a:xfrm>
            <a:off x="2465067" y="488976"/>
            <a:ext cx="7261866" cy="383034"/>
          </a:xfrm>
        </p:spPr>
        <p:txBody>
          <a:bodyPr anchor="ctr"/>
          <a:lstStyle>
            <a:lvl1pPr algn="ctr">
              <a:lnSpc>
                <a:spcPct val="100000"/>
              </a:lnSpc>
              <a:defRPr sz="1575" b="1">
                <a:solidFill>
                  <a:schemeClr val="bg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1909118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s or Stats V4">
    <p:bg>
      <p:bgPr>
        <a:solidFill>
          <a:schemeClr val="bg1"/>
        </a:solidFill>
        <a:effectLst/>
      </p:bgPr>
    </p:bg>
    <p:spTree>
      <p:nvGrpSpPr>
        <p:cNvPr id="1" name=""/>
        <p:cNvGrpSpPr/>
        <p:nvPr/>
      </p:nvGrpSpPr>
      <p:grpSpPr>
        <a:xfrm>
          <a:off x="0" y="0"/>
          <a:ext cx="0" cy="0"/>
          <a:chOff x="0" y="0"/>
          <a:chExt cx="0" cy="0"/>
        </a:xfrm>
      </p:grpSpPr>
      <p:pic>
        <p:nvPicPr>
          <p:cNvPr id="4" name="Picture 3" descr="campus-scap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24275"/>
            <a:ext cx="12190809" cy="3133725"/>
          </a:xfrm>
          <a:prstGeom prst="rect">
            <a:avLst/>
          </a:prstGeom>
        </p:spPr>
      </p:pic>
      <p:sp>
        <p:nvSpPr>
          <p:cNvPr id="5" name="Title 1"/>
          <p:cNvSpPr>
            <a:spLocks noGrp="1"/>
          </p:cNvSpPr>
          <p:nvPr>
            <p:ph type="title" hasCustomPrompt="1"/>
          </p:nvPr>
        </p:nvSpPr>
        <p:spPr>
          <a:xfrm>
            <a:off x="2465067" y="985406"/>
            <a:ext cx="7261866" cy="2619502"/>
          </a:xfrm>
        </p:spPr>
        <p:txBody>
          <a:bodyPr/>
          <a:lstStyle>
            <a:lvl1pPr algn="ctr">
              <a:lnSpc>
                <a:spcPct val="110000"/>
              </a:lnSpc>
              <a:defRPr sz="3600" baseline="0">
                <a:solidFill>
                  <a:srgbClr val="599A83"/>
                </a:solidFill>
              </a:defRPr>
            </a:lvl1pPr>
          </a:lstStyle>
          <a:p>
            <a:r>
              <a:rPr lang="en-CA" dirty="0"/>
              <a:t>Enter an impressive statistic or fact. e.g. We raised $1,000,000 this year. Highlight a number by making it bold and 100% green.</a:t>
            </a:r>
            <a:endParaRPr lang="en-US" dirty="0"/>
          </a:p>
        </p:txBody>
      </p:sp>
      <p:sp>
        <p:nvSpPr>
          <p:cNvPr id="6" name="Text Placeholder 6"/>
          <p:cNvSpPr>
            <a:spLocks noGrp="1"/>
          </p:cNvSpPr>
          <p:nvPr>
            <p:ph type="body" sz="quarter" idx="13" hasCustomPrompt="1"/>
          </p:nvPr>
        </p:nvSpPr>
        <p:spPr>
          <a:xfrm>
            <a:off x="2465067" y="488976"/>
            <a:ext cx="7261866" cy="383034"/>
          </a:xfrm>
        </p:spPr>
        <p:txBody>
          <a:bodyPr anchor="ctr"/>
          <a:lstStyle>
            <a:lvl1pPr algn="ctr">
              <a:lnSpc>
                <a:spcPct val="100000"/>
              </a:lnSpc>
              <a:defRPr sz="1575" b="1">
                <a:solidFill>
                  <a:schemeClr val="accent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41682480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s or Stats v5">
    <p:bg>
      <p:bgRef idx="1001">
        <a:schemeClr val="bg2"/>
      </p:bgRef>
    </p:bg>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0" y="0"/>
            <a:ext cx="6095206" cy="3428553"/>
          </a:xfrm>
          <a:solidFill>
            <a:schemeClr val="bg2"/>
          </a:solidFill>
          <a:ln>
            <a:noFill/>
          </a:ln>
        </p:spPr>
        <p:txBody>
          <a:bodyPr/>
          <a:lstStyle>
            <a:lvl1pPr algn="ctr">
              <a:defRPr baseline="0">
                <a:ln>
                  <a:noFill/>
                </a:ln>
                <a:solidFill>
                  <a:schemeClr val="tx1"/>
                </a:solidFill>
              </a:defRPr>
            </a:lvl1pPr>
          </a:lstStyle>
          <a:p>
            <a:r>
              <a:rPr lang="en-US" dirty="0"/>
              <a:t>Click this icon to insert a background photo, the resize this box so it covers the whole screen. Make sure it’s good quality.</a:t>
            </a:r>
          </a:p>
        </p:txBody>
      </p:sp>
      <p:sp>
        <p:nvSpPr>
          <p:cNvPr id="12" name="Title 1"/>
          <p:cNvSpPr>
            <a:spLocks noGrp="1"/>
          </p:cNvSpPr>
          <p:nvPr>
            <p:ph type="title" hasCustomPrompt="1"/>
          </p:nvPr>
        </p:nvSpPr>
        <p:spPr>
          <a:xfrm>
            <a:off x="2235377" y="1914188"/>
            <a:ext cx="7721246" cy="3029625"/>
          </a:xfrm>
          <a:solidFill>
            <a:srgbClr val="FFFFFF"/>
          </a:solidFill>
          <a:ln>
            <a:noFill/>
          </a:ln>
          <a:effectLst>
            <a:outerShdw blurRad="381000" dir="2700000" sx="98000" sy="98000" algn="tl" rotWithShape="0">
              <a:srgbClr val="000000">
                <a:alpha val="85000"/>
              </a:srgbClr>
            </a:outerShdw>
          </a:effectLst>
        </p:spPr>
        <p:txBody>
          <a:bodyPr lIns="324000" tIns="1080000" rIns="324000" bIns="1080000"/>
          <a:lstStyle>
            <a:lvl1pPr algn="ctr">
              <a:lnSpc>
                <a:spcPct val="90000"/>
              </a:lnSpc>
              <a:defRPr sz="8399">
                <a:solidFill>
                  <a:srgbClr val="599A83"/>
                </a:solidFill>
              </a:defRPr>
            </a:lvl1pPr>
          </a:lstStyle>
          <a:p>
            <a:r>
              <a:rPr lang="en-CA" dirty="0"/>
              <a:t>$#,###,###</a:t>
            </a:r>
            <a:endParaRPr lang="en-US" dirty="0"/>
          </a:p>
        </p:txBody>
      </p:sp>
      <p:sp>
        <p:nvSpPr>
          <p:cNvPr id="10" name="Text Placeholder 6"/>
          <p:cNvSpPr>
            <a:spLocks noGrp="1"/>
          </p:cNvSpPr>
          <p:nvPr>
            <p:ph type="body" sz="quarter" idx="13" hasCustomPrompt="1"/>
          </p:nvPr>
        </p:nvSpPr>
        <p:spPr>
          <a:xfrm>
            <a:off x="2476178" y="2259471"/>
            <a:ext cx="7239644" cy="383034"/>
          </a:xfrm>
        </p:spPr>
        <p:txBody>
          <a:bodyPr anchor="ctr"/>
          <a:lstStyle>
            <a:lvl1pPr algn="ctr">
              <a:lnSpc>
                <a:spcPct val="100000"/>
              </a:lnSpc>
              <a:defRPr sz="1575" b="1" baseline="0">
                <a:solidFill>
                  <a:srgbClr val="00673E"/>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2476178" y="4232939"/>
            <a:ext cx="7239644" cy="291603"/>
          </a:xfrm>
        </p:spPr>
        <p:txBody>
          <a:bodyPr anchor="ctr"/>
          <a:lstStyle>
            <a:lvl1pPr algn="ctr">
              <a:defRPr sz="12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310136246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Righ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609603" y="1803401"/>
            <a:ext cx="5612587"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609601" y="576274"/>
            <a:ext cx="5612588" cy="1001980"/>
          </a:xfrm>
        </p:spPr>
        <p:txBody>
          <a:bodyPr anchor="t">
            <a:noAutofit/>
          </a:bodyPr>
          <a:lstStyle>
            <a:lvl1pPr>
              <a:defRPr sz="3600" b="1" baseline="0">
                <a:solidFill>
                  <a:srgbClr val="00673E"/>
                </a:solidFill>
              </a:defRPr>
            </a:lvl1pPr>
          </a:lstStyle>
          <a:p>
            <a:r>
              <a:rPr lang="en-CA" dirty="0"/>
              <a:t>A slide with a right-aligned image</a:t>
            </a:r>
            <a:endParaRPr lang="en-US" dirty="0"/>
          </a:p>
        </p:txBody>
      </p:sp>
      <p:sp>
        <p:nvSpPr>
          <p:cNvPr id="10" name="Text Placeholder 9"/>
          <p:cNvSpPr>
            <a:spLocks noGrp="1"/>
          </p:cNvSpPr>
          <p:nvPr>
            <p:ph type="body" sz="quarter" idx="14" hasCustomPrompt="1"/>
          </p:nvPr>
        </p:nvSpPr>
        <p:spPr>
          <a:xfrm>
            <a:off x="2488876" y="4700460"/>
            <a:ext cx="3733314" cy="951040"/>
          </a:xfrm>
        </p:spPr>
        <p:txBody>
          <a:bodyPr anchor="b"/>
          <a:lstStyle>
            <a:lvl1pPr>
              <a:defRPr sz="1575">
                <a:solidFill>
                  <a:srgbClr val="599A83"/>
                </a:solidFill>
              </a:defRPr>
            </a:lvl1pPr>
          </a:lstStyle>
          <a:p>
            <a:pPr lvl="0"/>
            <a:r>
              <a:rPr lang="en-CA" dirty="0"/>
              <a:t>An optional annotation or extra information text box</a:t>
            </a:r>
            <a:endParaRPr lang="en-US" dirty="0"/>
          </a:p>
        </p:txBody>
      </p:sp>
      <p:sp>
        <p:nvSpPr>
          <p:cNvPr id="11" name="Picture Placeholder 4"/>
          <p:cNvSpPr>
            <a:spLocks noGrp="1"/>
          </p:cNvSpPr>
          <p:nvPr>
            <p:ph type="pic" sz="quarter" idx="16" hasCustomPrompt="1"/>
          </p:nvPr>
        </p:nvSpPr>
        <p:spPr>
          <a:xfrm>
            <a:off x="7009488" y="639773"/>
            <a:ext cx="5182512" cy="5011727"/>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7" hasCustomPrompt="1"/>
          </p:nvPr>
        </p:nvSpPr>
        <p:spPr>
          <a:xfrm>
            <a:off x="7009488" y="4057215"/>
            <a:ext cx="3771409" cy="702821"/>
          </a:xfrm>
          <a:solidFill>
            <a:srgbClr val="43B02A"/>
          </a:solidFill>
          <a:ln>
            <a:noFill/>
          </a:ln>
        </p:spPr>
        <p:txBody>
          <a:bodyPr wrap="square" lIns="252000" tIns="252000" rIns="252000" bIns="252000" anchor="ctr">
            <a:spAutoFit/>
          </a:bodyPr>
          <a:lstStyle>
            <a:lvl1pPr>
              <a:lnSpc>
                <a:spcPct val="80000"/>
              </a:lnSpc>
              <a:defRPr sz="1575" b="1" baseline="0">
                <a:ln>
                  <a:noFill/>
                </a:ln>
                <a:solidFill>
                  <a:schemeClr val="bg1"/>
                </a:solidFill>
                <a:effectLst/>
              </a:defRPr>
            </a:lvl1pPr>
          </a:lstStyle>
          <a:p>
            <a:pPr lvl="0"/>
            <a:r>
              <a:rPr lang="en-CA" dirty="0"/>
              <a:t>Optional short caption here</a:t>
            </a:r>
            <a:endParaRPr lang="en-US" dirty="0"/>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6" name="Picture 15"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7"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25027790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5993702" y="1803401"/>
            <a:ext cx="5612587"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5993700" y="576274"/>
            <a:ext cx="5612588" cy="1001980"/>
          </a:xfrm>
        </p:spPr>
        <p:txBody>
          <a:bodyPr anchor="t">
            <a:noAutofit/>
          </a:bodyPr>
          <a:lstStyle>
            <a:lvl1pPr>
              <a:defRPr sz="3600" b="1" baseline="0">
                <a:solidFill>
                  <a:srgbClr val="00673E"/>
                </a:solidFill>
              </a:defRPr>
            </a:lvl1pPr>
          </a:lstStyle>
          <a:p>
            <a:r>
              <a:rPr lang="en-CA" dirty="0"/>
              <a:t>A slide with a left-aligned image</a:t>
            </a:r>
            <a:endParaRPr lang="en-US" dirty="0"/>
          </a:p>
        </p:txBody>
      </p:sp>
      <p:sp>
        <p:nvSpPr>
          <p:cNvPr id="10" name="Text Placeholder 9"/>
          <p:cNvSpPr>
            <a:spLocks noGrp="1"/>
          </p:cNvSpPr>
          <p:nvPr>
            <p:ph type="body" sz="quarter" idx="14" hasCustomPrompt="1"/>
          </p:nvPr>
        </p:nvSpPr>
        <p:spPr>
          <a:xfrm>
            <a:off x="5993700" y="4700460"/>
            <a:ext cx="3733314" cy="951040"/>
          </a:xfrm>
        </p:spPr>
        <p:txBody>
          <a:bodyPr anchor="b"/>
          <a:lstStyle>
            <a:lvl1pPr>
              <a:defRPr sz="1575">
                <a:solidFill>
                  <a:srgbClr val="599A83"/>
                </a:solidFill>
              </a:defRPr>
            </a:lvl1pPr>
          </a:lstStyle>
          <a:p>
            <a:pPr lvl="0"/>
            <a:r>
              <a:rPr lang="en-CA" dirty="0"/>
              <a:t>An optional annotation or extra information text box</a:t>
            </a:r>
            <a:endParaRPr lang="en-US" dirty="0"/>
          </a:p>
        </p:txBody>
      </p:sp>
      <p:sp>
        <p:nvSpPr>
          <p:cNvPr id="14" name="Picture Placeholder 4"/>
          <p:cNvSpPr>
            <a:spLocks noGrp="1"/>
          </p:cNvSpPr>
          <p:nvPr>
            <p:ph type="pic" sz="quarter" idx="16" hasCustomPrompt="1"/>
          </p:nvPr>
        </p:nvSpPr>
        <p:spPr>
          <a:xfrm>
            <a:off x="0" y="639773"/>
            <a:ext cx="5182512" cy="5011727"/>
          </a:xfrm>
        </p:spPr>
        <p:txBody>
          <a:bodyPr/>
          <a:lstStyle>
            <a:lvl1pPr>
              <a:defRPr baseline="0"/>
            </a:lvl1pPr>
          </a:lstStyle>
          <a:p>
            <a:r>
              <a:rPr lang="en-US" dirty="0"/>
              <a:t>Click on this icon to insert a photo.</a:t>
            </a:r>
          </a:p>
        </p:txBody>
      </p:sp>
      <p:sp>
        <p:nvSpPr>
          <p:cNvPr id="15" name="Text Placeholder 8"/>
          <p:cNvSpPr>
            <a:spLocks noGrp="1"/>
          </p:cNvSpPr>
          <p:nvPr>
            <p:ph type="body" sz="quarter" idx="17" hasCustomPrompt="1"/>
          </p:nvPr>
        </p:nvSpPr>
        <p:spPr>
          <a:xfrm>
            <a:off x="1" y="4057215"/>
            <a:ext cx="3771409" cy="702821"/>
          </a:xfrm>
          <a:solidFill>
            <a:srgbClr val="43B02A"/>
          </a:solidFill>
          <a:ln>
            <a:noFill/>
          </a:ln>
        </p:spPr>
        <p:txBody>
          <a:bodyPr wrap="square" lIns="252000" tIns="252000" rIns="252000" bIns="252000" anchor="ctr">
            <a:spAutoFit/>
          </a:bodyPr>
          <a:lstStyle>
            <a:lvl1pPr>
              <a:lnSpc>
                <a:spcPct val="80000"/>
              </a:lnSpc>
              <a:defRPr sz="1575" b="1" baseline="0">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9080100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ull Frame Photo">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889" y="0"/>
            <a:ext cx="12191111" cy="6858000"/>
          </a:xfrm>
        </p:spPr>
        <p:txBody>
          <a:bodyPr/>
          <a:lstStyle>
            <a:lvl1pPr marL="0" indent="0">
              <a:buNone/>
              <a:defRPr sz="3000" baseline="0"/>
            </a:lvl1pPr>
            <a:lvl2pPr marL="586109" indent="0">
              <a:buNone/>
              <a:defRPr sz="3600"/>
            </a:lvl2pPr>
            <a:lvl3pPr marL="1172219" indent="0">
              <a:buNone/>
              <a:defRPr sz="3075"/>
            </a:lvl3pPr>
            <a:lvl4pPr marL="1758328" indent="0">
              <a:buNone/>
              <a:defRPr sz="2550"/>
            </a:lvl4pPr>
            <a:lvl5pPr marL="2344438" indent="0">
              <a:buNone/>
              <a:defRPr sz="2550"/>
            </a:lvl5pPr>
            <a:lvl6pPr marL="2930547" indent="0">
              <a:buNone/>
              <a:defRPr sz="2550"/>
            </a:lvl6pPr>
            <a:lvl7pPr marL="3516656" indent="0">
              <a:buNone/>
              <a:defRPr sz="2550"/>
            </a:lvl7pPr>
            <a:lvl8pPr marL="4102766" indent="0">
              <a:buNone/>
              <a:defRPr sz="2550"/>
            </a:lvl8pPr>
            <a:lvl9pPr marL="4688875" indent="0">
              <a:buNone/>
              <a:defRPr sz="2550"/>
            </a:lvl9pPr>
          </a:lstStyle>
          <a:p>
            <a:r>
              <a:rPr lang="en-US" dirty="0"/>
              <a:t>Click on this icon to insert a photo.</a:t>
            </a:r>
          </a:p>
        </p:txBody>
      </p:sp>
      <p:sp>
        <p:nvSpPr>
          <p:cNvPr id="8" name="Text Placeholder 8"/>
          <p:cNvSpPr>
            <a:spLocks noGrp="1"/>
          </p:cNvSpPr>
          <p:nvPr>
            <p:ph type="body" sz="quarter" idx="16" hasCustomPrompt="1"/>
          </p:nvPr>
        </p:nvSpPr>
        <p:spPr>
          <a:xfrm>
            <a:off x="1" y="4680866"/>
            <a:ext cx="5968223" cy="678593"/>
          </a:xfrm>
          <a:solidFill>
            <a:srgbClr val="43B02A"/>
          </a:solidFill>
          <a:ln>
            <a:noFill/>
          </a:ln>
        </p:spPr>
        <p:txBody>
          <a:bodyPr wrap="square" lIns="252000" tIns="180000" rIns="252000" bIns="252000" anchor="ctr">
            <a:spAutoFit/>
          </a:bodyPr>
          <a:lstStyle>
            <a:lvl1pPr>
              <a:lnSpc>
                <a:spcPct val="100000"/>
              </a:lnSpc>
              <a:defRPr sz="1575" b="1" baseline="0">
                <a:ln>
                  <a:noFill/>
                </a:ln>
                <a:solidFill>
                  <a:schemeClr val="bg1"/>
                </a:solidFill>
                <a:effectLst/>
              </a:defRPr>
            </a:lvl1pPr>
          </a:lstStyle>
          <a:p>
            <a:pPr lvl="0"/>
            <a:r>
              <a:rPr lang="en-CA" dirty="0"/>
              <a:t>Optional short caption here</a:t>
            </a:r>
            <a:endParaRPr lang="en-US" dirty="0"/>
          </a:p>
        </p:txBody>
      </p:sp>
    </p:spTree>
    <p:extLst>
      <p:ext uri="{BB962C8B-B14F-4D97-AF65-F5344CB8AC3E}">
        <p14:creationId xmlns:p14="http://schemas.microsoft.com/office/powerpoint/2010/main" val="6206749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Photos">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4" name="Picture Placeholder 3"/>
          <p:cNvSpPr>
            <a:spLocks noGrp="1"/>
          </p:cNvSpPr>
          <p:nvPr>
            <p:ph type="pic" sz="quarter" idx="10" hasCustomPrompt="1"/>
          </p:nvPr>
        </p:nvSpPr>
        <p:spPr>
          <a:xfrm>
            <a:off x="6249078" y="622301"/>
            <a:ext cx="5333402" cy="5022000"/>
          </a:xfrm>
        </p:spPr>
        <p:txBody>
          <a:bodyPr/>
          <a:lstStyle/>
          <a:p>
            <a:r>
              <a:rPr lang="en-US" dirty="0"/>
              <a:t>Click on this icon to insert a photo.</a:t>
            </a:r>
          </a:p>
        </p:txBody>
      </p:sp>
      <p:sp>
        <p:nvSpPr>
          <p:cNvPr id="6" name="Picture Placeholder 5"/>
          <p:cNvSpPr>
            <a:spLocks noGrp="1"/>
          </p:cNvSpPr>
          <p:nvPr>
            <p:ph type="pic" sz="quarter" idx="11" hasCustomPrompt="1"/>
          </p:nvPr>
        </p:nvSpPr>
        <p:spPr>
          <a:xfrm>
            <a:off x="622220" y="622301"/>
            <a:ext cx="5358701" cy="5022000"/>
          </a:xfrm>
        </p:spPr>
        <p:txBody>
          <a:bodyPr/>
          <a:lstStyle/>
          <a:p>
            <a:r>
              <a:rPr lang="en-US" dirty="0"/>
              <a:t>Click on this icon to insert a photo.</a:t>
            </a:r>
          </a:p>
        </p:txBody>
      </p:sp>
      <p:sp>
        <p:nvSpPr>
          <p:cNvPr id="9" name="Text Placeholder 8"/>
          <p:cNvSpPr>
            <a:spLocks noGrp="1"/>
          </p:cNvSpPr>
          <p:nvPr>
            <p:ph type="body" sz="quarter" idx="16" hasCustomPrompt="1"/>
          </p:nvPr>
        </p:nvSpPr>
        <p:spPr>
          <a:xfrm>
            <a:off x="622220" y="4064673"/>
            <a:ext cx="3504743"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sp>
        <p:nvSpPr>
          <p:cNvPr id="11" name="Text Placeholder 8"/>
          <p:cNvSpPr>
            <a:spLocks noGrp="1"/>
          </p:cNvSpPr>
          <p:nvPr>
            <p:ph type="body" sz="quarter" idx="18" hasCustomPrompt="1"/>
          </p:nvPr>
        </p:nvSpPr>
        <p:spPr>
          <a:xfrm>
            <a:off x="6249079" y="4064673"/>
            <a:ext cx="3490554"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205636011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hoto with Description">
    <p:bg>
      <p:bgPr>
        <a:solidFill>
          <a:schemeClr val="bg1"/>
        </a:solidFill>
        <a:effectLst/>
      </p:bgPr>
    </p:bg>
    <p:spTree>
      <p:nvGrpSpPr>
        <p:cNvPr id="1" name=""/>
        <p:cNvGrpSpPr/>
        <p:nvPr/>
      </p:nvGrpSpPr>
      <p:grpSpPr>
        <a:xfrm>
          <a:off x="0" y="0"/>
          <a:ext cx="0" cy="0"/>
          <a:chOff x="0" y="0"/>
          <a:chExt cx="0" cy="0"/>
        </a:xfrm>
      </p:grpSpPr>
      <p:pic>
        <p:nvPicPr>
          <p:cNvPr id="11" name="Picture 10"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895645"/>
            <a:ext cx="12192000" cy="1304320"/>
          </a:xfrm>
          <a:prstGeom prst="rect">
            <a:avLst/>
          </a:prstGeom>
        </p:spPr>
      </p:pic>
      <p:sp>
        <p:nvSpPr>
          <p:cNvPr id="12" name="Picture Placeholder 5"/>
          <p:cNvSpPr>
            <a:spLocks noGrp="1"/>
          </p:cNvSpPr>
          <p:nvPr>
            <p:ph type="pic" sz="quarter" idx="11" hasCustomPrompt="1"/>
          </p:nvPr>
        </p:nvSpPr>
        <p:spPr>
          <a:xfrm>
            <a:off x="622220" y="622301"/>
            <a:ext cx="8698367" cy="5022000"/>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6" hasCustomPrompt="1"/>
          </p:nvPr>
        </p:nvSpPr>
        <p:spPr>
          <a:xfrm>
            <a:off x="622220" y="4064673"/>
            <a:ext cx="3504743"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sp>
        <p:nvSpPr>
          <p:cNvPr id="14"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9" name="Picture 18"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0" name="Picture 19"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1"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27071690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aphic + Title and Description">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895645"/>
            <a:ext cx="12192000" cy="1304320"/>
          </a:xfrm>
          <a:prstGeom prst="rect">
            <a:avLst/>
          </a:prstGeom>
        </p:spPr>
      </p:pic>
      <p:sp>
        <p:nvSpPr>
          <p:cNvPr id="13" name="Picture Placeholder 5"/>
          <p:cNvSpPr>
            <a:spLocks noGrp="1"/>
          </p:cNvSpPr>
          <p:nvPr>
            <p:ph type="pic" sz="quarter" idx="11" hasCustomPrompt="1"/>
          </p:nvPr>
        </p:nvSpPr>
        <p:spPr>
          <a:xfrm>
            <a:off x="622220" y="1803401"/>
            <a:ext cx="7093623" cy="3840900"/>
          </a:xfrm>
        </p:spPr>
        <p:txBody>
          <a:bodyPr/>
          <a:lstStyle/>
          <a:p>
            <a:r>
              <a:rPr lang="en-US" dirty="0"/>
              <a:t>Click on this icon to insert a graphic.</a:t>
            </a:r>
          </a:p>
        </p:txBody>
      </p:sp>
      <p:sp>
        <p:nvSpPr>
          <p:cNvPr id="20"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graphic slide with a title and optional annotation</a:t>
            </a:r>
            <a:endParaRPr lang="en-US" dirty="0"/>
          </a:p>
        </p:txBody>
      </p:sp>
      <p:sp>
        <p:nvSpPr>
          <p:cNvPr id="2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24" name="Picture 23"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5" name="Picture 24"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1373700493"/>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able or Chart">
    <p:bg>
      <p:bgRef idx="1001">
        <a:schemeClr val="bg1"/>
      </p:bgRef>
    </p:bg>
    <p:spTree>
      <p:nvGrpSpPr>
        <p:cNvPr id="1" name=""/>
        <p:cNvGrpSpPr/>
        <p:nvPr/>
      </p:nvGrpSpPr>
      <p:grpSpPr>
        <a:xfrm>
          <a:off x="0" y="0"/>
          <a:ext cx="0" cy="0"/>
          <a:chOff x="0" y="0"/>
          <a:chExt cx="0" cy="0"/>
        </a:xfrm>
      </p:grpSpPr>
      <p:pic>
        <p:nvPicPr>
          <p:cNvPr id="5" name="Picture 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8" name="Picture 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3"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BCE31CD6-01E1-44B6-AF1B-6C1B8B721DF8}" type="slidenum">
              <a:rPr lang="en-CA" smtClean="0"/>
              <a:t>‹#›</a:t>
            </a:fld>
            <a:endParaRPr lang="en-CA"/>
          </a:p>
        </p:txBody>
      </p:sp>
      <p:sp>
        <p:nvSpPr>
          <p:cNvPr id="15"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chart or table slide with optional annotation</a:t>
            </a:r>
            <a:endParaRPr lang="en-US" dirty="0"/>
          </a:p>
        </p:txBody>
      </p:sp>
      <p:sp>
        <p:nvSpPr>
          <p:cNvPr id="17" name="Table Placeholder 3"/>
          <p:cNvSpPr>
            <a:spLocks noGrp="1"/>
          </p:cNvSpPr>
          <p:nvPr>
            <p:ph type="tbl" sz="quarter" idx="20" hasCustomPrompt="1"/>
          </p:nvPr>
        </p:nvSpPr>
        <p:spPr>
          <a:xfrm>
            <a:off x="609540" y="1803798"/>
            <a:ext cx="7106147" cy="3840956"/>
          </a:xfrm>
        </p:spPr>
        <p:txBody>
          <a:bodyPr/>
          <a:lstStyle>
            <a:lvl1pPr>
              <a:defRPr baseline="0"/>
            </a:lvl1pPr>
          </a:lstStyle>
          <a:p>
            <a:r>
              <a:rPr lang="en-US" dirty="0"/>
              <a:t>Click on the icon to insert a table or chart.</a:t>
            </a:r>
          </a:p>
        </p:txBody>
      </p:sp>
      <p:sp>
        <p:nvSpPr>
          <p:cNvPr id="18"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spTree>
    <p:extLst>
      <p:ext uri="{BB962C8B-B14F-4D97-AF65-F5344CB8AC3E}">
        <p14:creationId xmlns:p14="http://schemas.microsoft.com/office/powerpoint/2010/main" val="136555570"/>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Outro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211100" y="2338355"/>
            <a:ext cx="7769800" cy="1959129"/>
          </a:xfrm>
        </p:spPr>
        <p:txBody>
          <a:bodyPr lIns="0" tIns="0" rIns="0" bIns="0" anchor="ctr">
            <a:noAutofit/>
          </a:bodyPr>
          <a:lstStyle>
            <a:lvl1pPr marL="0" indent="0" algn="ctr">
              <a:buNone/>
              <a:defRPr sz="3600" baseline="0">
                <a:solidFill>
                  <a:schemeClr val="accent5"/>
                </a:solidFill>
              </a:defRPr>
            </a:lvl1pPr>
            <a:lvl2pPr marL="586109" indent="0" algn="ctr">
              <a:buNone/>
              <a:defRPr>
                <a:solidFill>
                  <a:schemeClr val="tx1">
                    <a:tint val="75000"/>
                  </a:schemeClr>
                </a:solidFill>
              </a:defRPr>
            </a:lvl2pPr>
            <a:lvl3pPr marL="1172219" indent="0" algn="ctr">
              <a:buNone/>
              <a:defRPr>
                <a:solidFill>
                  <a:schemeClr val="tx1">
                    <a:tint val="75000"/>
                  </a:schemeClr>
                </a:solidFill>
              </a:defRPr>
            </a:lvl3pPr>
            <a:lvl4pPr marL="1758328" indent="0" algn="ctr">
              <a:buNone/>
              <a:defRPr>
                <a:solidFill>
                  <a:schemeClr val="tx1">
                    <a:tint val="75000"/>
                  </a:schemeClr>
                </a:solidFill>
              </a:defRPr>
            </a:lvl4pPr>
            <a:lvl5pPr marL="2344438" indent="0" algn="ctr">
              <a:buNone/>
              <a:defRPr>
                <a:solidFill>
                  <a:schemeClr val="tx1">
                    <a:tint val="75000"/>
                  </a:schemeClr>
                </a:solidFill>
              </a:defRPr>
            </a:lvl5pPr>
            <a:lvl6pPr marL="2930547" indent="0" algn="ctr">
              <a:buNone/>
              <a:defRPr>
                <a:solidFill>
                  <a:schemeClr val="tx1">
                    <a:tint val="75000"/>
                  </a:schemeClr>
                </a:solidFill>
              </a:defRPr>
            </a:lvl6pPr>
            <a:lvl7pPr marL="3516656" indent="0" algn="ctr">
              <a:buNone/>
              <a:defRPr>
                <a:solidFill>
                  <a:schemeClr val="tx1">
                    <a:tint val="75000"/>
                  </a:schemeClr>
                </a:solidFill>
              </a:defRPr>
            </a:lvl7pPr>
            <a:lvl8pPr marL="4102766" indent="0" algn="ctr">
              <a:buNone/>
              <a:defRPr>
                <a:solidFill>
                  <a:schemeClr val="tx1">
                    <a:tint val="75000"/>
                  </a:schemeClr>
                </a:solidFill>
              </a:defRPr>
            </a:lvl8pPr>
            <a:lvl9pPr marL="4688875" indent="0" algn="ctr">
              <a:buNone/>
              <a:defRPr>
                <a:solidFill>
                  <a:schemeClr val="tx1">
                    <a:tint val="75000"/>
                  </a:schemeClr>
                </a:solidFill>
              </a:defRPr>
            </a:lvl9pPr>
          </a:lstStyle>
          <a:p>
            <a:r>
              <a:rPr lang="en-CA" dirty="0"/>
              <a:t>Questions? Put your contact prompt message and your email here.</a:t>
            </a:r>
            <a:endParaRPr lang="en-US" dirty="0"/>
          </a:p>
        </p:txBody>
      </p:sp>
      <p:sp>
        <p:nvSpPr>
          <p:cNvPr id="2" name="Title 1"/>
          <p:cNvSpPr>
            <a:spLocks noGrp="1"/>
          </p:cNvSpPr>
          <p:nvPr>
            <p:ph type="ctrTitle" hasCustomPrompt="1"/>
          </p:nvPr>
        </p:nvSpPr>
        <p:spPr>
          <a:xfrm>
            <a:off x="2490464" y="1562096"/>
            <a:ext cx="7211074" cy="763559"/>
          </a:xfrm>
        </p:spPr>
        <p:txBody>
          <a:bodyPr anchor="b"/>
          <a:lstStyle>
            <a:lvl1pPr algn="ctr">
              <a:defRPr baseline="0">
                <a:solidFill>
                  <a:srgbClr val="00673E"/>
                </a:solidFill>
              </a:defRPr>
            </a:lvl1pPr>
          </a:lstStyle>
          <a:p>
            <a:r>
              <a:rPr lang="en-CA" dirty="0"/>
              <a:t>Thank you message</a:t>
            </a:r>
            <a:endParaRPr lang="en-US" dirty="0"/>
          </a:p>
        </p:txBody>
      </p:sp>
      <p:sp>
        <p:nvSpPr>
          <p:cNvPr id="5" name="Text Placeholder 4"/>
          <p:cNvSpPr>
            <a:spLocks noGrp="1"/>
          </p:cNvSpPr>
          <p:nvPr>
            <p:ph type="body" sz="quarter" idx="10" hasCustomPrompt="1"/>
          </p:nvPr>
        </p:nvSpPr>
        <p:spPr>
          <a:xfrm>
            <a:off x="2490463" y="4513380"/>
            <a:ext cx="7211075" cy="346810"/>
          </a:xfrm>
        </p:spPr>
        <p:txBody>
          <a:bodyPr anchor="t"/>
          <a:lstStyle>
            <a:lvl1pPr algn="ctr">
              <a:defRPr>
                <a:solidFill>
                  <a:schemeClr val="accent2"/>
                </a:solidFill>
              </a:defRPr>
            </a:lvl1pPr>
          </a:lstStyle>
          <a:p>
            <a:pPr lvl="0"/>
            <a:r>
              <a:rPr lang="en-CA" dirty="0" err="1"/>
              <a:t>www.algonquincollege.com</a:t>
            </a:r>
            <a:r>
              <a:rPr lang="en-CA" dirty="0"/>
              <a:t>/</a:t>
            </a:r>
            <a:r>
              <a:rPr lang="en-CA" dirty="0" err="1"/>
              <a:t>relevantURL</a:t>
            </a:r>
            <a:endParaRPr lang="en-US" dirty="0"/>
          </a:p>
        </p:txBody>
      </p:sp>
      <p:pic>
        <p:nvPicPr>
          <p:cNvPr id="13" name="Picture 12" descr="ac-icon-green.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2692" y="621411"/>
            <a:ext cx="476310" cy="350999"/>
          </a:xfrm>
          <a:prstGeom prst="rect">
            <a:avLst/>
          </a:prstGeom>
        </p:spPr>
      </p:pic>
      <p:pic>
        <p:nvPicPr>
          <p:cNvPr id="14" name="Picture 13" descr="curtain-100.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524369"/>
            <a:ext cx="12192000" cy="1333631"/>
          </a:xfrm>
          <a:prstGeom prst="rect">
            <a:avLst/>
          </a:prstGeom>
        </p:spPr>
      </p:pic>
    </p:spTree>
    <p:extLst>
      <p:ext uri="{BB962C8B-B14F-4D97-AF65-F5344CB8AC3E}">
        <p14:creationId xmlns:p14="http://schemas.microsoft.com/office/powerpoint/2010/main" val="6943138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46748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FE345-6686-964E-01FF-0E12996BCC66}"/>
              </a:ext>
            </a:extLst>
          </p:cNvPr>
          <p:cNvSpPr>
            <a:spLocks noGrp="1"/>
          </p:cNvSpPr>
          <p:nvPr>
            <p:ph type="title"/>
          </p:nvPr>
        </p:nvSpPr>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9812D78-C8AD-9D1D-FFE5-411FCC89EB5A}"/>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143767F-C8A1-018B-8BE8-43599FD12DD2}"/>
              </a:ext>
            </a:extLst>
          </p:cNvPr>
          <p:cNvSpPr>
            <a:spLocks noGrp="1"/>
          </p:cNvSpPr>
          <p:nvPr>
            <p:ph type="dt" sz="half" idx="10"/>
          </p:nvPr>
        </p:nvSpPr>
        <p:spPr/>
        <p:txBody>
          <a:bodyPr/>
          <a:lstStyle/>
          <a:p>
            <a:fld id="{1250448C-4F4A-4DCE-9114-1A5B1D890DD5}" type="datetimeFigureOut">
              <a:rPr lang="en-CA" smtClean="0"/>
              <a:t>2026-02-09</a:t>
            </a:fld>
            <a:endParaRPr lang="en-CA"/>
          </a:p>
        </p:txBody>
      </p:sp>
      <p:sp>
        <p:nvSpPr>
          <p:cNvPr id="5" name="Footer Placeholder 4">
            <a:extLst>
              <a:ext uri="{FF2B5EF4-FFF2-40B4-BE49-F238E27FC236}">
                <a16:creationId xmlns:a16="http://schemas.microsoft.com/office/drawing/2014/main" id="{E23EAA12-7ABA-E490-171A-C0710CBCEC1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236B122-972D-A3C8-3749-BD6D0E65F28F}"/>
              </a:ext>
            </a:extLst>
          </p:cNvPr>
          <p:cNvSpPr>
            <a:spLocks noGrp="1"/>
          </p:cNvSpPr>
          <p:nvPr>
            <p:ph type="sldNum" sz="quarter" idx="12"/>
          </p:nvPr>
        </p:nvSpPr>
        <p:spPr/>
        <p:txBody>
          <a:bodyPr/>
          <a:lstStyle/>
          <a:p>
            <a:fld id="{BCE31CD6-01E1-44B6-AF1B-6C1B8B721DF8}" type="slidenum">
              <a:rPr lang="en-CA" smtClean="0"/>
              <a:t>‹#›</a:t>
            </a:fld>
            <a:endParaRPr lang="en-CA"/>
          </a:p>
        </p:txBody>
      </p:sp>
    </p:spTree>
    <p:extLst>
      <p:ext uri="{BB962C8B-B14F-4D97-AF65-F5344CB8AC3E}">
        <p14:creationId xmlns:p14="http://schemas.microsoft.com/office/powerpoint/2010/main" val="24498786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499889"/>
            <a:ext cx="10972800" cy="1100311"/>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1" y="1600200"/>
            <a:ext cx="10972800" cy="3903399"/>
          </a:xfrm>
          <a:prstGeom prst="rect">
            <a:avLst/>
          </a:prstGeom>
        </p:spPr>
        <p:txBody>
          <a:bodyPr vert="horz" lIns="0" tIns="0" rIns="0" bIns="0" rtlCol="0">
            <a:noAutofit/>
          </a:bodyPr>
          <a:lstStyle/>
          <a:p>
            <a:pPr lvl="0"/>
            <a:r>
              <a:rPr lang="en-CA" dirty="0"/>
              <a:t>Click to edit Master text styles</a:t>
            </a:r>
          </a:p>
          <a:p>
            <a:pPr lvl="1"/>
            <a:r>
              <a:rPr lang="en-CA" dirty="0"/>
              <a:t>First level</a:t>
            </a:r>
          </a:p>
          <a:p>
            <a:pPr lvl="2"/>
            <a:r>
              <a:rPr lang="en-CA" dirty="0"/>
              <a:t>Second level</a:t>
            </a:r>
          </a:p>
          <a:p>
            <a:pPr lvl="0"/>
            <a:endParaRPr lang="en-CA" dirty="0"/>
          </a:p>
        </p:txBody>
      </p:sp>
      <p:sp>
        <p:nvSpPr>
          <p:cNvPr id="6" name="Slide Number Placeholder 5"/>
          <p:cNvSpPr>
            <a:spLocks noGrp="1"/>
          </p:cNvSpPr>
          <p:nvPr>
            <p:ph type="sldNum" sz="quarter" idx="4"/>
          </p:nvPr>
        </p:nvSpPr>
        <p:spPr>
          <a:xfrm>
            <a:off x="609601" y="6356351"/>
            <a:ext cx="885052" cy="365126"/>
          </a:xfrm>
          <a:prstGeom prst="rect">
            <a:avLst/>
          </a:prstGeom>
        </p:spPr>
        <p:txBody>
          <a:bodyPr vert="horz" lIns="0" tIns="0" rIns="0" bIns="0" rtlCol="0" anchor="ctr"/>
          <a:lstStyle>
            <a:lvl1pPr algn="l">
              <a:defRPr sz="1575" b="1">
                <a:solidFill>
                  <a:schemeClr val="tx1">
                    <a:tint val="75000"/>
                  </a:schemeClr>
                </a:solidFill>
              </a:defRPr>
            </a:lvl1pPr>
          </a:lstStyle>
          <a:p>
            <a:fld id="{BCE31CD6-01E1-44B6-AF1B-6C1B8B721DF8}" type="slidenum">
              <a:rPr lang="en-CA" smtClean="0"/>
              <a:t>‹#›</a:t>
            </a:fld>
            <a:endParaRPr lang="en-CA"/>
          </a:p>
        </p:txBody>
      </p:sp>
    </p:spTree>
    <p:extLst>
      <p:ext uri="{BB962C8B-B14F-4D97-AF65-F5344CB8AC3E}">
        <p14:creationId xmlns:p14="http://schemas.microsoft.com/office/powerpoint/2010/main" val="167436782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8" r:id="rId36"/>
  </p:sldLayoutIdLst>
  <p:txStyles>
    <p:titleStyle>
      <a:lvl1pPr algn="l" defTabSz="586109" rtl="0" eaLnBrk="1" latinLnBrk="0" hangingPunct="1">
        <a:lnSpc>
          <a:spcPct val="80000"/>
        </a:lnSpc>
        <a:spcBef>
          <a:spcPct val="0"/>
        </a:spcBef>
        <a:buNone/>
        <a:defRPr sz="5399" kern="1200">
          <a:solidFill>
            <a:schemeClr val="accent5"/>
          </a:solidFill>
          <a:latin typeface="+mj-lt"/>
          <a:ea typeface="+mj-ea"/>
          <a:cs typeface="+mj-cs"/>
        </a:defRPr>
      </a:lvl1pPr>
    </p:titleStyle>
    <p:bodyStyle>
      <a:lvl1pPr marL="0" indent="0" algn="l" defTabSz="586109" rtl="0" eaLnBrk="1" latinLnBrk="0" hangingPunct="1">
        <a:lnSpc>
          <a:spcPct val="110000"/>
        </a:lnSpc>
        <a:spcBef>
          <a:spcPct val="20000"/>
        </a:spcBef>
        <a:buClr>
          <a:schemeClr val="accent2"/>
        </a:buClr>
        <a:buFontTx/>
        <a:buNone/>
        <a:defRPr sz="2400" kern="1200">
          <a:solidFill>
            <a:schemeClr val="accent5"/>
          </a:solidFill>
          <a:latin typeface="+mn-lt"/>
          <a:ea typeface="+mn-ea"/>
          <a:cs typeface="+mn-cs"/>
        </a:defRPr>
      </a:lvl1pPr>
      <a:lvl2pPr marL="952428" indent="-366319" algn="l" defTabSz="586109" rtl="0" eaLnBrk="1" latinLnBrk="0" hangingPunct="1">
        <a:lnSpc>
          <a:spcPct val="110000"/>
        </a:lnSpc>
        <a:spcBef>
          <a:spcPct val="20000"/>
        </a:spcBef>
        <a:buClr>
          <a:schemeClr val="accent2"/>
        </a:buClr>
        <a:buSzPct val="75000"/>
        <a:buFont typeface="Arial"/>
        <a:buChar char="•"/>
        <a:defRPr sz="2400" kern="1200">
          <a:solidFill>
            <a:schemeClr val="accent5"/>
          </a:solidFill>
          <a:latin typeface="+mn-lt"/>
          <a:ea typeface="+mn-ea"/>
          <a:cs typeface="+mn-cs"/>
        </a:defRPr>
      </a:lvl2pPr>
      <a:lvl3pPr marL="1515073" indent="-342854" algn="l" defTabSz="586109" rtl="0" eaLnBrk="1" latinLnBrk="0" hangingPunct="1">
        <a:lnSpc>
          <a:spcPct val="110000"/>
        </a:lnSpc>
        <a:spcBef>
          <a:spcPct val="20000"/>
        </a:spcBef>
        <a:buClr>
          <a:schemeClr val="accent2"/>
        </a:buClr>
        <a:buSzPct val="60000"/>
        <a:buFont typeface="Wingdings" charset="2"/>
        <a:buChar char="§"/>
        <a:defRPr sz="2400" kern="1200" baseline="0">
          <a:solidFill>
            <a:schemeClr val="accent5"/>
          </a:solidFill>
          <a:latin typeface="+mn-lt"/>
          <a:ea typeface="+mn-ea"/>
          <a:cs typeface="+mn-cs"/>
        </a:defRPr>
      </a:lvl3pPr>
      <a:lvl4pPr marL="2051383" indent="-293055" algn="l" defTabSz="586109" rtl="0" eaLnBrk="1" latinLnBrk="0" hangingPunct="1">
        <a:lnSpc>
          <a:spcPct val="120000"/>
        </a:lnSpc>
        <a:spcBef>
          <a:spcPct val="20000"/>
        </a:spcBef>
        <a:buClr>
          <a:schemeClr val="accent2"/>
        </a:buClr>
        <a:buSzPct val="90000"/>
        <a:buFont typeface="Arial"/>
        <a:buChar char="–"/>
        <a:defRPr sz="1575" kern="1200">
          <a:solidFill>
            <a:schemeClr val="accent4"/>
          </a:solidFill>
          <a:latin typeface="+mn-lt"/>
          <a:ea typeface="+mn-ea"/>
          <a:cs typeface="+mn-cs"/>
        </a:defRPr>
      </a:lvl4pPr>
      <a:lvl5pPr marL="2637492" indent="-293055" algn="l" defTabSz="586109" rtl="0" eaLnBrk="1" latinLnBrk="0" hangingPunct="1">
        <a:spcBef>
          <a:spcPct val="20000"/>
        </a:spcBef>
        <a:buFont typeface="Arial"/>
        <a:buChar char="»"/>
        <a:defRPr sz="2550" kern="1200">
          <a:solidFill>
            <a:schemeClr val="accent5"/>
          </a:solidFill>
          <a:latin typeface="+mn-lt"/>
          <a:ea typeface="+mn-ea"/>
          <a:cs typeface="+mn-cs"/>
        </a:defRPr>
      </a:lvl5pPr>
      <a:lvl6pPr marL="3223602" indent="-293055" algn="l" defTabSz="586109" rtl="0" eaLnBrk="1" latinLnBrk="0" hangingPunct="1">
        <a:spcBef>
          <a:spcPct val="20000"/>
        </a:spcBef>
        <a:buFont typeface="Arial"/>
        <a:buChar char="•"/>
        <a:defRPr sz="2550" kern="1200">
          <a:solidFill>
            <a:schemeClr val="tx1"/>
          </a:solidFill>
          <a:latin typeface="+mn-lt"/>
          <a:ea typeface="+mn-ea"/>
          <a:cs typeface="+mn-cs"/>
        </a:defRPr>
      </a:lvl6pPr>
      <a:lvl7pPr marL="3809711" indent="-293055" algn="l" defTabSz="586109" rtl="0" eaLnBrk="1" latinLnBrk="0" hangingPunct="1">
        <a:spcBef>
          <a:spcPct val="20000"/>
        </a:spcBef>
        <a:buFont typeface="Arial"/>
        <a:buChar char="•"/>
        <a:defRPr sz="2550" kern="1200">
          <a:solidFill>
            <a:schemeClr val="tx1"/>
          </a:solidFill>
          <a:latin typeface="+mn-lt"/>
          <a:ea typeface="+mn-ea"/>
          <a:cs typeface="+mn-cs"/>
        </a:defRPr>
      </a:lvl7pPr>
      <a:lvl8pPr marL="4395821" indent="-293055" algn="l" defTabSz="586109" rtl="0" eaLnBrk="1" latinLnBrk="0" hangingPunct="1">
        <a:spcBef>
          <a:spcPct val="20000"/>
        </a:spcBef>
        <a:buFont typeface="Arial"/>
        <a:buChar char="•"/>
        <a:defRPr sz="2550" kern="1200">
          <a:solidFill>
            <a:schemeClr val="tx1"/>
          </a:solidFill>
          <a:latin typeface="+mn-lt"/>
          <a:ea typeface="+mn-ea"/>
          <a:cs typeface="+mn-cs"/>
        </a:defRPr>
      </a:lvl8pPr>
      <a:lvl9pPr marL="4981930" indent="-293055" algn="l" defTabSz="586109" rtl="0" eaLnBrk="1" latinLnBrk="0" hangingPunct="1">
        <a:spcBef>
          <a:spcPct val="20000"/>
        </a:spcBef>
        <a:buFont typeface="Arial"/>
        <a:buChar char="•"/>
        <a:defRPr sz="2550" kern="1200">
          <a:solidFill>
            <a:schemeClr val="tx1"/>
          </a:solidFill>
          <a:latin typeface="+mn-lt"/>
          <a:ea typeface="+mn-ea"/>
          <a:cs typeface="+mn-cs"/>
        </a:defRPr>
      </a:lvl9pPr>
    </p:bodyStyle>
    <p:otherStyle>
      <a:defPPr>
        <a:defRPr lang="en-US"/>
      </a:defPPr>
      <a:lvl1pPr marL="0" algn="l" defTabSz="586109" rtl="0" eaLnBrk="1" latinLnBrk="0" hangingPunct="1">
        <a:defRPr sz="2325" kern="1200">
          <a:solidFill>
            <a:schemeClr val="tx1"/>
          </a:solidFill>
          <a:latin typeface="+mn-lt"/>
          <a:ea typeface="+mn-ea"/>
          <a:cs typeface="+mn-cs"/>
        </a:defRPr>
      </a:lvl1pPr>
      <a:lvl2pPr marL="586109" algn="l" defTabSz="586109" rtl="0" eaLnBrk="1" latinLnBrk="0" hangingPunct="1">
        <a:defRPr sz="2325" kern="1200">
          <a:solidFill>
            <a:schemeClr val="tx1"/>
          </a:solidFill>
          <a:latin typeface="+mn-lt"/>
          <a:ea typeface="+mn-ea"/>
          <a:cs typeface="+mn-cs"/>
        </a:defRPr>
      </a:lvl2pPr>
      <a:lvl3pPr marL="1172219" algn="l" defTabSz="586109" rtl="0" eaLnBrk="1" latinLnBrk="0" hangingPunct="1">
        <a:defRPr sz="2325" kern="1200">
          <a:solidFill>
            <a:schemeClr val="tx1"/>
          </a:solidFill>
          <a:latin typeface="+mn-lt"/>
          <a:ea typeface="+mn-ea"/>
          <a:cs typeface="+mn-cs"/>
        </a:defRPr>
      </a:lvl3pPr>
      <a:lvl4pPr marL="1758328" algn="l" defTabSz="586109" rtl="0" eaLnBrk="1" latinLnBrk="0" hangingPunct="1">
        <a:defRPr sz="2325" kern="1200">
          <a:solidFill>
            <a:schemeClr val="tx1"/>
          </a:solidFill>
          <a:latin typeface="+mn-lt"/>
          <a:ea typeface="+mn-ea"/>
          <a:cs typeface="+mn-cs"/>
        </a:defRPr>
      </a:lvl4pPr>
      <a:lvl5pPr marL="2344438" algn="l" defTabSz="586109" rtl="0" eaLnBrk="1" latinLnBrk="0" hangingPunct="1">
        <a:defRPr sz="2325" kern="1200">
          <a:solidFill>
            <a:schemeClr val="tx1"/>
          </a:solidFill>
          <a:latin typeface="+mn-lt"/>
          <a:ea typeface="+mn-ea"/>
          <a:cs typeface="+mn-cs"/>
        </a:defRPr>
      </a:lvl5pPr>
      <a:lvl6pPr marL="2930547" algn="l" defTabSz="586109" rtl="0" eaLnBrk="1" latinLnBrk="0" hangingPunct="1">
        <a:defRPr sz="2325" kern="1200">
          <a:solidFill>
            <a:schemeClr val="tx1"/>
          </a:solidFill>
          <a:latin typeface="+mn-lt"/>
          <a:ea typeface="+mn-ea"/>
          <a:cs typeface="+mn-cs"/>
        </a:defRPr>
      </a:lvl6pPr>
      <a:lvl7pPr marL="3516656" algn="l" defTabSz="586109" rtl="0" eaLnBrk="1" latinLnBrk="0" hangingPunct="1">
        <a:defRPr sz="2325" kern="1200">
          <a:solidFill>
            <a:schemeClr val="tx1"/>
          </a:solidFill>
          <a:latin typeface="+mn-lt"/>
          <a:ea typeface="+mn-ea"/>
          <a:cs typeface="+mn-cs"/>
        </a:defRPr>
      </a:lvl7pPr>
      <a:lvl8pPr marL="4102766" algn="l" defTabSz="586109" rtl="0" eaLnBrk="1" latinLnBrk="0" hangingPunct="1">
        <a:defRPr sz="2325" kern="1200">
          <a:solidFill>
            <a:schemeClr val="tx1"/>
          </a:solidFill>
          <a:latin typeface="+mn-lt"/>
          <a:ea typeface="+mn-ea"/>
          <a:cs typeface="+mn-cs"/>
        </a:defRPr>
      </a:lvl8pPr>
      <a:lvl9pPr marL="4688875" algn="l" defTabSz="586109" rtl="0" eaLnBrk="1" latinLnBrk="0" hangingPunct="1">
        <a:defRPr sz="23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7.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27.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E5BC8-9232-E442-86CE-667C1E95B794}"/>
              </a:ext>
            </a:extLst>
          </p:cNvPr>
          <p:cNvSpPr>
            <a:spLocks noGrp="1"/>
          </p:cNvSpPr>
          <p:nvPr>
            <p:ph type="title"/>
          </p:nvPr>
        </p:nvSpPr>
        <p:spPr>
          <a:xfrm>
            <a:off x="411893" y="625701"/>
            <a:ext cx="6766674" cy="854420"/>
          </a:xfrm>
        </p:spPr>
        <p:txBody>
          <a:bodyPr anchor="t">
            <a:noAutofit/>
          </a:bodyPr>
          <a:lstStyle/>
          <a:p>
            <a:pPr>
              <a:lnSpc>
                <a:spcPts val="6416"/>
              </a:lnSpc>
            </a:pPr>
            <a:r>
              <a:rPr lang="en-US" b="1" kern="0" spc="-154" dirty="0">
                <a:solidFill>
                  <a:srgbClr val="000000"/>
                </a:solidFill>
                <a:latin typeface="Inter Bold" pitchFamily="34" charset="0"/>
                <a:ea typeface="Inter Bold" pitchFamily="34" charset="-122"/>
                <a:cs typeface="Inter Bold" pitchFamily="34" charset="-120"/>
              </a:rPr>
              <a:t>Deep Learning for Image Classification</a:t>
            </a:r>
            <a:br>
              <a:rPr lang="en-US" b="1" kern="0" spc="-154" dirty="0">
                <a:solidFill>
                  <a:srgbClr val="000000"/>
                </a:solidFill>
                <a:latin typeface="Inter Bold" pitchFamily="34" charset="0"/>
                <a:ea typeface="Inter Bold" pitchFamily="34" charset="-122"/>
                <a:cs typeface="Inter Bold" pitchFamily="34" charset="-120"/>
              </a:rPr>
            </a:br>
            <a:endParaRPr lang="en-US" dirty="0"/>
          </a:p>
        </p:txBody>
      </p:sp>
      <p:pic>
        <p:nvPicPr>
          <p:cNvPr id="7" name="Image 0" descr="preencoded.png">
            <a:extLst>
              <a:ext uri="{FF2B5EF4-FFF2-40B4-BE49-F238E27FC236}">
                <a16:creationId xmlns:a16="http://schemas.microsoft.com/office/drawing/2014/main" id="{29F5E8AC-AC9D-7CEB-3FA7-9D02AB72A947}"/>
              </a:ext>
            </a:extLst>
          </p:cNvPr>
          <p:cNvPicPr>
            <a:picLocks noChangeAspect="1"/>
          </p:cNvPicPr>
          <p:nvPr/>
        </p:nvPicPr>
        <p:blipFill>
          <a:blip r:embed="rId2"/>
          <a:stretch>
            <a:fillRect/>
          </a:stretch>
        </p:blipFill>
        <p:spPr>
          <a:xfrm>
            <a:off x="7620000" y="0"/>
            <a:ext cx="4572000" cy="6305872"/>
          </a:xfrm>
          <a:prstGeom prst="rect">
            <a:avLst/>
          </a:prstGeom>
        </p:spPr>
      </p:pic>
      <p:sp>
        <p:nvSpPr>
          <p:cNvPr id="11" name="Text 2">
            <a:extLst>
              <a:ext uri="{FF2B5EF4-FFF2-40B4-BE49-F238E27FC236}">
                <a16:creationId xmlns:a16="http://schemas.microsoft.com/office/drawing/2014/main" id="{F0CA489A-3E53-B6C6-229B-AA22BA87BD02}"/>
              </a:ext>
            </a:extLst>
          </p:cNvPr>
          <p:cNvSpPr/>
          <p:nvPr/>
        </p:nvSpPr>
        <p:spPr>
          <a:xfrm>
            <a:off x="661492" y="4645819"/>
            <a:ext cx="2565301" cy="295275"/>
          </a:xfrm>
          <a:prstGeom prst="rect">
            <a:avLst/>
          </a:prstGeom>
          <a:noFill/>
          <a:ln/>
        </p:spPr>
        <p:txBody>
          <a:bodyPr wrap="none" lIns="0" tIns="0" rIns="0" bIns="0" rtlCol="0" anchor="t"/>
          <a:lstStyle/>
          <a:p>
            <a:pPr>
              <a:lnSpc>
                <a:spcPts val="2292"/>
              </a:lnSpc>
            </a:pPr>
            <a:r>
              <a:rPr lang="en-US" sz="1833" kern="0" spc="-56" dirty="0">
                <a:solidFill>
                  <a:srgbClr val="000000"/>
                </a:solidFill>
                <a:latin typeface="Inter Bold" pitchFamily="34" charset="0"/>
                <a:ea typeface="Inter Bold" pitchFamily="34" charset="-122"/>
                <a:cs typeface="Inter Bold" pitchFamily="34" charset="-120"/>
              </a:rPr>
              <a:t>Instructor: Stephin Rachel Thomas</a:t>
            </a:r>
          </a:p>
          <a:p>
            <a:pPr>
              <a:lnSpc>
                <a:spcPts val="2292"/>
              </a:lnSpc>
            </a:pPr>
            <a:endParaRPr lang="en-US" sz="1833" kern="0" spc="-56" dirty="0">
              <a:solidFill>
                <a:srgbClr val="000000"/>
              </a:solidFill>
              <a:latin typeface="Inter Bold" pitchFamily="34" charset="0"/>
              <a:ea typeface="Inter Bold" pitchFamily="34" charset="-122"/>
            </a:endParaRPr>
          </a:p>
          <a:p>
            <a:pPr>
              <a:lnSpc>
                <a:spcPts val="2292"/>
              </a:lnSpc>
            </a:pPr>
            <a:r>
              <a:rPr lang="en-US" sz="1833" kern="0" spc="-56" dirty="0">
                <a:solidFill>
                  <a:srgbClr val="000000"/>
                </a:solidFill>
                <a:latin typeface="Inter Bold" pitchFamily="34" charset="0"/>
                <a:ea typeface="Inter Bold" pitchFamily="34" charset="-122"/>
              </a:rPr>
              <a:t>February 12, 2026</a:t>
            </a:r>
            <a:endParaRPr lang="en-US" sz="1833" dirty="0"/>
          </a:p>
        </p:txBody>
      </p:sp>
    </p:spTree>
    <p:extLst>
      <p:ext uri="{BB962C8B-B14F-4D97-AF65-F5344CB8AC3E}">
        <p14:creationId xmlns:p14="http://schemas.microsoft.com/office/powerpoint/2010/main" val="72696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45FD2-83EB-BC6A-D6E4-1F952BABD6A9}"/>
            </a:ext>
          </a:extLst>
        </p:cNvPr>
        <p:cNvGrpSpPr/>
        <p:nvPr/>
      </p:nvGrpSpPr>
      <p:grpSpPr>
        <a:xfrm>
          <a:off x="0" y="0"/>
          <a:ext cx="0" cy="0"/>
          <a:chOff x="0" y="0"/>
          <a:chExt cx="0" cy="0"/>
        </a:xfrm>
      </p:grpSpPr>
      <p:sp>
        <p:nvSpPr>
          <p:cNvPr id="8" name="Text 0">
            <a:extLst>
              <a:ext uri="{FF2B5EF4-FFF2-40B4-BE49-F238E27FC236}">
                <a16:creationId xmlns:a16="http://schemas.microsoft.com/office/drawing/2014/main" id="{51752BA1-9A53-923E-5DD9-569E7AA5DBEF}"/>
              </a:ext>
            </a:extLst>
          </p:cNvPr>
          <p:cNvSpPr/>
          <p:nvPr/>
        </p:nvSpPr>
        <p:spPr>
          <a:xfrm>
            <a:off x="-1300931" y="288735"/>
            <a:ext cx="7816156" cy="590649"/>
          </a:xfrm>
          <a:prstGeom prst="rect">
            <a:avLst/>
          </a:prstGeom>
          <a:noFill/>
          <a:ln/>
        </p:spPr>
        <p:txBody>
          <a:bodyPr wrap="none" lIns="0" tIns="0" rIns="0" bIns="0" rtlCol="0" anchor="t"/>
          <a:lstStyle/>
          <a:p>
            <a:pPr algn="ctr">
              <a:lnSpc>
                <a:spcPts val="4625"/>
              </a:lnSpc>
            </a:pPr>
            <a:r>
              <a:rPr lang="en-US" sz="3708" b="1" kern="0" spc="-112" dirty="0">
                <a:solidFill>
                  <a:srgbClr val="000000"/>
                </a:solidFill>
                <a:latin typeface="Inter Bold" pitchFamily="34" charset="0"/>
                <a:ea typeface="Inter Bold" pitchFamily="34" charset="-122"/>
              </a:rPr>
              <a:t>Today’s Topics</a:t>
            </a:r>
            <a:endParaRPr lang="en-US" sz="3708" dirty="0"/>
          </a:p>
        </p:txBody>
      </p:sp>
      <p:sp>
        <p:nvSpPr>
          <p:cNvPr id="9" name="TextBox 8">
            <a:extLst>
              <a:ext uri="{FF2B5EF4-FFF2-40B4-BE49-F238E27FC236}">
                <a16:creationId xmlns:a16="http://schemas.microsoft.com/office/drawing/2014/main" id="{D5E0F093-9167-B6D0-D429-8D113CBFF4EF}"/>
              </a:ext>
            </a:extLst>
          </p:cNvPr>
          <p:cNvSpPr txBox="1"/>
          <p:nvPr/>
        </p:nvSpPr>
        <p:spPr>
          <a:xfrm>
            <a:off x="649895" y="952957"/>
            <a:ext cx="6096000" cy="8260595"/>
          </a:xfrm>
          <a:prstGeom prst="rect">
            <a:avLst/>
          </a:prstGeom>
          <a:noFill/>
        </p:spPr>
        <p:txBody>
          <a:bodyPr wrap="square">
            <a:spAutoFit/>
          </a:bodyPr>
          <a:lstStyle/>
          <a:p>
            <a:pPr marL="285739" indent="-285739">
              <a:lnSpc>
                <a:spcPct val="150000"/>
              </a:lnSpc>
              <a:buFont typeface="Arial" panose="020B0604020202020204" pitchFamily="34" charset="0"/>
              <a:buChar char="•"/>
            </a:pPr>
            <a:r>
              <a:rPr lang="en-US" sz="1667" b="1" kern="0" spc="-56" dirty="0">
                <a:latin typeface="Andale Mono" panose="020B0509000000000004" pitchFamily="49" charset="0"/>
                <a:ea typeface="Inter Bold" pitchFamily="34" charset="-122"/>
              </a:rPr>
              <a:t>Fundamentals of Image classification with CNN</a:t>
            </a:r>
          </a:p>
          <a:p>
            <a:pPr marL="285739" indent="-285739">
              <a:lnSpc>
                <a:spcPct val="150000"/>
              </a:lnSpc>
              <a:buFont typeface="Arial" panose="020B0604020202020204" pitchFamily="34" charset="0"/>
              <a:buChar char="•"/>
            </a:pPr>
            <a:r>
              <a:rPr lang="en-US" sz="1667" b="1" kern="0" spc="-56" dirty="0">
                <a:latin typeface="Andale Mono" panose="020B0509000000000004" pitchFamily="49" charset="0"/>
                <a:ea typeface="Inter Bold" pitchFamily="34" charset="-122"/>
              </a:rPr>
              <a:t>Dataset Preparation</a:t>
            </a:r>
          </a:p>
          <a:p>
            <a:pPr marL="285739" indent="-285739">
              <a:lnSpc>
                <a:spcPct val="150000"/>
              </a:lnSpc>
              <a:buFont typeface="Arial" panose="020B0604020202020204" pitchFamily="34" charset="0"/>
              <a:buChar char="•"/>
            </a:pPr>
            <a:r>
              <a:rPr lang="en-US" sz="1667" b="1" kern="0" spc="-56" dirty="0">
                <a:latin typeface="Andale Mono" panose="020B0509000000000004" pitchFamily="49" charset="0"/>
                <a:ea typeface="Inter Bold" pitchFamily="34" charset="-122"/>
              </a:rPr>
              <a:t>Discussion</a:t>
            </a:r>
          </a:p>
          <a:p>
            <a:pPr marL="285739" indent="-285739">
              <a:lnSpc>
                <a:spcPct val="150000"/>
              </a:lnSpc>
              <a:buFont typeface="Arial" panose="020B0604020202020204" pitchFamily="34" charset="0"/>
              <a:buChar char="•"/>
            </a:pPr>
            <a:r>
              <a:rPr lang="en-US" sz="1667" b="1" kern="0" spc="-56" dirty="0">
                <a:latin typeface="Andale Mono" panose="020B0509000000000004" pitchFamily="49" charset="0"/>
                <a:ea typeface="Inter Bold" pitchFamily="34" charset="-122"/>
              </a:rPr>
              <a:t>Data augmentation Strategy</a:t>
            </a:r>
          </a:p>
          <a:p>
            <a:pPr marL="285739" indent="-285739">
              <a:lnSpc>
                <a:spcPct val="150000"/>
              </a:lnSpc>
              <a:buFont typeface="Arial" panose="020B0604020202020204" pitchFamily="34" charset="0"/>
              <a:buChar char="•"/>
            </a:pPr>
            <a:r>
              <a:rPr lang="en-US" sz="1667" b="1" kern="0" spc="-56" dirty="0">
                <a:latin typeface="Andale Mono" panose="020B0509000000000004" pitchFamily="49" charset="0"/>
                <a:ea typeface="Inter Bold" pitchFamily="34" charset="-122"/>
              </a:rPr>
              <a:t>Designing CNN architecture</a:t>
            </a:r>
          </a:p>
          <a:p>
            <a:pPr marL="285739" indent="-285739">
              <a:lnSpc>
                <a:spcPct val="150000"/>
              </a:lnSpc>
              <a:buFont typeface="Arial" panose="020B0604020202020204" pitchFamily="34" charset="0"/>
              <a:buChar char="•"/>
            </a:pPr>
            <a:r>
              <a:rPr lang="en-US" sz="1667" b="1" kern="0" spc="-56" dirty="0">
                <a:latin typeface="Andale Mono" panose="020B0509000000000004" pitchFamily="49" charset="0"/>
                <a:ea typeface="Inter Bold" pitchFamily="34" charset="-122"/>
              </a:rPr>
              <a:t>Activation Functions</a:t>
            </a:r>
          </a:p>
          <a:p>
            <a:pPr marL="285739" indent="-285739">
              <a:lnSpc>
                <a:spcPct val="150000"/>
              </a:lnSpc>
              <a:buFont typeface="Arial" panose="020B0604020202020204" pitchFamily="34" charset="0"/>
              <a:buChar char="•"/>
            </a:pPr>
            <a:r>
              <a:rPr lang="en-US" sz="1667" b="1" kern="0" spc="-56" dirty="0">
                <a:latin typeface="Andale Mono" panose="020B0509000000000004" pitchFamily="49" charset="0"/>
                <a:ea typeface="Inter Bold" pitchFamily="34" charset="-122"/>
              </a:rPr>
              <a:t>Loss Functions</a:t>
            </a:r>
          </a:p>
          <a:p>
            <a:pPr marL="285739" indent="-285739">
              <a:lnSpc>
                <a:spcPct val="150000"/>
              </a:lnSpc>
              <a:buFont typeface="Arial" panose="020B0604020202020204" pitchFamily="34" charset="0"/>
              <a:buChar char="•"/>
            </a:pPr>
            <a:r>
              <a:rPr lang="en-US" sz="1667" b="1" kern="0" spc="-56" dirty="0">
                <a:latin typeface="Andale Mono" panose="020B0509000000000004" pitchFamily="49" charset="0"/>
                <a:ea typeface="Inter Bold" pitchFamily="34" charset="-122"/>
              </a:rPr>
              <a:t>Back propagation</a:t>
            </a:r>
          </a:p>
          <a:p>
            <a:pPr marL="285739" indent="-285739">
              <a:lnSpc>
                <a:spcPct val="150000"/>
              </a:lnSpc>
              <a:buFont typeface="Arial" panose="020B0604020202020204" pitchFamily="34" charset="0"/>
              <a:buChar char="•"/>
            </a:pPr>
            <a:r>
              <a:rPr lang="en-US" sz="1667" b="1" kern="0" spc="-56" dirty="0">
                <a:latin typeface="Andale Mono" panose="020B0509000000000004" pitchFamily="49" charset="0"/>
                <a:ea typeface="Inter Bold" pitchFamily="34" charset="-122"/>
              </a:rPr>
              <a:t>Optimizers</a:t>
            </a:r>
          </a:p>
          <a:p>
            <a:pPr marL="285739" indent="-285739">
              <a:lnSpc>
                <a:spcPct val="150000"/>
              </a:lnSpc>
              <a:buFont typeface="Arial" panose="020B0604020202020204" pitchFamily="34" charset="0"/>
              <a:buChar char="•"/>
            </a:pPr>
            <a:r>
              <a:rPr lang="en-US" sz="1667" b="1" kern="0" spc="-56" dirty="0">
                <a:latin typeface="Andale Mono" panose="020B0509000000000004" pitchFamily="49" charset="0"/>
                <a:ea typeface="Inter Bold" pitchFamily="34" charset="-122"/>
              </a:rPr>
              <a:t>Training CNN</a:t>
            </a:r>
          </a:p>
          <a:p>
            <a:pPr marL="285739" indent="-285739">
              <a:lnSpc>
                <a:spcPct val="150000"/>
              </a:lnSpc>
              <a:buFont typeface="Arial" panose="020B0604020202020204" pitchFamily="34" charset="0"/>
              <a:buChar char="•"/>
            </a:pPr>
            <a:r>
              <a:rPr lang="en-CZ" sz="1600" b="1" dirty="0">
                <a:latin typeface="Andale Mono" panose="020B0509000000000004" pitchFamily="49" charset="0"/>
              </a:rPr>
              <a:t>Common issues in Computer vision</a:t>
            </a:r>
          </a:p>
          <a:p>
            <a:pPr marL="285739" indent="-285739">
              <a:lnSpc>
                <a:spcPct val="150000"/>
              </a:lnSpc>
              <a:buFont typeface="Arial" panose="020B0604020202020204" pitchFamily="34" charset="0"/>
              <a:buChar char="•"/>
            </a:pPr>
            <a:r>
              <a:rPr lang="en-CZ" sz="1600" b="1" dirty="0">
                <a:latin typeface="Andale Mono" panose="020B0509000000000004" pitchFamily="49" charset="0"/>
              </a:rPr>
              <a:t>Troubleshooting in CNN Training</a:t>
            </a:r>
          </a:p>
          <a:p>
            <a:pPr marL="285739" indent="-285739">
              <a:lnSpc>
                <a:spcPct val="150000"/>
              </a:lnSpc>
              <a:buFont typeface="Arial" panose="020B0604020202020204" pitchFamily="34" charset="0"/>
              <a:buChar char="•"/>
            </a:pPr>
            <a:r>
              <a:rPr lang="en-US" sz="1600" b="1" kern="0" spc="-56" dirty="0">
                <a:latin typeface="Andale Mono" panose="020B0509000000000004" pitchFamily="49" charset="0"/>
                <a:ea typeface="Inter Bold" pitchFamily="34" charset="-122"/>
              </a:rPr>
              <a:t>Midterm test details</a:t>
            </a:r>
          </a:p>
          <a:p>
            <a:pPr marL="285739" indent="-285739">
              <a:lnSpc>
                <a:spcPct val="150000"/>
              </a:lnSpc>
              <a:buFont typeface="Arial" panose="020B0604020202020204" pitchFamily="34" charset="0"/>
              <a:buChar char="•"/>
            </a:pPr>
            <a:endParaRPr lang="en-CZ" sz="1600" b="1" dirty="0">
              <a:latin typeface="Andale Mono" panose="020B0509000000000004" pitchFamily="49" charset="0"/>
            </a:endParaRPr>
          </a:p>
          <a:p>
            <a:pPr marL="285739" indent="-285739">
              <a:buFont typeface="Arial" panose="020B0604020202020204" pitchFamily="34" charset="0"/>
              <a:buChar char="•"/>
            </a:pPr>
            <a:endParaRPr lang="en-CZ" sz="1800" dirty="0">
              <a:latin typeface="Andale Mono" panose="020B0509000000000004" pitchFamily="49" charset="0"/>
            </a:endParaRPr>
          </a:p>
          <a:p>
            <a:pPr marL="285739" indent="-285739">
              <a:buFont typeface="Arial" panose="020B0604020202020204" pitchFamily="34" charset="0"/>
              <a:buChar char="•"/>
            </a:pPr>
            <a:endParaRPr lang="en-US" sz="1667" b="1" kern="0" spc="-56" dirty="0">
              <a:solidFill>
                <a:srgbClr val="000000"/>
              </a:solidFill>
              <a:latin typeface="Andale Mono" panose="020B0509000000000004" pitchFamily="49" charset="0"/>
              <a:ea typeface="Inter Bold" pitchFamily="34" charset="-122"/>
            </a:endParaRPr>
          </a:p>
          <a:p>
            <a:endParaRPr lang="en-US" sz="1667" b="1" kern="0" spc="-56" dirty="0">
              <a:solidFill>
                <a:srgbClr val="000000"/>
              </a:solidFill>
              <a:latin typeface="Andale Mono" panose="020B0509000000000004" pitchFamily="49" charset="0"/>
              <a:ea typeface="Inter Bold" pitchFamily="34" charset="-122"/>
            </a:endParaRPr>
          </a:p>
          <a:p>
            <a:endParaRPr lang="en-US" sz="1667" b="1" kern="0" spc="-56" dirty="0">
              <a:solidFill>
                <a:srgbClr val="000000"/>
              </a:solidFill>
              <a:latin typeface="Andale Mono" panose="020B0509000000000004" pitchFamily="49"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Andale Mono" panose="020B0509000000000004" pitchFamily="49"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Andale Mono" panose="020B0509000000000004" pitchFamily="49"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Andale Mono" panose="020B0509000000000004" pitchFamily="49"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Andale Mono" panose="020B0509000000000004" pitchFamily="49"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Andale Mono" panose="020B0509000000000004" pitchFamily="49" charset="0"/>
              <a:ea typeface="Inter Bold" pitchFamily="34" charset="-122"/>
            </a:endParaRPr>
          </a:p>
          <a:p>
            <a:endParaRPr lang="en-US" sz="1667" b="1" kern="0" spc="-56" dirty="0">
              <a:solidFill>
                <a:srgbClr val="000000"/>
              </a:solidFill>
              <a:latin typeface="Andale Mono" panose="020B0509000000000004" pitchFamily="49" charset="0"/>
              <a:ea typeface="Inter Bold" pitchFamily="34" charset="-122"/>
            </a:endParaRPr>
          </a:p>
          <a:p>
            <a:endParaRPr lang="en-US" sz="1667" dirty="0">
              <a:latin typeface="Andale Mono" panose="020B0509000000000004" pitchFamily="49" charset="0"/>
            </a:endParaRPr>
          </a:p>
        </p:txBody>
      </p:sp>
      <p:pic>
        <p:nvPicPr>
          <p:cNvPr id="6" name="Image 0" descr="preencoded.png">
            <a:extLst>
              <a:ext uri="{FF2B5EF4-FFF2-40B4-BE49-F238E27FC236}">
                <a16:creationId xmlns:a16="http://schemas.microsoft.com/office/drawing/2014/main" id="{6AD770B1-BFE6-2CB6-F1EA-5A9D1BB85746}"/>
              </a:ext>
            </a:extLst>
          </p:cNvPr>
          <p:cNvPicPr>
            <a:picLocks noChangeAspect="1"/>
          </p:cNvPicPr>
          <p:nvPr/>
        </p:nvPicPr>
        <p:blipFill>
          <a:blip r:embed="rId2"/>
          <a:stretch>
            <a:fillRect/>
          </a:stretch>
        </p:blipFill>
        <p:spPr>
          <a:xfrm>
            <a:off x="7620000" y="0"/>
            <a:ext cx="4572000" cy="6305872"/>
          </a:xfrm>
          <a:prstGeom prst="rect">
            <a:avLst/>
          </a:prstGeom>
        </p:spPr>
      </p:pic>
    </p:spTree>
    <p:extLst>
      <p:ext uri="{BB962C8B-B14F-4D97-AF65-F5344CB8AC3E}">
        <p14:creationId xmlns:p14="http://schemas.microsoft.com/office/powerpoint/2010/main" val="1883900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209953-727C-FDF3-52F2-0A10D949815D}"/>
              </a:ext>
            </a:extLst>
          </p:cNvPr>
          <p:cNvSpPr>
            <a:spLocks noGrp="1"/>
          </p:cNvSpPr>
          <p:nvPr>
            <p:ph type="body" sz="quarter" idx="15"/>
          </p:nvPr>
        </p:nvSpPr>
        <p:spPr>
          <a:xfrm>
            <a:off x="346842" y="1261242"/>
            <a:ext cx="6432331" cy="4831694"/>
          </a:xfrm>
        </p:spPr>
        <p:txBody>
          <a:bodyPr>
            <a:normAutofit/>
          </a:bodyPr>
          <a:lstStyle/>
          <a:p>
            <a:r>
              <a:rPr lang="en-US" dirty="0"/>
              <a:t>Deep Learning, a subset of machine learning, involves </a:t>
            </a:r>
            <a:r>
              <a:rPr lang="en-US" dirty="0">
                <a:solidFill>
                  <a:srgbClr val="00B0F0"/>
                </a:solidFill>
              </a:rPr>
              <a:t>neural networks with many layers</a:t>
            </a:r>
            <a:r>
              <a:rPr lang="en-US" dirty="0">
                <a:solidFill>
                  <a:schemeClr val="tx1">
                    <a:lumMod val="75000"/>
                  </a:schemeClr>
                </a:solidFill>
              </a:rPr>
              <a:t>. </a:t>
            </a:r>
          </a:p>
          <a:p>
            <a:endParaRPr lang="en-US" dirty="0">
              <a:solidFill>
                <a:schemeClr val="tx1">
                  <a:lumMod val="75000"/>
                </a:schemeClr>
              </a:solidFill>
            </a:endParaRPr>
          </a:p>
          <a:p>
            <a:r>
              <a:rPr lang="en-US" dirty="0"/>
              <a:t>In computer vision, deep learning powers tasks such as </a:t>
            </a:r>
            <a:r>
              <a:rPr lang="en-US" dirty="0">
                <a:solidFill>
                  <a:srgbClr val="00B0F0"/>
                </a:solidFill>
              </a:rPr>
              <a:t>image classification, object detection, and semantic segmentation</a:t>
            </a:r>
            <a:r>
              <a:rPr lang="en-US" dirty="0"/>
              <a:t>. </a:t>
            </a:r>
          </a:p>
          <a:p>
            <a:endParaRPr lang="en-US" dirty="0"/>
          </a:p>
          <a:p>
            <a:r>
              <a:rPr lang="en-US" dirty="0"/>
              <a:t>These tasks are accomplished through models that can identify patterns and features in images, mimicking human vision.</a:t>
            </a:r>
            <a:endParaRPr lang="en-CA" dirty="0"/>
          </a:p>
        </p:txBody>
      </p:sp>
      <p:sp>
        <p:nvSpPr>
          <p:cNvPr id="2" name="Title 1">
            <a:extLst>
              <a:ext uri="{FF2B5EF4-FFF2-40B4-BE49-F238E27FC236}">
                <a16:creationId xmlns:a16="http://schemas.microsoft.com/office/drawing/2014/main" id="{6709E7F2-81D0-BBA3-BBD2-F93E90C014FF}"/>
              </a:ext>
            </a:extLst>
          </p:cNvPr>
          <p:cNvSpPr>
            <a:spLocks noGrp="1"/>
          </p:cNvSpPr>
          <p:nvPr>
            <p:ph type="title"/>
          </p:nvPr>
        </p:nvSpPr>
        <p:spPr>
          <a:xfrm>
            <a:off x="609601" y="576274"/>
            <a:ext cx="5612588" cy="1001980"/>
          </a:xfrm>
        </p:spPr>
        <p:txBody>
          <a:bodyPr anchor="t">
            <a:normAutofit/>
          </a:bodyPr>
          <a:lstStyle/>
          <a:p>
            <a:r>
              <a:rPr lang="en-US" dirty="0"/>
              <a:t>INTRODUCTION</a:t>
            </a:r>
            <a:endParaRPr lang="en-CA" dirty="0"/>
          </a:p>
        </p:txBody>
      </p:sp>
      <p:pic>
        <p:nvPicPr>
          <p:cNvPr id="5" name="Picture 4">
            <a:extLst>
              <a:ext uri="{FF2B5EF4-FFF2-40B4-BE49-F238E27FC236}">
                <a16:creationId xmlns:a16="http://schemas.microsoft.com/office/drawing/2014/main" id="{BF16A5D5-00CD-06FE-C549-3ABA6D63C98D}"/>
              </a:ext>
            </a:extLst>
          </p:cNvPr>
          <p:cNvPicPr>
            <a:picLocks noChangeAspect="1"/>
          </p:cNvPicPr>
          <p:nvPr/>
        </p:nvPicPr>
        <p:blipFill rotWithShape="1">
          <a:blip r:embed="rId2"/>
          <a:srcRect l="18034" r="19921" b="-1"/>
          <a:stretch/>
        </p:blipFill>
        <p:spPr>
          <a:xfrm>
            <a:off x="7009488" y="105103"/>
            <a:ext cx="5182512" cy="6169573"/>
          </a:xfrm>
          <a:prstGeom prst="rect">
            <a:avLst/>
          </a:prstGeom>
          <a:noFill/>
        </p:spPr>
      </p:pic>
    </p:spTree>
    <p:extLst>
      <p:ext uri="{BB962C8B-B14F-4D97-AF65-F5344CB8AC3E}">
        <p14:creationId xmlns:p14="http://schemas.microsoft.com/office/powerpoint/2010/main" val="926795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63B9F6-0CC8-121B-D4B4-7E347BD6906D}"/>
              </a:ext>
            </a:extLst>
          </p:cNvPr>
          <p:cNvSpPr>
            <a:spLocks noGrp="1"/>
          </p:cNvSpPr>
          <p:nvPr>
            <p:ph type="body" sz="quarter" idx="15"/>
          </p:nvPr>
        </p:nvSpPr>
        <p:spPr>
          <a:xfrm>
            <a:off x="609603" y="1803400"/>
            <a:ext cx="5612587" cy="4061371"/>
          </a:xfrm>
        </p:spPr>
        <p:txBody>
          <a:bodyPr>
            <a:normAutofit fontScale="92500" lnSpcReduction="10000"/>
          </a:bodyPr>
          <a:lstStyle/>
          <a:p>
            <a:pPr>
              <a:lnSpc>
                <a:spcPct val="100000"/>
              </a:lnSpc>
            </a:pPr>
            <a:r>
              <a:rPr lang="en-US" dirty="0"/>
              <a:t>Image classification with CNNs involves </a:t>
            </a:r>
            <a:r>
              <a:rPr lang="en-US" dirty="0">
                <a:solidFill>
                  <a:srgbClr val="7030A0"/>
                </a:solidFill>
              </a:rPr>
              <a:t>categorizing</a:t>
            </a:r>
            <a:r>
              <a:rPr lang="en-US" dirty="0"/>
              <a:t> </a:t>
            </a:r>
            <a:r>
              <a:rPr lang="en-US" dirty="0">
                <a:solidFill>
                  <a:srgbClr val="7030A0"/>
                </a:solidFill>
              </a:rPr>
              <a:t>and labeling images into predefined classes</a:t>
            </a:r>
            <a:r>
              <a:rPr lang="en-US" dirty="0"/>
              <a:t>. </a:t>
            </a:r>
          </a:p>
          <a:p>
            <a:pPr>
              <a:lnSpc>
                <a:spcPct val="100000"/>
              </a:lnSpc>
            </a:pPr>
            <a:r>
              <a:rPr lang="en-US" dirty="0"/>
              <a:t>CNNs process images through layers that detect features, reduce dimensions, and classify images based on learned patterns.</a:t>
            </a:r>
          </a:p>
          <a:p>
            <a:pPr>
              <a:lnSpc>
                <a:spcPct val="100000"/>
              </a:lnSpc>
            </a:pPr>
            <a:endParaRPr lang="en-US" dirty="0"/>
          </a:p>
          <a:p>
            <a:pPr>
              <a:lnSpc>
                <a:spcPct val="100000"/>
              </a:lnSpc>
            </a:pPr>
            <a:r>
              <a:rPr lang="en-US" dirty="0"/>
              <a:t> Key components include </a:t>
            </a:r>
            <a:r>
              <a:rPr lang="en-US" dirty="0">
                <a:solidFill>
                  <a:srgbClr val="7030A0"/>
                </a:solidFill>
              </a:rPr>
              <a:t>convolutional layers </a:t>
            </a:r>
            <a:r>
              <a:rPr lang="en-US" dirty="0"/>
              <a:t>for feature extraction, </a:t>
            </a:r>
            <a:r>
              <a:rPr lang="en-US" dirty="0">
                <a:solidFill>
                  <a:srgbClr val="7030A0"/>
                </a:solidFill>
              </a:rPr>
              <a:t>pooling layers </a:t>
            </a:r>
            <a:r>
              <a:rPr lang="en-US" dirty="0"/>
              <a:t>for dimensionality reduction, </a:t>
            </a:r>
            <a:r>
              <a:rPr lang="en-US" dirty="0">
                <a:solidFill>
                  <a:srgbClr val="7030A0"/>
                </a:solidFill>
              </a:rPr>
              <a:t>and fully connected layers</a:t>
            </a:r>
            <a:r>
              <a:rPr lang="en-US" dirty="0"/>
              <a:t> for classification.</a:t>
            </a:r>
            <a:endParaRPr lang="en-CA" dirty="0"/>
          </a:p>
        </p:txBody>
      </p:sp>
      <p:sp>
        <p:nvSpPr>
          <p:cNvPr id="2" name="Title 1">
            <a:extLst>
              <a:ext uri="{FF2B5EF4-FFF2-40B4-BE49-F238E27FC236}">
                <a16:creationId xmlns:a16="http://schemas.microsoft.com/office/drawing/2014/main" id="{F914E6C0-1288-0E21-AE37-855FD00FEAB7}"/>
              </a:ext>
            </a:extLst>
          </p:cNvPr>
          <p:cNvSpPr>
            <a:spLocks noGrp="1"/>
          </p:cNvSpPr>
          <p:nvPr>
            <p:ph type="title"/>
          </p:nvPr>
        </p:nvSpPr>
        <p:spPr>
          <a:xfrm>
            <a:off x="609600" y="576274"/>
            <a:ext cx="10604937" cy="1001980"/>
          </a:xfrm>
        </p:spPr>
        <p:txBody>
          <a:bodyPr anchor="t">
            <a:normAutofit/>
          </a:bodyPr>
          <a:lstStyle/>
          <a:p>
            <a:pPr algn="ctr"/>
            <a:r>
              <a:rPr lang="en-US" dirty="0"/>
              <a:t>Fundamentals of Image Classification with CNNs</a:t>
            </a:r>
            <a:endParaRPr lang="en-CA" dirty="0"/>
          </a:p>
        </p:txBody>
      </p:sp>
      <p:pic>
        <p:nvPicPr>
          <p:cNvPr id="1026" name="Picture 2" descr="Image Classification Techniques. Image classification refers to a… | by  Kavish Sanghvi | Analytics Vidhya | Medium">
            <a:extLst>
              <a:ext uri="{FF2B5EF4-FFF2-40B4-BE49-F238E27FC236}">
                <a16:creationId xmlns:a16="http://schemas.microsoft.com/office/drawing/2014/main" id="{19593CD8-4B01-C964-A4A5-7D1E62BFCE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6924" y="2472054"/>
            <a:ext cx="5612588" cy="1913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5539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04864D6-A412-DCD4-CB46-E5B473810F3A}"/>
              </a:ext>
            </a:extLst>
          </p:cNvPr>
          <p:cNvSpPr>
            <a:spLocks noGrp="1"/>
          </p:cNvSpPr>
          <p:nvPr>
            <p:ph type="body" sz="quarter" idx="15"/>
          </p:nvPr>
        </p:nvSpPr>
        <p:spPr>
          <a:xfrm>
            <a:off x="231228" y="1734207"/>
            <a:ext cx="6274675" cy="4204138"/>
          </a:xfrm>
        </p:spPr>
        <p:txBody>
          <a:bodyPr>
            <a:normAutofit lnSpcReduction="10000"/>
          </a:bodyPr>
          <a:lstStyle/>
          <a:p>
            <a:r>
              <a:rPr lang="en-US" dirty="0">
                <a:solidFill>
                  <a:srgbClr val="7030A0"/>
                </a:solidFill>
              </a:rPr>
              <a:t>Dataset preparation </a:t>
            </a:r>
            <a:r>
              <a:rPr lang="en-US" dirty="0"/>
              <a:t>is a vital step in image classification. </a:t>
            </a:r>
          </a:p>
          <a:p>
            <a:r>
              <a:rPr lang="en-US" dirty="0"/>
              <a:t>It involves collecting a diverse set of images representing different classes. </a:t>
            </a:r>
          </a:p>
          <a:p>
            <a:r>
              <a:rPr lang="en-US" b="1" dirty="0">
                <a:solidFill>
                  <a:srgbClr val="7030A0"/>
                </a:solidFill>
              </a:rPr>
              <a:t>Annotation</a:t>
            </a:r>
            <a:r>
              <a:rPr lang="en-US" dirty="0"/>
              <a:t>, the process of labeling images with class names, is essential for </a:t>
            </a:r>
            <a:r>
              <a:rPr lang="en-US" dirty="0">
                <a:solidFill>
                  <a:srgbClr val="00B0F0"/>
                </a:solidFill>
              </a:rPr>
              <a:t>supervised learning. </a:t>
            </a:r>
          </a:p>
          <a:p>
            <a:r>
              <a:rPr lang="en-US" dirty="0">
                <a:solidFill>
                  <a:srgbClr val="00B0F0"/>
                </a:solidFill>
              </a:rPr>
              <a:t>Quality and diversity of the dataset </a:t>
            </a:r>
            <a:r>
              <a:rPr lang="en-US" dirty="0"/>
              <a:t>directly impact the model's ability to learn and generalize to new, unseen images.</a:t>
            </a:r>
            <a:endParaRPr lang="en-CA" dirty="0"/>
          </a:p>
        </p:txBody>
      </p:sp>
      <p:sp>
        <p:nvSpPr>
          <p:cNvPr id="2" name="Title 1">
            <a:extLst>
              <a:ext uri="{FF2B5EF4-FFF2-40B4-BE49-F238E27FC236}">
                <a16:creationId xmlns:a16="http://schemas.microsoft.com/office/drawing/2014/main" id="{23947E52-C165-BD9F-FE3A-2E7E34EAE15F}"/>
              </a:ext>
            </a:extLst>
          </p:cNvPr>
          <p:cNvSpPr>
            <a:spLocks noGrp="1"/>
          </p:cNvSpPr>
          <p:nvPr>
            <p:ph type="title"/>
          </p:nvPr>
        </p:nvSpPr>
        <p:spPr>
          <a:xfrm>
            <a:off x="762337" y="576274"/>
            <a:ext cx="5612588" cy="1001980"/>
          </a:xfrm>
        </p:spPr>
        <p:txBody>
          <a:bodyPr anchor="t">
            <a:normAutofit/>
          </a:bodyPr>
          <a:lstStyle/>
          <a:p>
            <a:r>
              <a:rPr lang="en-US" sz="3300" dirty="0"/>
              <a:t>Dataset Preparation: Collection and Annotation</a:t>
            </a:r>
            <a:endParaRPr lang="en-CA" sz="3300" dirty="0"/>
          </a:p>
        </p:txBody>
      </p:sp>
      <p:pic>
        <p:nvPicPr>
          <p:cNvPr id="2050" name="Picture 2" descr="What is Data Annotation and What are its Advantages? | by Rayan Potter |  ANOLYTICS | Medium">
            <a:extLst>
              <a:ext uri="{FF2B5EF4-FFF2-40B4-BE49-F238E27FC236}">
                <a16:creationId xmlns:a16="http://schemas.microsoft.com/office/drawing/2014/main" id="{508C603D-5F6A-E787-FF5A-BEFCA8B240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2506" y="0"/>
            <a:ext cx="5393897" cy="6222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5358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8431-A66E-A526-9134-17CC12AFAC67}"/>
              </a:ext>
            </a:extLst>
          </p:cNvPr>
          <p:cNvSpPr>
            <a:spLocks noGrp="1"/>
          </p:cNvSpPr>
          <p:nvPr>
            <p:ph type="title"/>
          </p:nvPr>
        </p:nvSpPr>
        <p:spPr>
          <a:xfrm>
            <a:off x="357352" y="188802"/>
            <a:ext cx="10310648" cy="1362076"/>
          </a:xfrm>
        </p:spPr>
        <p:txBody>
          <a:bodyPr anchor="b">
            <a:normAutofit/>
          </a:bodyPr>
          <a:lstStyle/>
          <a:p>
            <a:r>
              <a:rPr lang="en-CA" dirty="0"/>
              <a:t>Data Preprocessing Techniques for Image Data</a:t>
            </a:r>
          </a:p>
        </p:txBody>
      </p:sp>
      <p:sp>
        <p:nvSpPr>
          <p:cNvPr id="3" name="Text Placeholder 2">
            <a:extLst>
              <a:ext uri="{FF2B5EF4-FFF2-40B4-BE49-F238E27FC236}">
                <a16:creationId xmlns:a16="http://schemas.microsoft.com/office/drawing/2014/main" id="{CC7989E3-8DA5-C5C6-D3C2-54ACBEA18DA5}"/>
              </a:ext>
            </a:extLst>
          </p:cNvPr>
          <p:cNvSpPr>
            <a:spLocks noGrp="1"/>
          </p:cNvSpPr>
          <p:nvPr>
            <p:ph type="body" idx="1"/>
          </p:nvPr>
        </p:nvSpPr>
        <p:spPr>
          <a:xfrm>
            <a:off x="546538" y="2122617"/>
            <a:ext cx="10920247" cy="4351755"/>
          </a:xfrm>
        </p:spPr>
        <p:txBody>
          <a:bodyPr anchor="t">
            <a:normAutofit/>
          </a:bodyPr>
          <a:lstStyle/>
          <a:p>
            <a:pPr>
              <a:lnSpc>
                <a:spcPct val="90000"/>
              </a:lnSpc>
            </a:pPr>
            <a:r>
              <a:rPr lang="en-US" sz="2800" dirty="0"/>
              <a:t>Preprocessing is crucial for preparing images for CNNs. </a:t>
            </a:r>
          </a:p>
          <a:p>
            <a:pPr>
              <a:lnSpc>
                <a:spcPct val="90000"/>
              </a:lnSpc>
            </a:pPr>
            <a:endParaRPr lang="en-US" sz="2800" dirty="0"/>
          </a:p>
          <a:p>
            <a:pPr>
              <a:lnSpc>
                <a:spcPct val="90000"/>
              </a:lnSpc>
            </a:pPr>
            <a:r>
              <a:rPr lang="en-US" sz="2800" dirty="0"/>
              <a:t>It includes </a:t>
            </a:r>
            <a:r>
              <a:rPr lang="en-US" sz="2800" dirty="0">
                <a:solidFill>
                  <a:srgbClr val="00B0F0"/>
                </a:solidFill>
              </a:rPr>
              <a:t>resizing images to a uniform size, normalizing pixel values (typically to a 0-1 range), and converting images to grayscale or other color spaces if needed</a:t>
            </a:r>
            <a:r>
              <a:rPr lang="en-US" sz="2800" dirty="0"/>
              <a:t>. </a:t>
            </a:r>
          </a:p>
          <a:p>
            <a:pPr>
              <a:lnSpc>
                <a:spcPct val="90000"/>
              </a:lnSpc>
            </a:pPr>
            <a:endParaRPr lang="en-US" sz="2800" dirty="0"/>
          </a:p>
          <a:p>
            <a:pPr>
              <a:lnSpc>
                <a:spcPct val="90000"/>
              </a:lnSpc>
            </a:pPr>
            <a:r>
              <a:rPr lang="en-US" sz="2800" dirty="0"/>
              <a:t>These steps ensure </a:t>
            </a:r>
            <a:r>
              <a:rPr lang="en-US" sz="2800" dirty="0">
                <a:solidFill>
                  <a:srgbClr val="FFC000"/>
                </a:solidFill>
              </a:rPr>
              <a:t>consistent input for the CNN</a:t>
            </a:r>
            <a:r>
              <a:rPr lang="en-US" sz="2800" dirty="0"/>
              <a:t>, aiding in effective learning and reducing computational load.</a:t>
            </a:r>
            <a:endParaRPr lang="en-CA" sz="2800" dirty="0"/>
          </a:p>
        </p:txBody>
      </p:sp>
    </p:spTree>
    <p:extLst>
      <p:ext uri="{BB962C8B-B14F-4D97-AF65-F5344CB8AC3E}">
        <p14:creationId xmlns:p14="http://schemas.microsoft.com/office/powerpoint/2010/main" val="245103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3F4D6-6EF8-1CB2-A3B0-2E04B4C825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66164-7910-9512-0159-15796D1EBA84}"/>
              </a:ext>
            </a:extLst>
          </p:cNvPr>
          <p:cNvSpPr>
            <a:spLocks noGrp="1"/>
          </p:cNvSpPr>
          <p:nvPr>
            <p:ph type="title"/>
          </p:nvPr>
        </p:nvSpPr>
        <p:spPr>
          <a:xfrm>
            <a:off x="473530" y="1544637"/>
            <a:ext cx="11722889" cy="2677433"/>
          </a:xfrm>
        </p:spPr>
        <p:txBody>
          <a:bodyPr anchor="b">
            <a:normAutofit/>
          </a:bodyPr>
          <a:lstStyle/>
          <a:p>
            <a:r>
              <a:rPr lang="en-CA" dirty="0"/>
              <a:t>Discussion – Why do we split our data into train, validation, and testing sets?</a:t>
            </a:r>
            <a:endParaRPr lang="en-CA" dirty="0">
              <a:cs typeface="Arial"/>
            </a:endParaRPr>
          </a:p>
        </p:txBody>
      </p:sp>
    </p:spTree>
    <p:extLst>
      <p:ext uri="{BB962C8B-B14F-4D97-AF65-F5344CB8AC3E}">
        <p14:creationId xmlns:p14="http://schemas.microsoft.com/office/powerpoint/2010/main" val="2187408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F9E14BA-228A-E540-CF7C-8E0E5D0D5C38}"/>
              </a:ext>
            </a:extLst>
          </p:cNvPr>
          <p:cNvSpPr>
            <a:spLocks noGrp="1"/>
          </p:cNvSpPr>
          <p:nvPr>
            <p:ph type="body" sz="quarter" idx="15"/>
          </p:nvPr>
        </p:nvSpPr>
        <p:spPr>
          <a:xfrm>
            <a:off x="609601" y="1414517"/>
            <a:ext cx="5927833" cy="4639441"/>
          </a:xfrm>
        </p:spPr>
        <p:txBody>
          <a:bodyPr>
            <a:normAutofit/>
          </a:bodyPr>
          <a:lstStyle/>
          <a:p>
            <a:r>
              <a:rPr lang="en-US" dirty="0">
                <a:solidFill>
                  <a:srgbClr val="00B0F0"/>
                </a:solidFill>
              </a:rPr>
              <a:t>Data augmentation </a:t>
            </a:r>
            <a:r>
              <a:rPr lang="en-US" dirty="0"/>
              <a:t>artificially expands the training dataset by applying random transformations like </a:t>
            </a:r>
            <a:r>
              <a:rPr lang="en-US" dirty="0">
                <a:solidFill>
                  <a:srgbClr val="00B0F0"/>
                </a:solidFill>
              </a:rPr>
              <a:t>rotation, scaling, flipping, and cropping to the images</a:t>
            </a:r>
            <a:r>
              <a:rPr lang="en-US" dirty="0"/>
              <a:t>. </a:t>
            </a:r>
          </a:p>
          <a:p>
            <a:r>
              <a:rPr lang="en-US" dirty="0"/>
              <a:t>This process helps in reducing overfitting, as it exposes the model to a wider variety of features and scenarios, making it more robust and improving generalization.</a:t>
            </a:r>
            <a:endParaRPr lang="en-CA" dirty="0"/>
          </a:p>
        </p:txBody>
      </p:sp>
      <p:sp>
        <p:nvSpPr>
          <p:cNvPr id="2" name="Title 1">
            <a:extLst>
              <a:ext uri="{FF2B5EF4-FFF2-40B4-BE49-F238E27FC236}">
                <a16:creationId xmlns:a16="http://schemas.microsoft.com/office/drawing/2014/main" id="{35757DE2-D3EE-9B64-6D69-D3745628B9CD}"/>
              </a:ext>
            </a:extLst>
          </p:cNvPr>
          <p:cNvSpPr>
            <a:spLocks noGrp="1"/>
          </p:cNvSpPr>
          <p:nvPr>
            <p:ph type="title"/>
          </p:nvPr>
        </p:nvSpPr>
        <p:spPr>
          <a:xfrm>
            <a:off x="609601" y="576274"/>
            <a:ext cx="10394730" cy="1001980"/>
          </a:xfrm>
        </p:spPr>
        <p:txBody>
          <a:bodyPr anchor="t">
            <a:normAutofit/>
          </a:bodyPr>
          <a:lstStyle/>
          <a:p>
            <a:r>
              <a:rPr lang="fr-FR" sz="3100"/>
              <a:t>Data Augmentation Strategies in Image Classification</a:t>
            </a:r>
            <a:endParaRPr lang="en-CA" sz="3100"/>
          </a:p>
        </p:txBody>
      </p:sp>
      <p:pic>
        <p:nvPicPr>
          <p:cNvPr id="3074" name="Picture 2" descr="Data Augmentation for Computer Vision | by TagX | Medium">
            <a:extLst>
              <a:ext uri="{FF2B5EF4-FFF2-40B4-BE49-F238E27FC236}">
                <a16:creationId xmlns:a16="http://schemas.microsoft.com/office/drawing/2014/main" id="{6C8A26B7-5C49-51C0-C0FA-02F1DD8FD4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1110" y="2143125"/>
            <a:ext cx="457200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6006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880367-006A-A9B4-34E4-E0BC378C4027}"/>
              </a:ext>
            </a:extLst>
          </p:cNvPr>
          <p:cNvSpPr>
            <a:spLocks noGrp="1"/>
          </p:cNvSpPr>
          <p:nvPr>
            <p:ph type="body" sz="quarter" idx="15"/>
          </p:nvPr>
        </p:nvSpPr>
        <p:spPr>
          <a:xfrm>
            <a:off x="609603" y="1803401"/>
            <a:ext cx="5612587" cy="3848100"/>
          </a:xfrm>
        </p:spPr>
        <p:txBody>
          <a:bodyPr>
            <a:normAutofit lnSpcReduction="10000"/>
          </a:bodyPr>
          <a:lstStyle/>
          <a:p>
            <a:pPr>
              <a:lnSpc>
                <a:spcPct val="100000"/>
              </a:lnSpc>
            </a:pPr>
            <a:r>
              <a:rPr lang="en-US" dirty="0"/>
              <a:t>Designing a CNN involves decisions about the </a:t>
            </a:r>
            <a:r>
              <a:rPr lang="en-US" dirty="0">
                <a:solidFill>
                  <a:srgbClr val="0070C0"/>
                </a:solidFill>
              </a:rPr>
              <a:t>number</a:t>
            </a:r>
            <a:r>
              <a:rPr lang="en-US" dirty="0"/>
              <a:t> of layers, </a:t>
            </a:r>
            <a:r>
              <a:rPr lang="en-US" dirty="0">
                <a:solidFill>
                  <a:srgbClr val="0070C0"/>
                </a:solidFill>
              </a:rPr>
              <a:t>types</a:t>
            </a:r>
            <a:r>
              <a:rPr lang="en-US" dirty="0"/>
              <a:t> of layers (convolutional, pooling, fully connected), and their </a:t>
            </a:r>
            <a:r>
              <a:rPr lang="en-US" dirty="0">
                <a:solidFill>
                  <a:srgbClr val="0070C0"/>
                </a:solidFill>
              </a:rPr>
              <a:t>parameters</a:t>
            </a:r>
            <a:r>
              <a:rPr lang="en-US" dirty="0"/>
              <a:t> (like filter size, stride, and activation functions). </a:t>
            </a:r>
          </a:p>
          <a:p>
            <a:pPr>
              <a:lnSpc>
                <a:spcPct val="100000"/>
              </a:lnSpc>
            </a:pPr>
            <a:r>
              <a:rPr lang="en-US" dirty="0"/>
              <a:t>The architecture should match the complexity of the task; deeper networks for more complex tasks, and consideration of computational efficiency and overfitting risks.</a:t>
            </a:r>
            <a:endParaRPr lang="en-CA" dirty="0"/>
          </a:p>
        </p:txBody>
      </p:sp>
      <p:sp>
        <p:nvSpPr>
          <p:cNvPr id="2" name="Title 1">
            <a:extLst>
              <a:ext uri="{FF2B5EF4-FFF2-40B4-BE49-F238E27FC236}">
                <a16:creationId xmlns:a16="http://schemas.microsoft.com/office/drawing/2014/main" id="{B04A794A-6549-987F-4C47-C3E184F3F171}"/>
              </a:ext>
            </a:extLst>
          </p:cNvPr>
          <p:cNvSpPr>
            <a:spLocks noGrp="1"/>
          </p:cNvSpPr>
          <p:nvPr>
            <p:ph type="title"/>
          </p:nvPr>
        </p:nvSpPr>
        <p:spPr>
          <a:xfrm>
            <a:off x="609601" y="576274"/>
            <a:ext cx="5612588" cy="1001980"/>
          </a:xfrm>
        </p:spPr>
        <p:txBody>
          <a:bodyPr anchor="t">
            <a:normAutofit/>
          </a:bodyPr>
          <a:lstStyle/>
          <a:p>
            <a:r>
              <a:rPr lang="en-US" sz="2800"/>
              <a:t>Designing a CNN Architecture: Key Considerations</a:t>
            </a:r>
            <a:endParaRPr lang="en-CA" sz="2800"/>
          </a:p>
        </p:txBody>
      </p:sp>
      <p:pic>
        <p:nvPicPr>
          <p:cNvPr id="5" name="Picture 4" descr="Top view of cubes connected with black lines">
            <a:extLst>
              <a:ext uri="{FF2B5EF4-FFF2-40B4-BE49-F238E27FC236}">
                <a16:creationId xmlns:a16="http://schemas.microsoft.com/office/drawing/2014/main" id="{10C5F769-98E8-E09C-357D-C164EFEC7ABA}"/>
              </a:ext>
            </a:extLst>
          </p:cNvPr>
          <p:cNvPicPr>
            <a:picLocks noChangeAspect="1"/>
          </p:cNvPicPr>
          <p:nvPr/>
        </p:nvPicPr>
        <p:blipFill rotWithShape="1">
          <a:blip r:embed="rId2"/>
          <a:srcRect l="16183" r="6262" b="1"/>
          <a:stretch/>
        </p:blipFill>
        <p:spPr>
          <a:xfrm>
            <a:off x="7009488" y="0"/>
            <a:ext cx="5182512" cy="6232633"/>
          </a:xfrm>
          <a:prstGeom prst="rect">
            <a:avLst/>
          </a:prstGeom>
          <a:noFill/>
        </p:spPr>
      </p:pic>
    </p:spTree>
    <p:extLst>
      <p:ext uri="{BB962C8B-B14F-4D97-AF65-F5344CB8AC3E}">
        <p14:creationId xmlns:p14="http://schemas.microsoft.com/office/powerpoint/2010/main" val="3894274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37D8F-A27B-A8C1-6F0A-35031B6B19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EE70B0-FFFD-D688-1367-05C290B41CCA}"/>
              </a:ext>
            </a:extLst>
          </p:cNvPr>
          <p:cNvSpPr txBox="1"/>
          <p:nvPr/>
        </p:nvSpPr>
        <p:spPr>
          <a:xfrm>
            <a:off x="586304" y="210207"/>
            <a:ext cx="3741730" cy="569387"/>
          </a:xfrm>
          <a:prstGeom prst="rect">
            <a:avLst/>
          </a:prstGeom>
          <a:noFill/>
        </p:spPr>
        <p:txBody>
          <a:bodyPr wrap="none" rtlCol="0">
            <a:spAutoFit/>
          </a:bodyPr>
          <a:lstStyle/>
          <a:p>
            <a:r>
              <a:rPr lang="en-CZ" dirty="0">
                <a:solidFill>
                  <a:schemeClr val="accent1"/>
                </a:solidFill>
              </a:rPr>
              <a:t>Activation Functions</a:t>
            </a:r>
          </a:p>
        </p:txBody>
      </p:sp>
      <p:sp>
        <p:nvSpPr>
          <p:cNvPr id="5" name="TextBox 4">
            <a:extLst>
              <a:ext uri="{FF2B5EF4-FFF2-40B4-BE49-F238E27FC236}">
                <a16:creationId xmlns:a16="http://schemas.microsoft.com/office/drawing/2014/main" id="{8E18BE63-2462-42A0-8BCD-E9DBE9AAB56C}"/>
              </a:ext>
            </a:extLst>
          </p:cNvPr>
          <p:cNvSpPr txBox="1"/>
          <p:nvPr/>
        </p:nvSpPr>
        <p:spPr>
          <a:xfrm>
            <a:off x="735725" y="861848"/>
            <a:ext cx="8923282" cy="2554545"/>
          </a:xfrm>
          <a:prstGeom prst="rect">
            <a:avLst/>
          </a:prstGeom>
          <a:noFill/>
        </p:spPr>
        <p:txBody>
          <a:bodyPr wrap="square" rtlCol="0">
            <a:spAutoFit/>
          </a:bodyPr>
          <a:lstStyle/>
          <a:p>
            <a:endParaRPr lang="en-CZ" sz="1600" dirty="0"/>
          </a:p>
          <a:p>
            <a:pPr marL="285750" indent="-285750">
              <a:buFont typeface="Arial" panose="020B0604020202020204" pitchFamily="34" charset="0"/>
              <a:buChar char="•"/>
            </a:pPr>
            <a:r>
              <a:rPr lang="en-CZ" sz="1600" dirty="0"/>
              <a:t>Activation function determines if a neuron fires</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Introduces nonlinearity to the network</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Applied after convolution layer, after each fully conncted later and output layer allowing the network to learn and represent complex patterns in the data</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endParaRPr lang="en-CZ" sz="1600" dirty="0"/>
          </a:p>
          <a:p>
            <a:endParaRPr lang="en-CZ" sz="1600" dirty="0"/>
          </a:p>
        </p:txBody>
      </p:sp>
      <p:pic>
        <p:nvPicPr>
          <p:cNvPr id="7" name="Picture 6">
            <a:extLst>
              <a:ext uri="{FF2B5EF4-FFF2-40B4-BE49-F238E27FC236}">
                <a16:creationId xmlns:a16="http://schemas.microsoft.com/office/drawing/2014/main" id="{A33813C6-4E23-B0E9-840F-B73CAC982B36}"/>
              </a:ext>
            </a:extLst>
          </p:cNvPr>
          <p:cNvPicPr>
            <a:picLocks noChangeAspect="1"/>
          </p:cNvPicPr>
          <p:nvPr/>
        </p:nvPicPr>
        <p:blipFill>
          <a:blip r:embed="rId3"/>
          <a:stretch>
            <a:fillRect/>
          </a:stretch>
        </p:blipFill>
        <p:spPr>
          <a:xfrm>
            <a:off x="1709025" y="2859252"/>
            <a:ext cx="6083300" cy="3136900"/>
          </a:xfrm>
          <a:prstGeom prst="rect">
            <a:avLst/>
          </a:prstGeom>
        </p:spPr>
      </p:pic>
    </p:spTree>
    <p:extLst>
      <p:ext uri="{BB962C8B-B14F-4D97-AF65-F5344CB8AC3E}">
        <p14:creationId xmlns:p14="http://schemas.microsoft.com/office/powerpoint/2010/main" val="47884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B653C-AADB-7FD7-84E6-FA62BC56603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D1DE64-C2BE-E809-E47B-67BDB737B26E}"/>
              </a:ext>
            </a:extLst>
          </p:cNvPr>
          <p:cNvSpPr txBox="1"/>
          <p:nvPr/>
        </p:nvSpPr>
        <p:spPr>
          <a:xfrm>
            <a:off x="718382" y="199696"/>
            <a:ext cx="8299494" cy="1261884"/>
          </a:xfrm>
          <a:prstGeom prst="rect">
            <a:avLst/>
          </a:prstGeom>
          <a:noFill/>
        </p:spPr>
        <p:txBody>
          <a:bodyPr wrap="square" rtlCol="0">
            <a:spAutoFit/>
          </a:bodyPr>
          <a:lstStyle/>
          <a:p>
            <a:r>
              <a:rPr lang="en-CZ" sz="2800" dirty="0">
                <a:solidFill>
                  <a:schemeClr val="accent1"/>
                </a:solidFill>
              </a:rPr>
              <a:t>Different types of Activation Functions</a:t>
            </a:r>
          </a:p>
          <a:p>
            <a:endParaRPr lang="en-CZ" sz="2400" dirty="0">
              <a:solidFill>
                <a:schemeClr val="accent1"/>
              </a:solidFill>
            </a:endParaRPr>
          </a:p>
          <a:p>
            <a:r>
              <a:rPr lang="en-CZ" sz="2400" dirty="0">
                <a:solidFill>
                  <a:schemeClr val="accent1"/>
                </a:solidFill>
              </a:rPr>
              <a:t>Sigmoid</a:t>
            </a:r>
            <a:endParaRPr lang="en-CZ" dirty="0">
              <a:solidFill>
                <a:schemeClr val="accent1"/>
              </a:solidFill>
            </a:endParaRPr>
          </a:p>
        </p:txBody>
      </p:sp>
      <p:sp>
        <p:nvSpPr>
          <p:cNvPr id="6" name="TextBox 5">
            <a:extLst>
              <a:ext uri="{FF2B5EF4-FFF2-40B4-BE49-F238E27FC236}">
                <a16:creationId xmlns:a16="http://schemas.microsoft.com/office/drawing/2014/main" id="{12D7F5DD-AD1C-4D24-7B4A-66E6D9E0A575}"/>
              </a:ext>
            </a:extLst>
          </p:cNvPr>
          <p:cNvSpPr txBox="1"/>
          <p:nvPr/>
        </p:nvSpPr>
        <p:spPr>
          <a:xfrm>
            <a:off x="718382" y="1557032"/>
            <a:ext cx="10255732" cy="2062103"/>
          </a:xfrm>
          <a:prstGeom prst="rect">
            <a:avLst/>
          </a:prstGeom>
          <a:noFill/>
        </p:spPr>
        <p:txBody>
          <a:bodyPr wrap="square" rtlCol="0">
            <a:spAutoFit/>
          </a:bodyPr>
          <a:lstStyle/>
          <a:p>
            <a:pPr marL="285750" indent="-285750">
              <a:buFont typeface="Arial" panose="020B0604020202020204" pitchFamily="34" charset="0"/>
              <a:buChar char="•"/>
            </a:pPr>
            <a:r>
              <a:rPr lang="en-CZ" sz="1600" dirty="0"/>
              <a:t>Output of activation function between 0 and 1</a:t>
            </a:r>
          </a:p>
          <a:p>
            <a:endParaRPr lang="en-CZ" sz="1600" dirty="0"/>
          </a:p>
          <a:p>
            <a:pPr marL="285750" indent="-285750">
              <a:buFont typeface="Arial" panose="020B0604020202020204" pitchFamily="34" charset="0"/>
              <a:buChar char="•"/>
            </a:pPr>
            <a:r>
              <a:rPr lang="en-CZ" sz="1600" dirty="0"/>
              <a:t>Suitable for binary classification tasks</a:t>
            </a:r>
          </a:p>
          <a:p>
            <a:endParaRPr lang="en-CZ" sz="1600" dirty="0"/>
          </a:p>
          <a:p>
            <a:pPr marL="285750" indent="-285750">
              <a:buFont typeface="Arial" panose="020B0604020202020204" pitchFamily="34" charset="0"/>
              <a:buChar char="•"/>
            </a:pPr>
            <a:r>
              <a:rPr lang="en-CZ" sz="1600" dirty="0"/>
              <a:t>Vanishing gradient problem – near boundaries, the network doesn’t learn quickly</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Used for output layer activation in binary classification</a:t>
            </a:r>
          </a:p>
          <a:p>
            <a:endParaRPr lang="en-CZ" sz="1600" dirty="0"/>
          </a:p>
        </p:txBody>
      </p:sp>
      <p:pic>
        <p:nvPicPr>
          <p:cNvPr id="8" name="Picture 7">
            <a:extLst>
              <a:ext uri="{FF2B5EF4-FFF2-40B4-BE49-F238E27FC236}">
                <a16:creationId xmlns:a16="http://schemas.microsoft.com/office/drawing/2014/main" id="{0667ABFA-FDA3-6C8A-9BCD-2382F20BE627}"/>
              </a:ext>
            </a:extLst>
          </p:cNvPr>
          <p:cNvPicPr>
            <a:picLocks noChangeAspect="1"/>
          </p:cNvPicPr>
          <p:nvPr/>
        </p:nvPicPr>
        <p:blipFill>
          <a:blip r:embed="rId3"/>
          <a:stretch>
            <a:fillRect/>
          </a:stretch>
        </p:blipFill>
        <p:spPr>
          <a:xfrm>
            <a:off x="6180083" y="3053119"/>
            <a:ext cx="5917324" cy="3063253"/>
          </a:xfrm>
          <a:prstGeom prst="rect">
            <a:avLst/>
          </a:prstGeom>
        </p:spPr>
      </p:pic>
    </p:spTree>
    <p:extLst>
      <p:ext uri="{BB962C8B-B14F-4D97-AF65-F5344CB8AC3E}">
        <p14:creationId xmlns:p14="http://schemas.microsoft.com/office/powerpoint/2010/main" val="3355621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99298-D722-80EC-5A81-8B73866864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6B96C82-0824-1F22-47D8-9E257F308B78}"/>
              </a:ext>
            </a:extLst>
          </p:cNvPr>
          <p:cNvSpPr txBox="1"/>
          <p:nvPr/>
        </p:nvSpPr>
        <p:spPr>
          <a:xfrm>
            <a:off x="718382" y="295148"/>
            <a:ext cx="8299494" cy="461665"/>
          </a:xfrm>
          <a:prstGeom prst="rect">
            <a:avLst/>
          </a:prstGeom>
          <a:noFill/>
        </p:spPr>
        <p:txBody>
          <a:bodyPr wrap="square" rtlCol="0">
            <a:spAutoFit/>
          </a:bodyPr>
          <a:lstStyle/>
          <a:p>
            <a:r>
              <a:rPr lang="en-CZ" sz="2400" dirty="0">
                <a:solidFill>
                  <a:schemeClr val="accent1"/>
                </a:solidFill>
              </a:rPr>
              <a:t>Tanh</a:t>
            </a:r>
          </a:p>
        </p:txBody>
      </p:sp>
      <p:sp>
        <p:nvSpPr>
          <p:cNvPr id="6" name="TextBox 5">
            <a:extLst>
              <a:ext uri="{FF2B5EF4-FFF2-40B4-BE49-F238E27FC236}">
                <a16:creationId xmlns:a16="http://schemas.microsoft.com/office/drawing/2014/main" id="{82C1B567-0982-762C-0D8F-4142A34482BB}"/>
              </a:ext>
            </a:extLst>
          </p:cNvPr>
          <p:cNvSpPr txBox="1"/>
          <p:nvPr/>
        </p:nvSpPr>
        <p:spPr>
          <a:xfrm>
            <a:off x="255926" y="1525501"/>
            <a:ext cx="4347605" cy="3293209"/>
          </a:xfrm>
          <a:prstGeom prst="rect">
            <a:avLst/>
          </a:prstGeom>
          <a:noFill/>
        </p:spPr>
        <p:txBody>
          <a:bodyPr wrap="square" rtlCol="0">
            <a:spAutoFit/>
          </a:bodyPr>
          <a:lstStyle/>
          <a:p>
            <a:pPr marL="285750" indent="-285750">
              <a:buFont typeface="Arial" panose="020B0604020202020204" pitchFamily="34" charset="0"/>
              <a:buChar char="•"/>
            </a:pPr>
            <a:r>
              <a:rPr lang="en-CZ" sz="1600" dirty="0"/>
              <a:t>Maps inputs to a range between -1 and 1</a:t>
            </a:r>
          </a:p>
          <a:p>
            <a:endParaRPr lang="en-CZ" sz="1600" dirty="0"/>
          </a:p>
          <a:p>
            <a:pPr marL="285750" indent="-285750">
              <a:buFont typeface="Arial" panose="020B0604020202020204" pitchFamily="34" charset="0"/>
              <a:buChar char="•"/>
            </a:pPr>
            <a:r>
              <a:rPr lang="en-CZ" sz="1600" dirty="0"/>
              <a:t>Provides a more balanced output with zero-centered data</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Smooth and differentiable activation function </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Shares vanishing gradient problem with sigmoid</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Used for handling negative input values</a:t>
            </a:r>
          </a:p>
          <a:p>
            <a:endParaRPr lang="en-CZ" sz="1600" dirty="0"/>
          </a:p>
        </p:txBody>
      </p:sp>
      <p:pic>
        <p:nvPicPr>
          <p:cNvPr id="3" name="Picture 2">
            <a:extLst>
              <a:ext uri="{FF2B5EF4-FFF2-40B4-BE49-F238E27FC236}">
                <a16:creationId xmlns:a16="http://schemas.microsoft.com/office/drawing/2014/main" id="{228DB414-D97D-BE9E-18A4-F96EC5918E1C}"/>
              </a:ext>
            </a:extLst>
          </p:cNvPr>
          <p:cNvPicPr>
            <a:picLocks noChangeAspect="1"/>
          </p:cNvPicPr>
          <p:nvPr/>
        </p:nvPicPr>
        <p:blipFill>
          <a:blip r:embed="rId3"/>
          <a:stretch>
            <a:fillRect/>
          </a:stretch>
        </p:blipFill>
        <p:spPr>
          <a:xfrm>
            <a:off x="4806950" y="982391"/>
            <a:ext cx="5282855" cy="4328761"/>
          </a:xfrm>
          <a:prstGeom prst="rect">
            <a:avLst/>
          </a:prstGeom>
        </p:spPr>
      </p:pic>
    </p:spTree>
    <p:extLst>
      <p:ext uri="{BB962C8B-B14F-4D97-AF65-F5344CB8AC3E}">
        <p14:creationId xmlns:p14="http://schemas.microsoft.com/office/powerpoint/2010/main" val="272026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6D6E2-2F58-0C39-E06B-927FD6B77F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5C979E-6F70-FDDE-2D39-7454B8E12C13}"/>
              </a:ext>
            </a:extLst>
          </p:cNvPr>
          <p:cNvSpPr txBox="1"/>
          <p:nvPr/>
        </p:nvSpPr>
        <p:spPr>
          <a:xfrm>
            <a:off x="812975" y="400251"/>
            <a:ext cx="8299494" cy="461665"/>
          </a:xfrm>
          <a:prstGeom prst="rect">
            <a:avLst/>
          </a:prstGeom>
          <a:noFill/>
        </p:spPr>
        <p:txBody>
          <a:bodyPr wrap="square" rtlCol="0">
            <a:spAutoFit/>
          </a:bodyPr>
          <a:lstStyle/>
          <a:p>
            <a:r>
              <a:rPr lang="en-CZ" sz="2400" dirty="0">
                <a:solidFill>
                  <a:schemeClr val="accent1"/>
                </a:solidFill>
              </a:rPr>
              <a:t>ReLU – Rectified Linear Unit</a:t>
            </a:r>
          </a:p>
        </p:txBody>
      </p:sp>
      <p:sp>
        <p:nvSpPr>
          <p:cNvPr id="6" name="TextBox 5">
            <a:extLst>
              <a:ext uri="{FF2B5EF4-FFF2-40B4-BE49-F238E27FC236}">
                <a16:creationId xmlns:a16="http://schemas.microsoft.com/office/drawing/2014/main" id="{A239BA31-F231-AF0F-2229-521D82952B80}"/>
              </a:ext>
            </a:extLst>
          </p:cNvPr>
          <p:cNvSpPr txBox="1"/>
          <p:nvPr/>
        </p:nvSpPr>
        <p:spPr>
          <a:xfrm>
            <a:off x="329498" y="1201313"/>
            <a:ext cx="4347605" cy="4770537"/>
          </a:xfrm>
          <a:prstGeom prst="rect">
            <a:avLst/>
          </a:prstGeom>
          <a:noFill/>
        </p:spPr>
        <p:txBody>
          <a:bodyPr wrap="square" rtlCol="0">
            <a:spAutoFit/>
          </a:bodyPr>
          <a:lstStyle/>
          <a:p>
            <a:pPr marL="285750" indent="-285750">
              <a:buFont typeface="Arial" panose="020B0604020202020204" pitchFamily="34" charset="0"/>
              <a:buChar char="•"/>
            </a:pPr>
            <a:r>
              <a:rPr lang="en-CZ" sz="1600" dirty="0"/>
              <a:t>Only input values &gt; 0 are kept</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Range [0, ∞]</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GB" sz="1600" dirty="0"/>
              <a:t>f</a:t>
            </a:r>
            <a:r>
              <a:rPr lang="en-CZ" sz="1600" dirty="0"/>
              <a:t>(x)= max(0, x)</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While keeping positive values unchanged, it promotes sparse representations, reducing overfitting</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Mitigates vanishing gradient problem, enabling faster learning</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r>
              <a:rPr lang="en-CZ" sz="1600" dirty="0"/>
              <a:t>Most commonly used for efficiency and in the hiddenlayers of feed forward neural networks</a:t>
            </a:r>
          </a:p>
          <a:p>
            <a:pPr marL="285750" indent="-285750">
              <a:buFont typeface="Arial" panose="020B0604020202020204" pitchFamily="34" charset="0"/>
              <a:buChar char="•"/>
            </a:pPr>
            <a:endParaRPr lang="en-CZ" sz="1600" dirty="0"/>
          </a:p>
          <a:p>
            <a:pPr marL="285750" indent="-285750">
              <a:buFont typeface="Arial" panose="020B0604020202020204" pitchFamily="34" charset="0"/>
              <a:buChar char="•"/>
            </a:pPr>
            <a:endParaRPr lang="en-CZ" sz="1600" dirty="0"/>
          </a:p>
          <a:p>
            <a:endParaRPr lang="en-CZ" sz="1600" dirty="0"/>
          </a:p>
        </p:txBody>
      </p:sp>
      <p:pic>
        <p:nvPicPr>
          <p:cNvPr id="4" name="Picture 3">
            <a:extLst>
              <a:ext uri="{FF2B5EF4-FFF2-40B4-BE49-F238E27FC236}">
                <a16:creationId xmlns:a16="http://schemas.microsoft.com/office/drawing/2014/main" id="{77485768-E6B7-7B56-2C24-59E9B58E7719}"/>
              </a:ext>
            </a:extLst>
          </p:cNvPr>
          <p:cNvPicPr>
            <a:picLocks noChangeAspect="1"/>
          </p:cNvPicPr>
          <p:nvPr/>
        </p:nvPicPr>
        <p:blipFill>
          <a:blip r:embed="rId3"/>
          <a:stretch>
            <a:fillRect/>
          </a:stretch>
        </p:blipFill>
        <p:spPr>
          <a:xfrm>
            <a:off x="4813521" y="1404007"/>
            <a:ext cx="5549900" cy="2641600"/>
          </a:xfrm>
          <a:prstGeom prst="rect">
            <a:avLst/>
          </a:prstGeom>
        </p:spPr>
      </p:pic>
    </p:spTree>
    <p:extLst>
      <p:ext uri="{BB962C8B-B14F-4D97-AF65-F5344CB8AC3E}">
        <p14:creationId xmlns:p14="http://schemas.microsoft.com/office/powerpoint/2010/main" val="3449811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DFDF4-2C00-5A10-089F-9B104ADE990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389CE3A-1C0D-6BF0-10D1-4FECF7686C63}"/>
                  </a:ext>
                </a:extLst>
              </p:cNvPr>
              <p:cNvSpPr txBox="1"/>
              <p:nvPr/>
            </p:nvSpPr>
            <p:spPr>
              <a:xfrm>
                <a:off x="329498" y="1173200"/>
                <a:ext cx="9743868" cy="5611921"/>
              </a:xfrm>
              <a:prstGeom prst="rect">
                <a:avLst/>
              </a:prstGeom>
              <a:noFill/>
            </p:spPr>
            <p:txBody>
              <a:bodyPr wrap="square" rtlCol="0">
                <a:spAutoFit/>
              </a:bodyPr>
              <a:lstStyle/>
              <a:p>
                <a:pPr marL="285750" indent="-285750">
                  <a:buFont typeface="Arial" panose="020B0604020202020204" pitchFamily="34" charset="0"/>
                  <a:buChar char="•"/>
                </a:pPr>
                <a:r>
                  <a:rPr lang="en-GB" sz="1600" dirty="0"/>
                  <a:t>A loss function is a mathematical function that measures how well a model's predictions match the true outcomes</a:t>
                </a:r>
              </a:p>
              <a:p>
                <a:endParaRPr lang="en-GB" sz="1600" dirty="0"/>
              </a:p>
              <a:p>
                <a:pPr marL="285750" indent="-285750">
                  <a:buFont typeface="Arial" panose="020B0604020202020204" pitchFamily="34" charset="0"/>
                  <a:buChar char="•"/>
                </a:pPr>
                <a:r>
                  <a:rPr lang="en-GB" sz="1600" dirty="0"/>
                  <a:t>Quantify the </a:t>
                </a:r>
                <a:r>
                  <a:rPr lang="en-GB" sz="1600" dirty="0">
                    <a:solidFill>
                      <a:srgbClr val="0070C0"/>
                    </a:solidFill>
                  </a:rPr>
                  <a:t>difference between model predictions and true outcome</a:t>
                </a:r>
              </a:p>
              <a:p>
                <a:endParaRPr lang="en-GB" sz="1600" dirty="0">
                  <a:solidFill>
                    <a:srgbClr val="0070C0"/>
                  </a:solidFill>
                </a:endParaRPr>
              </a:p>
              <a:p>
                <a:pPr marL="285750" indent="-285750">
                  <a:buFont typeface="Arial" panose="020B0604020202020204" pitchFamily="34" charset="0"/>
                  <a:buChar char="•"/>
                </a:pPr>
                <a:r>
                  <a:rPr lang="en-GB" sz="1600" dirty="0"/>
                  <a:t>The goal of a loss function is to guide optimization algorithms in adjusting model parameters (weight, bias, convolutional filter values etc) to </a:t>
                </a:r>
                <a:r>
                  <a:rPr lang="en-GB" sz="1600" dirty="0">
                    <a:solidFill>
                      <a:srgbClr val="0070C0"/>
                    </a:solidFill>
                  </a:rPr>
                  <a:t>reduce this loss over time</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Appropriate loss function is vital for successful CNN training</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Example for loss function that are commonly used include:</a:t>
                </a:r>
              </a:p>
              <a:p>
                <a:pPr marL="1067333" lvl="1" indent="-285750">
                  <a:buFont typeface="Arial" panose="020B0604020202020204" pitchFamily="34" charset="0"/>
                  <a:buChar char="•"/>
                </a:pPr>
                <a:r>
                  <a:rPr lang="en-GB" sz="1600" dirty="0"/>
                  <a:t>Mean Squared Error </a:t>
                </a:r>
              </a:p>
              <a:p>
                <a:pPr marL="1848917" lvl="2" indent="-285750">
                  <a:buFont typeface="Arial" panose="020B0604020202020204" pitchFamily="34" charset="0"/>
                  <a:buChar char="•"/>
                </a:pPr>
                <a14:m>
                  <m:oMath xmlns:m="http://schemas.openxmlformats.org/officeDocument/2006/math">
                    <m:r>
                      <a:rPr lang="en-GB" sz="1600" i="1" dirty="0">
                        <a:solidFill>
                          <a:srgbClr val="242424"/>
                        </a:solidFill>
                        <a:latin typeface="Cambria Math" panose="02040503050406030204" pitchFamily="18" charset="0"/>
                      </a:rPr>
                      <m:t>𝑀𝑆𝐸</m:t>
                    </m:r>
                    <m:r>
                      <a:rPr lang="en-GB" sz="1600" i="1" dirty="0">
                        <a:solidFill>
                          <a:srgbClr val="242424"/>
                        </a:solidFill>
                        <a:latin typeface="Cambria Math" panose="02040503050406030204" pitchFamily="18" charset="0"/>
                      </a:rPr>
                      <m:t>=</m:t>
                    </m:r>
                    <m:f>
                      <m:fPr>
                        <m:ctrlPr>
                          <a:rPr lang="en-GB" sz="1600" b="0" i="1" dirty="0" smtClean="0">
                            <a:solidFill>
                              <a:srgbClr val="242424"/>
                            </a:solidFill>
                            <a:effectLst/>
                            <a:latin typeface="Cambria Math" panose="02040503050406030204" pitchFamily="18" charset="0"/>
                          </a:rPr>
                        </m:ctrlPr>
                      </m:fPr>
                      <m:num>
                        <m:r>
                          <a:rPr lang="en-US" sz="1600" b="0" i="1" dirty="0" smtClean="0">
                            <a:solidFill>
                              <a:srgbClr val="242424"/>
                            </a:solidFill>
                            <a:effectLst/>
                            <a:latin typeface="Cambria Math" panose="02040503050406030204" pitchFamily="18" charset="0"/>
                          </a:rPr>
                          <m:t>1</m:t>
                        </m:r>
                      </m:num>
                      <m:den>
                        <m:r>
                          <a:rPr lang="en-US" sz="1600" b="0" i="1" dirty="0" smtClean="0">
                            <a:solidFill>
                              <a:srgbClr val="242424"/>
                            </a:solidFill>
                            <a:effectLst/>
                            <a:latin typeface="Cambria Math" panose="02040503050406030204" pitchFamily="18" charset="0"/>
                          </a:rPr>
                          <m:t>𝑛</m:t>
                        </m:r>
                      </m:den>
                    </m:f>
                    <m:nary>
                      <m:naryPr>
                        <m:chr m:val="∑"/>
                        <m:ctrlPr>
                          <a:rPr lang="en-GB" sz="1600" b="0" i="1" dirty="0" smtClean="0">
                            <a:solidFill>
                              <a:srgbClr val="242424"/>
                            </a:solidFill>
                            <a:effectLst/>
                            <a:latin typeface="Cambria Math" panose="02040503050406030204" pitchFamily="18" charset="0"/>
                          </a:rPr>
                        </m:ctrlPr>
                      </m:naryPr>
                      <m:sub>
                        <m:r>
                          <m:rPr>
                            <m:brk m:alnAt="23"/>
                          </m:rPr>
                          <a:rPr lang="en-US" sz="1600" b="0" i="1" dirty="0" smtClean="0">
                            <a:solidFill>
                              <a:srgbClr val="242424"/>
                            </a:solidFill>
                            <a:effectLst/>
                            <a:latin typeface="Cambria Math" panose="02040503050406030204" pitchFamily="18" charset="0"/>
                          </a:rPr>
                          <m:t>𝑖</m:t>
                        </m:r>
                        <m:r>
                          <a:rPr lang="en-US" sz="1600" b="0" i="1" dirty="0" smtClean="0">
                            <a:solidFill>
                              <a:srgbClr val="242424"/>
                            </a:solidFill>
                            <a:effectLst/>
                            <a:latin typeface="Cambria Math" panose="02040503050406030204" pitchFamily="18" charset="0"/>
                          </a:rPr>
                          <m:t>=0</m:t>
                        </m:r>
                      </m:sub>
                      <m:sup>
                        <m:r>
                          <a:rPr lang="en-US" sz="1600" b="0" i="1" dirty="0" smtClean="0">
                            <a:solidFill>
                              <a:srgbClr val="242424"/>
                            </a:solidFill>
                            <a:effectLst/>
                            <a:latin typeface="Cambria Math" panose="02040503050406030204" pitchFamily="18" charset="0"/>
                          </a:rPr>
                          <m:t>𝑛</m:t>
                        </m:r>
                        <m:r>
                          <a:rPr lang="en-US" sz="1600" b="0" i="1" dirty="0" smtClean="0">
                            <a:solidFill>
                              <a:srgbClr val="242424"/>
                            </a:solidFill>
                            <a:effectLst/>
                            <a:latin typeface="Cambria Math" panose="02040503050406030204" pitchFamily="18" charset="0"/>
                          </a:rPr>
                          <m:t>−1</m:t>
                        </m:r>
                      </m:sup>
                      <m:e>
                        <m:sSup>
                          <m:sSupPr>
                            <m:ctrlPr>
                              <a:rPr lang="en-GB" sz="1600" b="0" i="1" dirty="0" smtClean="0">
                                <a:solidFill>
                                  <a:srgbClr val="242424"/>
                                </a:solidFill>
                                <a:effectLst/>
                                <a:latin typeface="Cambria Math" panose="02040503050406030204" pitchFamily="18" charset="0"/>
                              </a:rPr>
                            </m:ctrlPr>
                          </m:sSupPr>
                          <m:e>
                            <m:r>
                              <a:rPr lang="en-US" sz="1600" i="1" dirty="0">
                                <a:solidFill>
                                  <a:srgbClr val="242424"/>
                                </a:solidFill>
                                <a:latin typeface="Cambria Math" panose="02040503050406030204" pitchFamily="18" charset="0"/>
                              </a:rPr>
                              <m:t>(</m:t>
                            </m:r>
                            <m:sSub>
                              <m:sSubPr>
                                <m:ctrlPr>
                                  <a:rPr lang="en-US" sz="1600" i="1" dirty="0">
                                    <a:solidFill>
                                      <a:srgbClr val="242424"/>
                                    </a:solidFill>
                                    <a:latin typeface="Cambria Math" panose="02040503050406030204" pitchFamily="18" charset="0"/>
                                  </a:rPr>
                                </m:ctrlPr>
                              </m:sSubPr>
                              <m:e>
                                <m:r>
                                  <a:rPr lang="en-US" sz="1600" i="1" dirty="0">
                                    <a:solidFill>
                                      <a:srgbClr val="242424"/>
                                    </a:solidFill>
                                    <a:latin typeface="Cambria Math" panose="02040503050406030204" pitchFamily="18" charset="0"/>
                                  </a:rPr>
                                  <m:t>𝑦</m:t>
                                </m:r>
                              </m:e>
                              <m:sub>
                                <m:r>
                                  <a:rPr lang="en-US" sz="1600" i="1" dirty="0">
                                    <a:solidFill>
                                      <a:srgbClr val="242424"/>
                                    </a:solidFill>
                                    <a:latin typeface="Cambria Math" panose="02040503050406030204" pitchFamily="18" charset="0"/>
                                  </a:rPr>
                                  <m:t>𝑖</m:t>
                                </m:r>
                              </m:sub>
                            </m:sSub>
                            <m:r>
                              <a:rPr lang="en-US" sz="1600" i="1" dirty="0">
                                <a:solidFill>
                                  <a:srgbClr val="242424"/>
                                </a:solidFill>
                                <a:latin typeface="Cambria Math" panose="02040503050406030204" pitchFamily="18" charset="0"/>
                              </a:rPr>
                              <m:t>− </m:t>
                            </m:r>
                            <m:sSub>
                              <m:sSubPr>
                                <m:ctrlPr>
                                  <a:rPr lang="en-US" sz="1600" i="1" dirty="0">
                                    <a:solidFill>
                                      <a:srgbClr val="242424"/>
                                    </a:solidFill>
                                    <a:latin typeface="Cambria Math" panose="02040503050406030204" pitchFamily="18" charset="0"/>
                                  </a:rPr>
                                </m:ctrlPr>
                              </m:sSubPr>
                              <m:e>
                                <m:r>
                                  <a:rPr lang="en-US" sz="1600" i="1" dirty="0">
                                    <a:solidFill>
                                      <a:srgbClr val="242424"/>
                                    </a:solidFill>
                                    <a:latin typeface="Cambria Math" panose="02040503050406030204" pitchFamily="18" charset="0"/>
                                  </a:rPr>
                                  <m:t>𝑦</m:t>
                                </m:r>
                                <m:r>
                                  <a:rPr lang="en-US" sz="1600" i="1" dirty="0">
                                    <a:solidFill>
                                      <a:srgbClr val="242424"/>
                                    </a:solidFill>
                                    <a:latin typeface="Cambria Math" panose="02040503050406030204" pitchFamily="18" charset="0"/>
                                  </a:rPr>
                                  <m:t>′</m:t>
                                </m:r>
                              </m:e>
                              <m:sub>
                                <m:r>
                                  <a:rPr lang="en-US" sz="1600" i="1" dirty="0">
                                    <a:solidFill>
                                      <a:srgbClr val="242424"/>
                                    </a:solidFill>
                                    <a:latin typeface="Cambria Math" panose="02040503050406030204" pitchFamily="18" charset="0"/>
                                  </a:rPr>
                                  <m:t>𝑖</m:t>
                                </m:r>
                              </m:sub>
                            </m:sSub>
                            <m:r>
                              <a:rPr lang="en-US" sz="1600" i="1" dirty="0">
                                <a:solidFill>
                                  <a:srgbClr val="242424"/>
                                </a:solidFill>
                                <a:latin typeface="Cambria Math" panose="02040503050406030204" pitchFamily="18" charset="0"/>
                              </a:rPr>
                              <m:t>)</m:t>
                            </m:r>
                          </m:e>
                          <m:sup>
                            <m:r>
                              <a:rPr lang="en-US" sz="1600" b="0" i="1" dirty="0" smtClean="0">
                                <a:solidFill>
                                  <a:srgbClr val="242424"/>
                                </a:solidFill>
                                <a:effectLst/>
                                <a:latin typeface="Cambria Math" panose="02040503050406030204" pitchFamily="18" charset="0"/>
                              </a:rPr>
                              <m:t>2</m:t>
                            </m:r>
                          </m:sup>
                        </m:sSup>
                      </m:e>
                    </m:nary>
                  </m:oMath>
                </a14:m>
                <a:endParaRPr lang="en-US" sz="1600" dirty="0"/>
              </a:p>
              <a:p>
                <a:pPr marL="1067333" lvl="1" indent="-285750">
                  <a:buFont typeface="Arial" panose="020B0604020202020204" pitchFamily="34" charset="0"/>
                  <a:buChar char="•"/>
                </a:pPr>
                <a:r>
                  <a:rPr lang="en-GB" sz="1600" dirty="0"/>
                  <a:t>Cross-Entropy loss </a:t>
                </a:r>
              </a:p>
              <a:p>
                <a:pPr marL="1848917" lvl="2" indent="-285750">
                  <a:buFont typeface="Arial" panose="020B0604020202020204" pitchFamily="34" charset="0"/>
                  <a:buChar char="•"/>
                </a:pPr>
                <a:r>
                  <a:rPr lang="en-GB" sz="1600" dirty="0"/>
                  <a:t>Binary Cross-Entropy Loss (log loss)  - For binary classification, whose output is probability value between 0 and 1</a:t>
                </a:r>
              </a:p>
              <a:p>
                <a:pPr marL="1848917" lvl="2" indent="-285750">
                  <a:buFont typeface="Arial" panose="020B0604020202020204" pitchFamily="34" charset="0"/>
                  <a:buChar char="•"/>
                </a:pPr>
                <a:r>
                  <a:rPr lang="en-GB" sz="1600" dirty="0"/>
                  <a:t>Categorical Cross-Entropy Loss – For multiclass classification problems, whose output is probability distribution over multiple classes</a:t>
                </a:r>
              </a:p>
              <a:p>
                <a:r>
                  <a:rPr lang="en-US" sz="1600" dirty="0"/>
                  <a:t>.</a:t>
                </a:r>
                <a:endParaRPr lang="en-CA"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CZ" sz="1600" dirty="0"/>
              </a:p>
              <a:p>
                <a:endParaRPr lang="en-CZ" sz="1600" dirty="0"/>
              </a:p>
            </p:txBody>
          </p:sp>
        </mc:Choice>
        <mc:Fallback>
          <p:sp>
            <p:nvSpPr>
              <p:cNvPr id="6" name="TextBox 5">
                <a:extLst>
                  <a:ext uri="{FF2B5EF4-FFF2-40B4-BE49-F238E27FC236}">
                    <a16:creationId xmlns:a16="http://schemas.microsoft.com/office/drawing/2014/main" id="{9389CE3A-1C0D-6BF0-10D1-4FECF7686C63}"/>
                  </a:ext>
                </a:extLst>
              </p:cNvPr>
              <p:cNvSpPr txBox="1">
                <a:spLocks noRot="1" noChangeAspect="1" noMove="1" noResize="1" noEditPoints="1" noAdjustHandles="1" noChangeArrowheads="1" noChangeShapeType="1" noTextEdit="1"/>
              </p:cNvSpPr>
              <p:nvPr/>
            </p:nvSpPr>
            <p:spPr>
              <a:xfrm>
                <a:off x="329498" y="1173200"/>
                <a:ext cx="9743868" cy="5611921"/>
              </a:xfrm>
              <a:prstGeom prst="rect">
                <a:avLst/>
              </a:prstGeom>
              <a:blipFill>
                <a:blip r:embed="rId3"/>
                <a:stretch>
                  <a:fillRect l="-260" t="-226" r="-391"/>
                </a:stretch>
              </a:blipFill>
            </p:spPr>
            <p:txBody>
              <a:bodyPr/>
              <a:lstStyle/>
              <a:p>
                <a:r>
                  <a:rPr lang="en-CZ">
                    <a:noFill/>
                  </a:rPr>
                  <a:t> </a:t>
                </a:r>
              </a:p>
            </p:txBody>
          </p:sp>
        </mc:Fallback>
      </mc:AlternateContent>
      <p:sp>
        <p:nvSpPr>
          <p:cNvPr id="8" name="TextBox 7">
            <a:extLst>
              <a:ext uri="{FF2B5EF4-FFF2-40B4-BE49-F238E27FC236}">
                <a16:creationId xmlns:a16="http://schemas.microsoft.com/office/drawing/2014/main" id="{8C4DCA54-D176-E9A9-AAB6-B0CD0F14A80D}"/>
              </a:ext>
            </a:extLst>
          </p:cNvPr>
          <p:cNvSpPr txBox="1"/>
          <p:nvPr/>
        </p:nvSpPr>
        <p:spPr>
          <a:xfrm>
            <a:off x="505945" y="117874"/>
            <a:ext cx="184731" cy="1061829"/>
          </a:xfrm>
          <a:prstGeom prst="rect">
            <a:avLst/>
          </a:prstGeom>
          <a:noFill/>
        </p:spPr>
        <p:txBody>
          <a:bodyPr wrap="none" rtlCol="0">
            <a:spAutoFit/>
          </a:bodyPr>
          <a:lstStyle/>
          <a:p>
            <a:endParaRPr lang="en-CZ" sz="3200" dirty="0">
              <a:solidFill>
                <a:schemeClr val="accent1"/>
              </a:solidFill>
            </a:endParaRPr>
          </a:p>
          <a:p>
            <a:endParaRPr lang="en-CZ" dirty="0"/>
          </a:p>
        </p:txBody>
      </p:sp>
      <p:sp>
        <p:nvSpPr>
          <p:cNvPr id="12" name="TextBox 11">
            <a:extLst>
              <a:ext uri="{FF2B5EF4-FFF2-40B4-BE49-F238E27FC236}">
                <a16:creationId xmlns:a16="http://schemas.microsoft.com/office/drawing/2014/main" id="{C8B80BF8-0FBA-8F9B-5B2F-35F9FE72A1A0}"/>
              </a:ext>
            </a:extLst>
          </p:cNvPr>
          <p:cNvSpPr txBox="1"/>
          <p:nvPr/>
        </p:nvSpPr>
        <p:spPr>
          <a:xfrm>
            <a:off x="598310" y="410542"/>
            <a:ext cx="2255746" cy="461665"/>
          </a:xfrm>
          <a:prstGeom prst="rect">
            <a:avLst/>
          </a:prstGeom>
          <a:noFill/>
        </p:spPr>
        <p:txBody>
          <a:bodyPr wrap="none" rtlCol="0">
            <a:spAutoFit/>
          </a:bodyPr>
          <a:lstStyle/>
          <a:p>
            <a:r>
              <a:rPr lang="en-CZ" sz="2400" dirty="0">
                <a:solidFill>
                  <a:schemeClr val="accent1"/>
                </a:solidFill>
              </a:rPr>
              <a:t>Loss</a:t>
            </a:r>
            <a:r>
              <a:rPr lang="en-CZ" sz="2400" dirty="0"/>
              <a:t> </a:t>
            </a:r>
            <a:r>
              <a:rPr lang="en-CZ" sz="2400" dirty="0">
                <a:solidFill>
                  <a:schemeClr val="accent1"/>
                </a:solidFill>
              </a:rPr>
              <a:t>Functions</a:t>
            </a:r>
          </a:p>
        </p:txBody>
      </p:sp>
    </p:spTree>
    <p:extLst>
      <p:ext uri="{BB962C8B-B14F-4D97-AF65-F5344CB8AC3E}">
        <p14:creationId xmlns:p14="http://schemas.microsoft.com/office/powerpoint/2010/main" val="3800802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3C91A-9ACA-B29B-3DE4-77214EB8E3A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9205A0-DC6A-4044-618A-D9AE23F8A52B}"/>
              </a:ext>
            </a:extLst>
          </p:cNvPr>
          <p:cNvSpPr txBox="1"/>
          <p:nvPr/>
        </p:nvSpPr>
        <p:spPr>
          <a:xfrm>
            <a:off x="84082" y="1074404"/>
            <a:ext cx="11620764" cy="1815882"/>
          </a:xfrm>
          <a:prstGeom prst="rect">
            <a:avLst/>
          </a:prstGeom>
          <a:noFill/>
        </p:spPr>
        <p:txBody>
          <a:bodyPr wrap="square">
            <a:spAutoFit/>
          </a:bodyPr>
          <a:lstStyle/>
          <a:p>
            <a:pPr marL="285750" indent="-285750">
              <a:buFont typeface="Arial" panose="020B0604020202020204" pitchFamily="34" charset="0"/>
              <a:buChar char="•"/>
            </a:pPr>
            <a:r>
              <a:rPr lang="en-GB" sz="1600" dirty="0"/>
              <a:t>Most models use gradient descent or its variants to minimize the loss</a:t>
            </a:r>
          </a:p>
          <a:p>
            <a:endParaRPr lang="en-GB" sz="1600" dirty="0"/>
          </a:p>
          <a:p>
            <a:pPr marL="285750" indent="-285750">
              <a:buFont typeface="Arial" panose="020B0604020202020204" pitchFamily="34" charset="0"/>
              <a:buChar char="•"/>
            </a:pPr>
            <a:r>
              <a:rPr lang="en-GB" sz="1600" dirty="0"/>
              <a:t>It is an optimizing algorithm which is used to iterate through different combinations of weights to find the best</a:t>
            </a:r>
          </a:p>
          <a:p>
            <a:r>
              <a:rPr lang="en-GB" sz="1600" dirty="0"/>
              <a:t>     combination of weights that minimizes the error</a:t>
            </a:r>
          </a:p>
          <a:p>
            <a:endParaRPr lang="en-GB" sz="1600" dirty="0"/>
          </a:p>
          <a:p>
            <a:pPr marL="285750" indent="-285750">
              <a:buFont typeface="Arial" panose="020B0604020202020204" pitchFamily="34" charset="0"/>
              <a:buChar char="•"/>
            </a:pPr>
            <a:r>
              <a:rPr lang="en-GB" sz="1600" dirty="0"/>
              <a:t>The algorithm calculates the gradient of the loss function with respect to the model parameters and updates the</a:t>
            </a:r>
          </a:p>
          <a:p>
            <a:r>
              <a:rPr lang="en-GB" sz="1600" dirty="0"/>
              <a:t>     parameters in the opposite direction of the gradient.</a:t>
            </a:r>
            <a:endParaRPr lang="en-CZ" sz="1600" dirty="0"/>
          </a:p>
        </p:txBody>
      </p:sp>
      <p:sp>
        <p:nvSpPr>
          <p:cNvPr id="8" name="TextBox 7">
            <a:extLst>
              <a:ext uri="{FF2B5EF4-FFF2-40B4-BE49-F238E27FC236}">
                <a16:creationId xmlns:a16="http://schemas.microsoft.com/office/drawing/2014/main" id="{9CDDAD1A-2F98-CD75-EACF-0A8C96C368EC}"/>
              </a:ext>
            </a:extLst>
          </p:cNvPr>
          <p:cNvSpPr txBox="1"/>
          <p:nvPr/>
        </p:nvSpPr>
        <p:spPr>
          <a:xfrm>
            <a:off x="224395" y="359365"/>
            <a:ext cx="5779241" cy="954107"/>
          </a:xfrm>
          <a:prstGeom prst="rect">
            <a:avLst/>
          </a:prstGeom>
          <a:noFill/>
        </p:spPr>
        <p:txBody>
          <a:bodyPr wrap="square" rtlCol="0">
            <a:spAutoFit/>
          </a:bodyPr>
          <a:lstStyle/>
          <a:p>
            <a:r>
              <a:rPr lang="en-CZ" sz="2800" dirty="0">
                <a:solidFill>
                  <a:schemeClr val="accent1"/>
                </a:solidFill>
              </a:rPr>
              <a:t>Gradient Descent</a:t>
            </a:r>
          </a:p>
          <a:p>
            <a:endParaRPr lang="en-CZ" sz="2800" dirty="0"/>
          </a:p>
        </p:txBody>
      </p:sp>
      <p:pic>
        <p:nvPicPr>
          <p:cNvPr id="3" name="Picture 2">
            <a:extLst>
              <a:ext uri="{FF2B5EF4-FFF2-40B4-BE49-F238E27FC236}">
                <a16:creationId xmlns:a16="http://schemas.microsoft.com/office/drawing/2014/main" id="{3341FC7E-691B-11BF-C175-E36E9EE511EA}"/>
              </a:ext>
            </a:extLst>
          </p:cNvPr>
          <p:cNvPicPr>
            <a:picLocks noChangeAspect="1"/>
          </p:cNvPicPr>
          <p:nvPr/>
        </p:nvPicPr>
        <p:blipFill>
          <a:blip r:embed="rId3"/>
          <a:stretch>
            <a:fillRect/>
          </a:stretch>
        </p:blipFill>
        <p:spPr>
          <a:xfrm>
            <a:off x="1221827" y="2890286"/>
            <a:ext cx="7772400" cy="3226637"/>
          </a:xfrm>
          <a:prstGeom prst="rect">
            <a:avLst/>
          </a:prstGeom>
        </p:spPr>
      </p:pic>
    </p:spTree>
    <p:extLst>
      <p:ext uri="{BB962C8B-B14F-4D97-AF65-F5344CB8AC3E}">
        <p14:creationId xmlns:p14="http://schemas.microsoft.com/office/powerpoint/2010/main" val="117570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4273A-3222-2D41-F626-38EE140A982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1D759E4-1AAB-CBD6-3599-7E5E8E45D77A}"/>
              </a:ext>
            </a:extLst>
          </p:cNvPr>
          <p:cNvSpPr txBox="1"/>
          <p:nvPr/>
        </p:nvSpPr>
        <p:spPr>
          <a:xfrm>
            <a:off x="245416" y="1179703"/>
            <a:ext cx="8782971" cy="8217634"/>
          </a:xfrm>
          <a:prstGeom prst="rect">
            <a:avLst/>
          </a:prstGeom>
          <a:noFill/>
        </p:spPr>
        <p:txBody>
          <a:bodyPr wrap="square" rtlCol="0">
            <a:spAutoFit/>
          </a:bodyPr>
          <a:lstStyle/>
          <a:p>
            <a:pPr marL="285750" indent="-285750">
              <a:buFont typeface="Arial" panose="020B0604020202020204" pitchFamily="34" charset="0"/>
              <a:buChar char="•"/>
            </a:pPr>
            <a:r>
              <a:rPr lang="en-GB" sz="1600" dirty="0"/>
              <a:t>A critical algorithm in training CNN used to compute gradients of the loss function with respect to the weights in a neural network.</a:t>
            </a:r>
          </a:p>
          <a:p>
            <a:endParaRPr lang="en-GB" sz="1600" dirty="0"/>
          </a:p>
          <a:p>
            <a:pPr marL="285750" indent="-285750">
              <a:buFont typeface="Arial" panose="020B0604020202020204" pitchFamily="34" charset="0"/>
              <a:buChar char="•"/>
            </a:pPr>
            <a:r>
              <a:rPr lang="en-GB" sz="1600" dirty="0"/>
              <a:t>It happens only during training </a:t>
            </a:r>
          </a:p>
          <a:p>
            <a:endParaRPr lang="en-GB" sz="1600" dirty="0"/>
          </a:p>
          <a:p>
            <a:pPr marL="285750" indent="-285750">
              <a:buFont typeface="Arial" panose="020B0604020202020204" pitchFamily="34" charset="0"/>
              <a:buChar char="•"/>
            </a:pPr>
            <a:r>
              <a:rPr lang="en-GB" sz="1600" dirty="0"/>
              <a:t>Basic Steps are;</a:t>
            </a:r>
          </a:p>
          <a:p>
            <a:endParaRPr lang="en-GB" sz="1600" dirty="0"/>
          </a:p>
          <a:p>
            <a:pPr marL="1124483" lvl="1" indent="-342900">
              <a:buAutoNum type="arabicPeriod"/>
            </a:pPr>
            <a:r>
              <a:rPr lang="en-GB" sz="1600" dirty="0"/>
              <a:t>Feed a sample to the network</a:t>
            </a:r>
          </a:p>
          <a:p>
            <a:pPr marL="1124483" lvl="1" indent="-342900">
              <a:buFont typeface="+mj-lt"/>
              <a:buAutoNum type="arabicPeriod"/>
            </a:pPr>
            <a:endParaRPr lang="en-GB" sz="1600" dirty="0"/>
          </a:p>
          <a:p>
            <a:pPr marL="1124483" lvl="1" indent="-342900">
              <a:buAutoNum type="arabicPeriod"/>
            </a:pPr>
            <a:r>
              <a:rPr lang="en-GB" sz="1600" dirty="0"/>
              <a:t>Calculate the mean squared error</a:t>
            </a:r>
          </a:p>
          <a:p>
            <a:pPr marL="1124483" lvl="1" indent="-342900">
              <a:buFont typeface="+mj-lt"/>
              <a:buAutoNum type="arabicPeriod"/>
            </a:pPr>
            <a:endParaRPr lang="en-GB" sz="1600" dirty="0"/>
          </a:p>
          <a:p>
            <a:pPr marL="1124483" lvl="1" indent="-342900">
              <a:buAutoNum type="arabicPeriod"/>
            </a:pPr>
            <a:r>
              <a:rPr lang="en-GB" sz="1600" dirty="0"/>
              <a:t>Calculate the error term of each output neuron</a:t>
            </a:r>
          </a:p>
          <a:p>
            <a:pPr marL="1124483" lvl="1" indent="-342900">
              <a:buFont typeface="+mj-lt"/>
              <a:buAutoNum type="arabicPeriod"/>
            </a:pPr>
            <a:endParaRPr lang="en-GB" sz="1600" dirty="0"/>
          </a:p>
          <a:p>
            <a:pPr marL="1124483" lvl="1" indent="-342900">
              <a:buAutoNum type="arabicPeriod"/>
            </a:pPr>
            <a:r>
              <a:rPr lang="en-GB" sz="1600" dirty="0"/>
              <a:t>Iteratively calculate the error terms In the hidden layers</a:t>
            </a:r>
          </a:p>
          <a:p>
            <a:pPr marL="1124483" lvl="1" indent="-342900">
              <a:buFont typeface="+mj-lt"/>
              <a:buAutoNum type="arabicPeriod"/>
            </a:pPr>
            <a:endParaRPr lang="en-GB" sz="1600" dirty="0"/>
          </a:p>
          <a:p>
            <a:pPr marL="1124483" lvl="1" indent="-342900">
              <a:buAutoNum type="arabicPeriod"/>
            </a:pPr>
            <a:r>
              <a:rPr lang="en-GB" sz="1600" dirty="0"/>
              <a:t>Apply the delta rule</a:t>
            </a:r>
          </a:p>
          <a:p>
            <a:pPr marL="1124483" lvl="1" indent="-342900">
              <a:buFont typeface="+mj-lt"/>
              <a:buAutoNum type="arabicPeriod"/>
            </a:pPr>
            <a:endParaRPr lang="en-GB" sz="1600" dirty="0"/>
          </a:p>
          <a:p>
            <a:pPr marL="1124483" lvl="1" indent="-342900">
              <a:buAutoNum type="arabicPeriod"/>
            </a:pPr>
            <a:r>
              <a:rPr lang="en-GB" sz="1600" dirty="0"/>
              <a:t>Adjust the weights </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endParaRPr lang="en-GB" sz="1600" dirty="0"/>
          </a:p>
          <a:p>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endParaRPr lang="en-CZ" sz="1600" dirty="0"/>
          </a:p>
          <a:p>
            <a:endParaRPr lang="en-CZ" sz="1600" dirty="0"/>
          </a:p>
        </p:txBody>
      </p:sp>
      <p:sp>
        <p:nvSpPr>
          <p:cNvPr id="8" name="TextBox 7">
            <a:extLst>
              <a:ext uri="{FF2B5EF4-FFF2-40B4-BE49-F238E27FC236}">
                <a16:creationId xmlns:a16="http://schemas.microsoft.com/office/drawing/2014/main" id="{DA5B325D-1FFD-AE02-C977-ED95C9E893B4}"/>
              </a:ext>
            </a:extLst>
          </p:cNvPr>
          <p:cNvSpPr txBox="1"/>
          <p:nvPr/>
        </p:nvSpPr>
        <p:spPr>
          <a:xfrm>
            <a:off x="505945" y="117874"/>
            <a:ext cx="184731" cy="1061829"/>
          </a:xfrm>
          <a:prstGeom prst="rect">
            <a:avLst/>
          </a:prstGeom>
          <a:noFill/>
        </p:spPr>
        <p:txBody>
          <a:bodyPr wrap="none" rtlCol="0">
            <a:spAutoFit/>
          </a:bodyPr>
          <a:lstStyle/>
          <a:p>
            <a:endParaRPr lang="en-CZ" sz="3200" dirty="0">
              <a:solidFill>
                <a:schemeClr val="accent1"/>
              </a:solidFill>
            </a:endParaRPr>
          </a:p>
          <a:p>
            <a:endParaRPr lang="en-CZ" dirty="0"/>
          </a:p>
        </p:txBody>
      </p:sp>
      <p:sp>
        <p:nvSpPr>
          <p:cNvPr id="12" name="TextBox 11">
            <a:extLst>
              <a:ext uri="{FF2B5EF4-FFF2-40B4-BE49-F238E27FC236}">
                <a16:creationId xmlns:a16="http://schemas.microsoft.com/office/drawing/2014/main" id="{40ACA189-FC02-2331-6AB9-5933DE956073}"/>
              </a:ext>
            </a:extLst>
          </p:cNvPr>
          <p:cNvSpPr txBox="1"/>
          <p:nvPr/>
        </p:nvSpPr>
        <p:spPr>
          <a:xfrm>
            <a:off x="598310" y="410542"/>
            <a:ext cx="2616422" cy="461665"/>
          </a:xfrm>
          <a:prstGeom prst="rect">
            <a:avLst/>
          </a:prstGeom>
          <a:noFill/>
        </p:spPr>
        <p:txBody>
          <a:bodyPr wrap="none" rtlCol="0">
            <a:spAutoFit/>
          </a:bodyPr>
          <a:lstStyle/>
          <a:p>
            <a:r>
              <a:rPr lang="en-CZ" sz="2400" dirty="0">
                <a:solidFill>
                  <a:schemeClr val="accent1"/>
                </a:solidFill>
              </a:rPr>
              <a:t>Back Propagation</a:t>
            </a:r>
          </a:p>
        </p:txBody>
      </p:sp>
    </p:spTree>
    <p:extLst>
      <p:ext uri="{BB962C8B-B14F-4D97-AF65-F5344CB8AC3E}">
        <p14:creationId xmlns:p14="http://schemas.microsoft.com/office/powerpoint/2010/main" val="441448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6435A-768A-169F-6300-3DCD1B0F361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31E2135-E380-3C8E-92CF-6F953193F965}"/>
              </a:ext>
            </a:extLst>
          </p:cNvPr>
          <p:cNvSpPr txBox="1"/>
          <p:nvPr/>
        </p:nvSpPr>
        <p:spPr>
          <a:xfrm>
            <a:off x="505945" y="117874"/>
            <a:ext cx="184731" cy="1061829"/>
          </a:xfrm>
          <a:prstGeom prst="rect">
            <a:avLst/>
          </a:prstGeom>
          <a:noFill/>
        </p:spPr>
        <p:txBody>
          <a:bodyPr wrap="none" rtlCol="0">
            <a:spAutoFit/>
          </a:bodyPr>
          <a:lstStyle/>
          <a:p>
            <a:endParaRPr lang="en-CZ" sz="3200" dirty="0">
              <a:solidFill>
                <a:schemeClr val="accent1"/>
              </a:solidFill>
            </a:endParaRPr>
          </a:p>
          <a:p>
            <a:endParaRPr lang="en-CZ" dirty="0"/>
          </a:p>
        </p:txBody>
      </p:sp>
      <p:sp>
        <p:nvSpPr>
          <p:cNvPr id="12" name="TextBox 11">
            <a:extLst>
              <a:ext uri="{FF2B5EF4-FFF2-40B4-BE49-F238E27FC236}">
                <a16:creationId xmlns:a16="http://schemas.microsoft.com/office/drawing/2014/main" id="{1A8B5250-3CF3-584A-D9C6-DB58D5AB01E1}"/>
              </a:ext>
            </a:extLst>
          </p:cNvPr>
          <p:cNvSpPr txBox="1"/>
          <p:nvPr/>
        </p:nvSpPr>
        <p:spPr>
          <a:xfrm>
            <a:off x="598309" y="417955"/>
            <a:ext cx="7421083" cy="461665"/>
          </a:xfrm>
          <a:prstGeom prst="rect">
            <a:avLst/>
          </a:prstGeom>
          <a:noFill/>
        </p:spPr>
        <p:txBody>
          <a:bodyPr wrap="square" rtlCol="0">
            <a:spAutoFit/>
          </a:bodyPr>
          <a:lstStyle/>
          <a:p>
            <a:r>
              <a:rPr lang="en-CZ" sz="2400" dirty="0">
                <a:solidFill>
                  <a:schemeClr val="accent1"/>
                </a:solidFill>
              </a:rPr>
              <a:t>Step 1: Feed a sample to the Network</a:t>
            </a:r>
          </a:p>
        </p:txBody>
      </p:sp>
      <p:pic>
        <p:nvPicPr>
          <p:cNvPr id="2" name="Picture 1">
            <a:extLst>
              <a:ext uri="{FF2B5EF4-FFF2-40B4-BE49-F238E27FC236}">
                <a16:creationId xmlns:a16="http://schemas.microsoft.com/office/drawing/2014/main" id="{E4ACBAA6-D1E3-D92B-2D20-C55E8A007104}"/>
              </a:ext>
            </a:extLst>
          </p:cNvPr>
          <p:cNvPicPr>
            <a:picLocks noChangeAspect="1"/>
          </p:cNvPicPr>
          <p:nvPr/>
        </p:nvPicPr>
        <p:blipFill>
          <a:blip r:embed="rId3"/>
          <a:stretch>
            <a:fillRect/>
          </a:stretch>
        </p:blipFill>
        <p:spPr>
          <a:xfrm>
            <a:off x="690676" y="1778993"/>
            <a:ext cx="7772400" cy="3300013"/>
          </a:xfrm>
          <a:prstGeom prst="rect">
            <a:avLst/>
          </a:prstGeom>
        </p:spPr>
      </p:pic>
    </p:spTree>
    <p:extLst>
      <p:ext uri="{BB962C8B-B14F-4D97-AF65-F5344CB8AC3E}">
        <p14:creationId xmlns:p14="http://schemas.microsoft.com/office/powerpoint/2010/main" val="2078878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02C89-E291-0E5B-EAB9-5B9F3BE729B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774D125-98F6-3310-0081-9E08DA135C21}"/>
              </a:ext>
            </a:extLst>
          </p:cNvPr>
          <p:cNvSpPr txBox="1"/>
          <p:nvPr/>
        </p:nvSpPr>
        <p:spPr>
          <a:xfrm>
            <a:off x="505945" y="117874"/>
            <a:ext cx="184731" cy="1061829"/>
          </a:xfrm>
          <a:prstGeom prst="rect">
            <a:avLst/>
          </a:prstGeom>
          <a:noFill/>
        </p:spPr>
        <p:txBody>
          <a:bodyPr wrap="none" rtlCol="0">
            <a:spAutoFit/>
          </a:bodyPr>
          <a:lstStyle/>
          <a:p>
            <a:endParaRPr lang="en-CZ" sz="3200" dirty="0">
              <a:solidFill>
                <a:schemeClr val="accent1"/>
              </a:solidFill>
            </a:endParaRPr>
          </a:p>
          <a:p>
            <a:endParaRPr lang="en-CZ" dirty="0"/>
          </a:p>
        </p:txBody>
      </p:sp>
      <p:sp>
        <p:nvSpPr>
          <p:cNvPr id="12" name="TextBox 11">
            <a:extLst>
              <a:ext uri="{FF2B5EF4-FFF2-40B4-BE49-F238E27FC236}">
                <a16:creationId xmlns:a16="http://schemas.microsoft.com/office/drawing/2014/main" id="{ACFD0B4B-3103-B305-A428-1EA38807D38E}"/>
              </a:ext>
            </a:extLst>
          </p:cNvPr>
          <p:cNvSpPr txBox="1"/>
          <p:nvPr/>
        </p:nvSpPr>
        <p:spPr>
          <a:xfrm>
            <a:off x="598309" y="417955"/>
            <a:ext cx="7421083" cy="461665"/>
          </a:xfrm>
          <a:prstGeom prst="rect">
            <a:avLst/>
          </a:prstGeom>
          <a:noFill/>
        </p:spPr>
        <p:txBody>
          <a:bodyPr wrap="square" rtlCol="0">
            <a:spAutoFit/>
          </a:bodyPr>
          <a:lstStyle/>
          <a:p>
            <a:r>
              <a:rPr lang="en-CZ" sz="2400" dirty="0">
                <a:solidFill>
                  <a:schemeClr val="accent1"/>
                </a:solidFill>
              </a:rPr>
              <a:t>Step 2: Calculate Mean Squared Error</a:t>
            </a:r>
          </a:p>
        </p:txBody>
      </p:sp>
      <p:pic>
        <p:nvPicPr>
          <p:cNvPr id="3" name="Picture 2">
            <a:extLst>
              <a:ext uri="{FF2B5EF4-FFF2-40B4-BE49-F238E27FC236}">
                <a16:creationId xmlns:a16="http://schemas.microsoft.com/office/drawing/2014/main" id="{5D4C5E50-CA41-3C6F-762C-F4E480A2F387}"/>
              </a:ext>
            </a:extLst>
          </p:cNvPr>
          <p:cNvPicPr>
            <a:picLocks noChangeAspect="1"/>
          </p:cNvPicPr>
          <p:nvPr/>
        </p:nvPicPr>
        <p:blipFill>
          <a:blip r:embed="rId3"/>
          <a:stretch>
            <a:fillRect/>
          </a:stretch>
        </p:blipFill>
        <p:spPr>
          <a:xfrm>
            <a:off x="1253359" y="1877632"/>
            <a:ext cx="7549707" cy="3102735"/>
          </a:xfrm>
          <a:prstGeom prst="rect">
            <a:avLst/>
          </a:prstGeom>
        </p:spPr>
      </p:pic>
    </p:spTree>
    <p:extLst>
      <p:ext uri="{BB962C8B-B14F-4D97-AF65-F5344CB8AC3E}">
        <p14:creationId xmlns:p14="http://schemas.microsoft.com/office/powerpoint/2010/main" val="1323634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7629F-543D-E607-9246-D2A2890D6C3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E7F3FD4-1ED5-29ED-8A0F-158322FB555F}"/>
              </a:ext>
            </a:extLst>
          </p:cNvPr>
          <p:cNvSpPr txBox="1"/>
          <p:nvPr/>
        </p:nvSpPr>
        <p:spPr>
          <a:xfrm>
            <a:off x="505945" y="117874"/>
            <a:ext cx="184731" cy="1061829"/>
          </a:xfrm>
          <a:prstGeom prst="rect">
            <a:avLst/>
          </a:prstGeom>
          <a:noFill/>
        </p:spPr>
        <p:txBody>
          <a:bodyPr wrap="none" rtlCol="0">
            <a:spAutoFit/>
          </a:bodyPr>
          <a:lstStyle/>
          <a:p>
            <a:endParaRPr lang="en-CZ" sz="3200" dirty="0">
              <a:solidFill>
                <a:schemeClr val="accent1"/>
              </a:solidFill>
            </a:endParaRPr>
          </a:p>
          <a:p>
            <a:endParaRPr lang="en-CZ" dirty="0"/>
          </a:p>
        </p:txBody>
      </p:sp>
      <p:sp>
        <p:nvSpPr>
          <p:cNvPr id="12" name="TextBox 11">
            <a:extLst>
              <a:ext uri="{FF2B5EF4-FFF2-40B4-BE49-F238E27FC236}">
                <a16:creationId xmlns:a16="http://schemas.microsoft.com/office/drawing/2014/main" id="{3D81E228-3B2A-2FC4-B1B1-0FD5A03A67AA}"/>
              </a:ext>
            </a:extLst>
          </p:cNvPr>
          <p:cNvSpPr txBox="1"/>
          <p:nvPr/>
        </p:nvSpPr>
        <p:spPr>
          <a:xfrm>
            <a:off x="598309" y="417955"/>
            <a:ext cx="7421083" cy="461665"/>
          </a:xfrm>
          <a:prstGeom prst="rect">
            <a:avLst/>
          </a:prstGeom>
          <a:noFill/>
        </p:spPr>
        <p:txBody>
          <a:bodyPr wrap="square" rtlCol="0">
            <a:spAutoFit/>
          </a:bodyPr>
          <a:lstStyle/>
          <a:p>
            <a:r>
              <a:rPr lang="en-CZ" sz="2400" dirty="0">
                <a:solidFill>
                  <a:schemeClr val="accent1"/>
                </a:solidFill>
              </a:rPr>
              <a:t>Step 3: Calculate the Output Error Terms</a:t>
            </a:r>
          </a:p>
        </p:txBody>
      </p:sp>
      <p:pic>
        <p:nvPicPr>
          <p:cNvPr id="4" name="Picture 3">
            <a:extLst>
              <a:ext uri="{FF2B5EF4-FFF2-40B4-BE49-F238E27FC236}">
                <a16:creationId xmlns:a16="http://schemas.microsoft.com/office/drawing/2014/main" id="{8F6F07C4-DA76-B285-B2DD-6041BC8A449E}"/>
              </a:ext>
            </a:extLst>
          </p:cNvPr>
          <p:cNvPicPr>
            <a:picLocks noChangeAspect="1"/>
          </p:cNvPicPr>
          <p:nvPr/>
        </p:nvPicPr>
        <p:blipFill>
          <a:blip r:embed="rId3"/>
          <a:stretch>
            <a:fillRect/>
          </a:stretch>
        </p:blipFill>
        <p:spPr>
          <a:xfrm>
            <a:off x="370490" y="1671145"/>
            <a:ext cx="4980626" cy="2883094"/>
          </a:xfrm>
          <a:prstGeom prst="rect">
            <a:avLst/>
          </a:prstGeom>
        </p:spPr>
      </p:pic>
      <p:pic>
        <p:nvPicPr>
          <p:cNvPr id="5" name="Picture 4">
            <a:extLst>
              <a:ext uri="{FF2B5EF4-FFF2-40B4-BE49-F238E27FC236}">
                <a16:creationId xmlns:a16="http://schemas.microsoft.com/office/drawing/2014/main" id="{04C08E17-C704-896E-86B7-72A359A30DF3}"/>
              </a:ext>
            </a:extLst>
          </p:cNvPr>
          <p:cNvPicPr>
            <a:picLocks noChangeAspect="1"/>
          </p:cNvPicPr>
          <p:nvPr/>
        </p:nvPicPr>
        <p:blipFill>
          <a:blip r:embed="rId4"/>
          <a:stretch>
            <a:fillRect/>
          </a:stretch>
        </p:blipFill>
        <p:spPr>
          <a:xfrm>
            <a:off x="5777809" y="1671145"/>
            <a:ext cx="4070385" cy="2987584"/>
          </a:xfrm>
          <a:prstGeom prst="rect">
            <a:avLst/>
          </a:prstGeom>
        </p:spPr>
      </p:pic>
    </p:spTree>
    <p:extLst>
      <p:ext uri="{BB962C8B-B14F-4D97-AF65-F5344CB8AC3E}">
        <p14:creationId xmlns:p14="http://schemas.microsoft.com/office/powerpoint/2010/main" val="1763118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6D4EC-D2B4-54E7-2704-12939DCD01C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B31515B-B878-03F5-E022-49C5760CCA4E}"/>
              </a:ext>
            </a:extLst>
          </p:cNvPr>
          <p:cNvSpPr txBox="1"/>
          <p:nvPr/>
        </p:nvSpPr>
        <p:spPr>
          <a:xfrm>
            <a:off x="505945" y="117874"/>
            <a:ext cx="184731" cy="1061829"/>
          </a:xfrm>
          <a:prstGeom prst="rect">
            <a:avLst/>
          </a:prstGeom>
          <a:noFill/>
        </p:spPr>
        <p:txBody>
          <a:bodyPr wrap="none" rtlCol="0">
            <a:spAutoFit/>
          </a:bodyPr>
          <a:lstStyle/>
          <a:p>
            <a:endParaRPr lang="en-CZ" sz="3200" dirty="0">
              <a:solidFill>
                <a:schemeClr val="accent1"/>
              </a:solidFill>
            </a:endParaRPr>
          </a:p>
          <a:p>
            <a:endParaRPr lang="en-CZ" dirty="0"/>
          </a:p>
        </p:txBody>
      </p:sp>
      <p:sp>
        <p:nvSpPr>
          <p:cNvPr id="12" name="TextBox 11">
            <a:extLst>
              <a:ext uri="{FF2B5EF4-FFF2-40B4-BE49-F238E27FC236}">
                <a16:creationId xmlns:a16="http://schemas.microsoft.com/office/drawing/2014/main" id="{61C4D559-0DB2-365C-537F-13FB83058C6B}"/>
              </a:ext>
            </a:extLst>
          </p:cNvPr>
          <p:cNvSpPr txBox="1"/>
          <p:nvPr/>
        </p:nvSpPr>
        <p:spPr>
          <a:xfrm>
            <a:off x="598309" y="417955"/>
            <a:ext cx="7421083" cy="461665"/>
          </a:xfrm>
          <a:prstGeom prst="rect">
            <a:avLst/>
          </a:prstGeom>
          <a:noFill/>
        </p:spPr>
        <p:txBody>
          <a:bodyPr wrap="square" rtlCol="0">
            <a:spAutoFit/>
          </a:bodyPr>
          <a:lstStyle/>
          <a:p>
            <a:r>
              <a:rPr lang="en-CZ" sz="2400" dirty="0">
                <a:solidFill>
                  <a:schemeClr val="accent1"/>
                </a:solidFill>
              </a:rPr>
              <a:t>Step 4: Calculate the Hidden Layer Error Terms</a:t>
            </a:r>
          </a:p>
        </p:txBody>
      </p:sp>
      <p:pic>
        <p:nvPicPr>
          <p:cNvPr id="3" name="Picture 2">
            <a:extLst>
              <a:ext uri="{FF2B5EF4-FFF2-40B4-BE49-F238E27FC236}">
                <a16:creationId xmlns:a16="http://schemas.microsoft.com/office/drawing/2014/main" id="{179F298C-6145-9F53-F1ED-E676C3FEF839}"/>
              </a:ext>
            </a:extLst>
          </p:cNvPr>
          <p:cNvPicPr>
            <a:picLocks noChangeAspect="1"/>
          </p:cNvPicPr>
          <p:nvPr/>
        </p:nvPicPr>
        <p:blipFill>
          <a:blip r:embed="rId3"/>
          <a:stretch>
            <a:fillRect/>
          </a:stretch>
        </p:blipFill>
        <p:spPr>
          <a:xfrm>
            <a:off x="114833" y="1323428"/>
            <a:ext cx="5046726" cy="3406227"/>
          </a:xfrm>
          <a:prstGeom prst="rect">
            <a:avLst/>
          </a:prstGeom>
        </p:spPr>
      </p:pic>
      <p:pic>
        <p:nvPicPr>
          <p:cNvPr id="6" name="Picture 5">
            <a:extLst>
              <a:ext uri="{FF2B5EF4-FFF2-40B4-BE49-F238E27FC236}">
                <a16:creationId xmlns:a16="http://schemas.microsoft.com/office/drawing/2014/main" id="{CAC9315C-D7C5-7187-BC0B-44403643B60A}"/>
              </a:ext>
            </a:extLst>
          </p:cNvPr>
          <p:cNvPicPr>
            <a:picLocks noChangeAspect="1"/>
          </p:cNvPicPr>
          <p:nvPr/>
        </p:nvPicPr>
        <p:blipFill>
          <a:blip r:embed="rId4"/>
          <a:stretch>
            <a:fillRect/>
          </a:stretch>
        </p:blipFill>
        <p:spPr>
          <a:xfrm>
            <a:off x="5846578" y="1179701"/>
            <a:ext cx="4183117" cy="2387600"/>
          </a:xfrm>
          <a:prstGeom prst="rect">
            <a:avLst/>
          </a:prstGeom>
        </p:spPr>
      </p:pic>
      <p:pic>
        <p:nvPicPr>
          <p:cNvPr id="7" name="Picture 6">
            <a:extLst>
              <a:ext uri="{FF2B5EF4-FFF2-40B4-BE49-F238E27FC236}">
                <a16:creationId xmlns:a16="http://schemas.microsoft.com/office/drawing/2014/main" id="{1796C18E-96C1-29A2-8BE3-3D740B48BC1D}"/>
              </a:ext>
            </a:extLst>
          </p:cNvPr>
          <p:cNvPicPr>
            <a:picLocks noChangeAspect="1"/>
          </p:cNvPicPr>
          <p:nvPr/>
        </p:nvPicPr>
        <p:blipFill>
          <a:blip r:embed="rId5"/>
          <a:srcRect l="59943"/>
          <a:stretch/>
        </p:blipFill>
        <p:spPr>
          <a:xfrm>
            <a:off x="6176390" y="3740297"/>
            <a:ext cx="3523492" cy="2203304"/>
          </a:xfrm>
          <a:prstGeom prst="rect">
            <a:avLst/>
          </a:prstGeom>
        </p:spPr>
      </p:pic>
    </p:spTree>
    <p:extLst>
      <p:ext uri="{BB962C8B-B14F-4D97-AF65-F5344CB8AC3E}">
        <p14:creationId xmlns:p14="http://schemas.microsoft.com/office/powerpoint/2010/main" val="4236488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0E2F0-2B44-7FC8-8789-6C65E9065CE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10C6DC9-5191-D16D-EF65-2B9A615B6B23}"/>
              </a:ext>
            </a:extLst>
          </p:cNvPr>
          <p:cNvSpPr txBox="1"/>
          <p:nvPr/>
        </p:nvSpPr>
        <p:spPr>
          <a:xfrm>
            <a:off x="505945" y="117874"/>
            <a:ext cx="184731" cy="1061829"/>
          </a:xfrm>
          <a:prstGeom prst="rect">
            <a:avLst/>
          </a:prstGeom>
          <a:noFill/>
        </p:spPr>
        <p:txBody>
          <a:bodyPr wrap="none" rtlCol="0">
            <a:spAutoFit/>
          </a:bodyPr>
          <a:lstStyle/>
          <a:p>
            <a:endParaRPr lang="en-CZ" sz="3200" dirty="0">
              <a:solidFill>
                <a:schemeClr val="accent1"/>
              </a:solidFill>
            </a:endParaRPr>
          </a:p>
          <a:p>
            <a:endParaRPr lang="en-CZ" dirty="0"/>
          </a:p>
        </p:txBody>
      </p:sp>
      <p:sp>
        <p:nvSpPr>
          <p:cNvPr id="12" name="TextBox 11">
            <a:extLst>
              <a:ext uri="{FF2B5EF4-FFF2-40B4-BE49-F238E27FC236}">
                <a16:creationId xmlns:a16="http://schemas.microsoft.com/office/drawing/2014/main" id="{D1B6960F-A98C-979E-A346-D1CD7330CB5B}"/>
              </a:ext>
            </a:extLst>
          </p:cNvPr>
          <p:cNvSpPr txBox="1"/>
          <p:nvPr/>
        </p:nvSpPr>
        <p:spPr>
          <a:xfrm>
            <a:off x="598309" y="417955"/>
            <a:ext cx="7421083" cy="461665"/>
          </a:xfrm>
          <a:prstGeom prst="rect">
            <a:avLst/>
          </a:prstGeom>
          <a:noFill/>
        </p:spPr>
        <p:txBody>
          <a:bodyPr wrap="square" rtlCol="0">
            <a:spAutoFit/>
          </a:bodyPr>
          <a:lstStyle/>
          <a:p>
            <a:r>
              <a:rPr lang="en-CZ" sz="2400" dirty="0">
                <a:solidFill>
                  <a:schemeClr val="accent1"/>
                </a:solidFill>
              </a:rPr>
              <a:t>Step 5: Apply the Delta Rule </a:t>
            </a:r>
          </a:p>
        </p:txBody>
      </p:sp>
      <p:pic>
        <p:nvPicPr>
          <p:cNvPr id="3" name="Picture 2">
            <a:extLst>
              <a:ext uri="{FF2B5EF4-FFF2-40B4-BE49-F238E27FC236}">
                <a16:creationId xmlns:a16="http://schemas.microsoft.com/office/drawing/2014/main" id="{DEB55FE5-EC11-5EF1-839F-6795ADB38F9D}"/>
              </a:ext>
            </a:extLst>
          </p:cNvPr>
          <p:cNvPicPr>
            <a:picLocks noChangeAspect="1"/>
          </p:cNvPicPr>
          <p:nvPr/>
        </p:nvPicPr>
        <p:blipFill>
          <a:blip r:embed="rId3"/>
          <a:stretch>
            <a:fillRect/>
          </a:stretch>
        </p:blipFill>
        <p:spPr>
          <a:xfrm>
            <a:off x="1941407" y="1439916"/>
            <a:ext cx="5771046" cy="3818759"/>
          </a:xfrm>
          <a:prstGeom prst="rect">
            <a:avLst/>
          </a:prstGeom>
        </p:spPr>
      </p:pic>
    </p:spTree>
    <p:extLst>
      <p:ext uri="{BB962C8B-B14F-4D97-AF65-F5344CB8AC3E}">
        <p14:creationId xmlns:p14="http://schemas.microsoft.com/office/powerpoint/2010/main" val="3742714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89399-1580-C149-130B-31B60B18B2F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8736E80-62F0-7AF3-4B9F-A8A8FD31D216}"/>
              </a:ext>
            </a:extLst>
          </p:cNvPr>
          <p:cNvSpPr txBox="1"/>
          <p:nvPr/>
        </p:nvSpPr>
        <p:spPr>
          <a:xfrm>
            <a:off x="505945" y="117874"/>
            <a:ext cx="184731" cy="1061829"/>
          </a:xfrm>
          <a:prstGeom prst="rect">
            <a:avLst/>
          </a:prstGeom>
          <a:noFill/>
        </p:spPr>
        <p:txBody>
          <a:bodyPr wrap="none" rtlCol="0">
            <a:spAutoFit/>
          </a:bodyPr>
          <a:lstStyle/>
          <a:p>
            <a:endParaRPr lang="en-CZ" sz="3200" dirty="0">
              <a:solidFill>
                <a:schemeClr val="accent1"/>
              </a:solidFill>
            </a:endParaRPr>
          </a:p>
          <a:p>
            <a:endParaRPr lang="en-CZ" dirty="0"/>
          </a:p>
        </p:txBody>
      </p:sp>
      <p:sp>
        <p:nvSpPr>
          <p:cNvPr id="12" name="TextBox 11">
            <a:extLst>
              <a:ext uri="{FF2B5EF4-FFF2-40B4-BE49-F238E27FC236}">
                <a16:creationId xmlns:a16="http://schemas.microsoft.com/office/drawing/2014/main" id="{65B7E682-7B43-661F-D5B9-ECD28A051084}"/>
              </a:ext>
            </a:extLst>
          </p:cNvPr>
          <p:cNvSpPr txBox="1"/>
          <p:nvPr/>
        </p:nvSpPr>
        <p:spPr>
          <a:xfrm>
            <a:off x="598309" y="417955"/>
            <a:ext cx="7421083" cy="461665"/>
          </a:xfrm>
          <a:prstGeom prst="rect">
            <a:avLst/>
          </a:prstGeom>
          <a:noFill/>
        </p:spPr>
        <p:txBody>
          <a:bodyPr wrap="square" rtlCol="0">
            <a:spAutoFit/>
          </a:bodyPr>
          <a:lstStyle/>
          <a:p>
            <a:r>
              <a:rPr lang="en-CZ" sz="2400" dirty="0">
                <a:solidFill>
                  <a:schemeClr val="accent1"/>
                </a:solidFill>
              </a:rPr>
              <a:t>Step 6: Adjust the Weights</a:t>
            </a:r>
          </a:p>
        </p:txBody>
      </p:sp>
      <p:pic>
        <p:nvPicPr>
          <p:cNvPr id="2" name="Picture 1">
            <a:extLst>
              <a:ext uri="{FF2B5EF4-FFF2-40B4-BE49-F238E27FC236}">
                <a16:creationId xmlns:a16="http://schemas.microsoft.com/office/drawing/2014/main" id="{C3E21737-B017-8561-40F8-F411BAFAF6B7}"/>
              </a:ext>
            </a:extLst>
          </p:cNvPr>
          <p:cNvPicPr>
            <a:picLocks noChangeAspect="1"/>
          </p:cNvPicPr>
          <p:nvPr/>
        </p:nvPicPr>
        <p:blipFill>
          <a:blip r:embed="rId3"/>
          <a:stretch>
            <a:fillRect/>
          </a:stretch>
        </p:blipFill>
        <p:spPr>
          <a:xfrm>
            <a:off x="2209800" y="1143000"/>
            <a:ext cx="7772400" cy="4572000"/>
          </a:xfrm>
          <a:prstGeom prst="rect">
            <a:avLst/>
          </a:prstGeom>
        </p:spPr>
      </p:pic>
    </p:spTree>
    <p:extLst>
      <p:ext uri="{BB962C8B-B14F-4D97-AF65-F5344CB8AC3E}">
        <p14:creationId xmlns:p14="http://schemas.microsoft.com/office/powerpoint/2010/main" val="27663072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6FE8230-1B8C-9010-C16C-9443D83CA40C}"/>
              </a:ext>
            </a:extLst>
          </p:cNvPr>
          <p:cNvSpPr>
            <a:spLocks noGrp="1"/>
          </p:cNvSpPr>
          <p:nvPr>
            <p:ph type="body" sz="quarter" idx="15"/>
          </p:nvPr>
        </p:nvSpPr>
        <p:spPr>
          <a:xfrm>
            <a:off x="5993702" y="1803401"/>
            <a:ext cx="5612587" cy="3848100"/>
          </a:xfrm>
        </p:spPr>
        <p:txBody>
          <a:bodyPr>
            <a:normAutofit fontScale="92500"/>
          </a:bodyPr>
          <a:lstStyle/>
          <a:p>
            <a:pPr>
              <a:lnSpc>
                <a:spcPct val="100000"/>
              </a:lnSpc>
            </a:pPr>
            <a:r>
              <a:rPr lang="en-US" sz="2200" dirty="0"/>
              <a:t>Optimizers in CNNs are algorithms used to adjust the weights of the network to minimize loss. </a:t>
            </a:r>
          </a:p>
          <a:p>
            <a:pPr>
              <a:lnSpc>
                <a:spcPct val="100000"/>
              </a:lnSpc>
            </a:pPr>
            <a:r>
              <a:rPr lang="en-US" sz="2200" dirty="0"/>
              <a:t>Key types include </a:t>
            </a:r>
            <a:r>
              <a:rPr lang="en-US" sz="2200" dirty="0">
                <a:solidFill>
                  <a:srgbClr val="0070C0"/>
                </a:solidFill>
              </a:rPr>
              <a:t>SGD</a:t>
            </a:r>
            <a:r>
              <a:rPr lang="en-US" sz="2200" dirty="0"/>
              <a:t> (Stochastic Gradient Descent), which is simple yet effective; </a:t>
            </a:r>
            <a:r>
              <a:rPr lang="en-US" sz="2200" dirty="0">
                <a:solidFill>
                  <a:srgbClr val="0070C0"/>
                </a:solidFill>
              </a:rPr>
              <a:t>Adam</a:t>
            </a:r>
            <a:r>
              <a:rPr lang="en-US" sz="2200" dirty="0"/>
              <a:t>, known for its adaptiveness to different problems; and </a:t>
            </a:r>
            <a:r>
              <a:rPr lang="en-US" sz="2200" dirty="0">
                <a:solidFill>
                  <a:srgbClr val="0070C0"/>
                </a:solidFill>
              </a:rPr>
              <a:t>RMSprop</a:t>
            </a:r>
            <a:r>
              <a:rPr lang="en-US" sz="2200" dirty="0"/>
              <a:t>, which adjusts the learning rate during training. </a:t>
            </a:r>
          </a:p>
          <a:p>
            <a:pPr>
              <a:lnSpc>
                <a:spcPct val="100000"/>
              </a:lnSpc>
            </a:pPr>
            <a:r>
              <a:rPr lang="en-US" sz="2200" dirty="0"/>
              <a:t>The choice of optimizer affects the </a:t>
            </a:r>
            <a:r>
              <a:rPr lang="en-US" sz="2200" dirty="0">
                <a:solidFill>
                  <a:srgbClr val="0070C0"/>
                </a:solidFill>
              </a:rPr>
              <a:t>speed and quality of training</a:t>
            </a:r>
            <a:r>
              <a:rPr lang="en-US" sz="2200" dirty="0"/>
              <a:t>, and sometimes a combination of optimizers is used for different stages of training to achieve better results.</a:t>
            </a:r>
            <a:endParaRPr lang="en-CA" sz="2200" dirty="0"/>
          </a:p>
        </p:txBody>
      </p:sp>
      <p:sp>
        <p:nvSpPr>
          <p:cNvPr id="2" name="Title 1">
            <a:extLst>
              <a:ext uri="{FF2B5EF4-FFF2-40B4-BE49-F238E27FC236}">
                <a16:creationId xmlns:a16="http://schemas.microsoft.com/office/drawing/2014/main" id="{F30436DD-B530-21CB-7ED2-19A267D2B97F}"/>
              </a:ext>
            </a:extLst>
          </p:cNvPr>
          <p:cNvSpPr>
            <a:spLocks noGrp="1"/>
          </p:cNvSpPr>
          <p:nvPr>
            <p:ph type="title"/>
          </p:nvPr>
        </p:nvSpPr>
        <p:spPr>
          <a:xfrm>
            <a:off x="5993700" y="576274"/>
            <a:ext cx="5612588" cy="1001980"/>
          </a:xfrm>
        </p:spPr>
        <p:txBody>
          <a:bodyPr anchor="t">
            <a:normAutofit/>
          </a:bodyPr>
          <a:lstStyle/>
          <a:p>
            <a:r>
              <a:rPr lang="en-US"/>
              <a:t>Optimizers: Types and Their Impact on Training</a:t>
            </a:r>
            <a:endParaRPr lang="en-CA"/>
          </a:p>
        </p:txBody>
      </p:sp>
      <p:pic>
        <p:nvPicPr>
          <p:cNvPr id="5" name="Picture 4" descr="Light bulb on yellow background with sketched light beams and cord">
            <a:extLst>
              <a:ext uri="{FF2B5EF4-FFF2-40B4-BE49-F238E27FC236}">
                <a16:creationId xmlns:a16="http://schemas.microsoft.com/office/drawing/2014/main" id="{6973CFA6-8DBC-E00C-82AE-23FE4BF6AAE7}"/>
              </a:ext>
            </a:extLst>
          </p:cNvPr>
          <p:cNvPicPr>
            <a:picLocks noChangeAspect="1"/>
          </p:cNvPicPr>
          <p:nvPr/>
        </p:nvPicPr>
        <p:blipFill rotWithShape="1">
          <a:blip r:embed="rId2"/>
          <a:srcRect l="36404" r="1" b="1"/>
          <a:stretch/>
        </p:blipFill>
        <p:spPr>
          <a:xfrm>
            <a:off x="20" y="0"/>
            <a:ext cx="5182492" cy="6274675"/>
          </a:xfrm>
          <a:prstGeom prst="rect">
            <a:avLst/>
          </a:prstGeom>
          <a:noFill/>
        </p:spPr>
      </p:pic>
    </p:spTree>
    <p:extLst>
      <p:ext uri="{BB962C8B-B14F-4D97-AF65-F5344CB8AC3E}">
        <p14:creationId xmlns:p14="http://schemas.microsoft.com/office/powerpoint/2010/main" val="4257572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88581E1-D996-6294-7D5D-FAB30F34CA20}"/>
              </a:ext>
            </a:extLst>
          </p:cNvPr>
          <p:cNvSpPr>
            <a:spLocks noGrp="1"/>
          </p:cNvSpPr>
          <p:nvPr>
            <p:ph type="body" sz="quarter" idx="15"/>
          </p:nvPr>
        </p:nvSpPr>
        <p:spPr>
          <a:xfrm>
            <a:off x="367687" y="1803401"/>
            <a:ext cx="5612587" cy="3848100"/>
          </a:xfrm>
        </p:spPr>
        <p:txBody>
          <a:bodyPr>
            <a:normAutofit/>
          </a:bodyPr>
          <a:lstStyle/>
          <a:p>
            <a:pPr>
              <a:lnSpc>
                <a:spcPct val="100000"/>
              </a:lnSpc>
            </a:pPr>
            <a:r>
              <a:rPr lang="en-US" sz="2000" dirty="0"/>
              <a:t>Training a CNN involves </a:t>
            </a:r>
            <a:r>
              <a:rPr lang="en-US" sz="2000" dirty="0">
                <a:solidFill>
                  <a:srgbClr val="0070C0"/>
                </a:solidFill>
              </a:rPr>
              <a:t>initializing</a:t>
            </a:r>
            <a:r>
              <a:rPr lang="en-US" sz="2000" dirty="0"/>
              <a:t> </a:t>
            </a:r>
            <a:r>
              <a:rPr lang="en-US" sz="2000" dirty="0">
                <a:solidFill>
                  <a:srgbClr val="0070C0"/>
                </a:solidFill>
              </a:rPr>
              <a:t>weights</a:t>
            </a:r>
            <a:r>
              <a:rPr lang="en-US" sz="2000" dirty="0"/>
              <a:t>, </a:t>
            </a:r>
            <a:r>
              <a:rPr lang="en-US" sz="2000" dirty="0">
                <a:solidFill>
                  <a:srgbClr val="0070C0"/>
                </a:solidFill>
              </a:rPr>
              <a:t>forward propagation</a:t>
            </a:r>
            <a:r>
              <a:rPr lang="en-US" sz="2000" dirty="0"/>
              <a:t> to get predictions, calculating </a:t>
            </a:r>
            <a:r>
              <a:rPr lang="en-US" sz="2000" dirty="0">
                <a:solidFill>
                  <a:srgbClr val="0070C0"/>
                </a:solidFill>
              </a:rPr>
              <a:t>loss</a:t>
            </a:r>
            <a:r>
              <a:rPr lang="en-US" sz="2000" dirty="0"/>
              <a:t>, and </a:t>
            </a:r>
            <a:r>
              <a:rPr lang="en-US" sz="2000" dirty="0">
                <a:solidFill>
                  <a:srgbClr val="0070C0"/>
                </a:solidFill>
              </a:rPr>
              <a:t>backpropagation</a:t>
            </a:r>
            <a:r>
              <a:rPr lang="en-US" sz="2000" dirty="0"/>
              <a:t> to calculate gradients and </a:t>
            </a:r>
            <a:r>
              <a:rPr lang="en-US" sz="2000" dirty="0">
                <a:solidFill>
                  <a:srgbClr val="0070C0"/>
                </a:solidFill>
              </a:rPr>
              <a:t>optimizers</a:t>
            </a:r>
            <a:r>
              <a:rPr lang="en-US" sz="2000" dirty="0"/>
              <a:t> adjust weights. </a:t>
            </a:r>
          </a:p>
          <a:p>
            <a:pPr>
              <a:lnSpc>
                <a:spcPct val="100000"/>
              </a:lnSpc>
            </a:pPr>
            <a:r>
              <a:rPr lang="en-US" sz="2000" dirty="0"/>
              <a:t>Best practices include using a </a:t>
            </a:r>
            <a:r>
              <a:rPr lang="en-US" sz="2000" dirty="0">
                <a:solidFill>
                  <a:srgbClr val="0070C0"/>
                </a:solidFill>
              </a:rPr>
              <a:t>validation</a:t>
            </a:r>
            <a:r>
              <a:rPr lang="en-US" sz="2000" dirty="0"/>
              <a:t> set for hyperparameter tuning</a:t>
            </a:r>
            <a:r>
              <a:rPr lang="en-US" sz="2000" dirty="0">
                <a:solidFill>
                  <a:srgbClr val="0070C0"/>
                </a:solidFill>
              </a:rPr>
              <a:t>, applying early stopping </a:t>
            </a:r>
            <a:r>
              <a:rPr lang="en-US" sz="2000" dirty="0"/>
              <a:t>to prevent overfitting, and </a:t>
            </a:r>
            <a:r>
              <a:rPr lang="en-US" sz="2000" dirty="0">
                <a:solidFill>
                  <a:srgbClr val="0070C0"/>
                </a:solidFill>
              </a:rPr>
              <a:t>periodically saving </a:t>
            </a:r>
            <a:r>
              <a:rPr lang="en-US" sz="2000" dirty="0"/>
              <a:t>the model state for recovery. Monitoring training progress with metrics like loss and accuracy, both on training and validation sets, helps in understanding model performance and making necessary adjustments.</a:t>
            </a:r>
            <a:endParaRPr lang="en-CA" sz="2000" dirty="0"/>
          </a:p>
        </p:txBody>
      </p:sp>
      <p:sp>
        <p:nvSpPr>
          <p:cNvPr id="2" name="Title 1">
            <a:extLst>
              <a:ext uri="{FF2B5EF4-FFF2-40B4-BE49-F238E27FC236}">
                <a16:creationId xmlns:a16="http://schemas.microsoft.com/office/drawing/2014/main" id="{23CDB9D7-9B6A-FAA0-A270-96FC896C1512}"/>
              </a:ext>
            </a:extLst>
          </p:cNvPr>
          <p:cNvSpPr>
            <a:spLocks noGrp="1"/>
          </p:cNvSpPr>
          <p:nvPr>
            <p:ph type="title"/>
          </p:nvPr>
        </p:nvSpPr>
        <p:spPr>
          <a:xfrm>
            <a:off x="367685" y="576274"/>
            <a:ext cx="5612588" cy="1001980"/>
          </a:xfrm>
        </p:spPr>
        <p:txBody>
          <a:bodyPr anchor="t">
            <a:normAutofit/>
          </a:bodyPr>
          <a:lstStyle/>
          <a:p>
            <a:r>
              <a:rPr lang="en-US" dirty="0"/>
              <a:t>Training a CNN: Steps and Best Practices</a:t>
            </a:r>
            <a:endParaRPr lang="en-CA" dirty="0"/>
          </a:p>
        </p:txBody>
      </p:sp>
      <p:pic>
        <p:nvPicPr>
          <p:cNvPr id="5122" name="Picture 2" descr="Accuracy and Loss - AI Wiki">
            <a:extLst>
              <a:ext uri="{FF2B5EF4-FFF2-40B4-BE49-F238E27FC236}">
                <a16:creationId xmlns:a16="http://schemas.microsoft.com/office/drawing/2014/main" id="{ECE1E4F6-9899-654A-765A-299CB8FCBE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9514" y="1960896"/>
            <a:ext cx="5340601" cy="2936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4653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BA9FA9A-1331-F200-C41F-8DE057A97FF8}"/>
              </a:ext>
            </a:extLst>
          </p:cNvPr>
          <p:cNvSpPr>
            <a:spLocks noGrp="1"/>
          </p:cNvSpPr>
          <p:nvPr>
            <p:ph type="body" sz="quarter" idx="15"/>
          </p:nvPr>
        </p:nvSpPr>
        <p:spPr>
          <a:xfrm>
            <a:off x="609603" y="1803401"/>
            <a:ext cx="5612587" cy="3848100"/>
          </a:xfrm>
        </p:spPr>
        <p:txBody>
          <a:bodyPr>
            <a:normAutofit/>
          </a:bodyPr>
          <a:lstStyle/>
          <a:p>
            <a:pPr>
              <a:lnSpc>
                <a:spcPct val="100000"/>
              </a:lnSpc>
            </a:pPr>
            <a:r>
              <a:rPr lang="en-US" sz="2200" dirty="0"/>
              <a:t>Overfitting occurs when a CNN model learns the training data too well, including its noise and outliers, leading to </a:t>
            </a:r>
            <a:r>
              <a:rPr lang="en-US" sz="2200" dirty="0">
                <a:solidFill>
                  <a:srgbClr val="0070C0"/>
                </a:solidFill>
              </a:rPr>
              <a:t>poor performance on new, unseen data</a:t>
            </a:r>
            <a:r>
              <a:rPr lang="en-US" sz="2200" dirty="0"/>
              <a:t>. </a:t>
            </a:r>
          </a:p>
          <a:p>
            <a:pPr>
              <a:lnSpc>
                <a:spcPct val="100000"/>
              </a:lnSpc>
            </a:pPr>
            <a:r>
              <a:rPr lang="en-US" sz="2200" dirty="0"/>
              <a:t>This usually happens in overly complex models with too many parameters. </a:t>
            </a:r>
          </a:p>
          <a:p>
            <a:pPr>
              <a:lnSpc>
                <a:spcPct val="100000"/>
              </a:lnSpc>
            </a:pPr>
            <a:r>
              <a:rPr lang="en-US" sz="2200" dirty="0"/>
              <a:t>Symptoms of overfitting include </a:t>
            </a:r>
            <a:r>
              <a:rPr lang="en-US" sz="2200" dirty="0">
                <a:solidFill>
                  <a:srgbClr val="0070C0"/>
                </a:solidFill>
              </a:rPr>
              <a:t>much higher accuracy on training data compared to validation data. </a:t>
            </a:r>
            <a:endParaRPr lang="en-CA" sz="2200" dirty="0">
              <a:solidFill>
                <a:srgbClr val="0070C0"/>
              </a:solidFill>
            </a:endParaRPr>
          </a:p>
        </p:txBody>
      </p:sp>
      <p:sp>
        <p:nvSpPr>
          <p:cNvPr id="2" name="Title 1">
            <a:extLst>
              <a:ext uri="{FF2B5EF4-FFF2-40B4-BE49-F238E27FC236}">
                <a16:creationId xmlns:a16="http://schemas.microsoft.com/office/drawing/2014/main" id="{6E37E7B1-BA9B-69D1-B677-B664BAAF4960}"/>
              </a:ext>
            </a:extLst>
          </p:cNvPr>
          <p:cNvSpPr>
            <a:spLocks noGrp="1"/>
          </p:cNvSpPr>
          <p:nvPr>
            <p:ph type="title"/>
          </p:nvPr>
        </p:nvSpPr>
        <p:spPr>
          <a:xfrm>
            <a:off x="609601" y="576274"/>
            <a:ext cx="5612588" cy="1001980"/>
          </a:xfrm>
        </p:spPr>
        <p:txBody>
          <a:bodyPr anchor="t">
            <a:normAutofit/>
          </a:bodyPr>
          <a:lstStyle/>
          <a:p>
            <a:r>
              <a:rPr lang="en-CA" sz="3300"/>
              <a:t>Understanding Overfitting in Deep Learning</a:t>
            </a:r>
          </a:p>
        </p:txBody>
      </p:sp>
      <p:pic>
        <p:nvPicPr>
          <p:cNvPr id="6146" name="Picture 2" descr="Slow Learning and Overfitting - CNN · Issue #11692 · keras-team/keras ·  GitHub">
            <a:extLst>
              <a:ext uri="{FF2B5EF4-FFF2-40B4-BE49-F238E27FC236}">
                <a16:creationId xmlns:a16="http://schemas.microsoft.com/office/drawing/2014/main" id="{2A4E0857-2E6F-6455-9DD1-4F700FCA6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6465" y="2146301"/>
            <a:ext cx="4010025" cy="316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4956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063A9F8-2653-C014-C54B-BC051D2F0E24}"/>
              </a:ext>
            </a:extLst>
          </p:cNvPr>
          <p:cNvSpPr>
            <a:spLocks noGrp="1"/>
          </p:cNvSpPr>
          <p:nvPr>
            <p:ph type="body" sz="quarter" idx="15"/>
          </p:nvPr>
        </p:nvSpPr>
        <p:spPr>
          <a:xfrm>
            <a:off x="609603" y="1803401"/>
            <a:ext cx="11290038" cy="3848100"/>
          </a:xfrm>
        </p:spPr>
        <p:txBody>
          <a:bodyPr>
            <a:normAutofit/>
          </a:bodyPr>
          <a:lstStyle/>
          <a:p>
            <a:pPr>
              <a:lnSpc>
                <a:spcPct val="100000"/>
              </a:lnSpc>
            </a:pPr>
            <a:r>
              <a:rPr lang="en-US" sz="2200" dirty="0"/>
              <a:t>To prevent overfitting: </a:t>
            </a:r>
          </a:p>
          <a:p>
            <a:pPr marL="457200" indent="-457200">
              <a:lnSpc>
                <a:spcPct val="100000"/>
              </a:lnSpc>
              <a:buAutoNum type="arabicParenR"/>
            </a:pPr>
            <a:r>
              <a:rPr lang="en-US" sz="2200" dirty="0"/>
              <a:t>Use dropout layers which randomly deactivate certain neurons during training, preventing co-adaptation of features. </a:t>
            </a:r>
          </a:p>
          <a:p>
            <a:pPr marL="457200" indent="-457200">
              <a:lnSpc>
                <a:spcPct val="100000"/>
              </a:lnSpc>
              <a:buAutoNum type="arabicParenR"/>
            </a:pPr>
            <a:r>
              <a:rPr lang="en-US" sz="2200" dirty="0"/>
              <a:t>Apply regularization methods like L1 (lasso) and L2 (ridge) which penalize large weights. </a:t>
            </a:r>
          </a:p>
          <a:p>
            <a:pPr marL="457200" indent="-457200">
              <a:lnSpc>
                <a:spcPct val="100000"/>
              </a:lnSpc>
              <a:buAutoNum type="arabicParenR"/>
            </a:pPr>
            <a:r>
              <a:rPr lang="en-US" sz="2200" dirty="0"/>
              <a:t>Augment the dataset to provide more varied training examples. </a:t>
            </a:r>
          </a:p>
          <a:p>
            <a:pPr marL="457200" indent="-457200">
              <a:lnSpc>
                <a:spcPct val="100000"/>
              </a:lnSpc>
              <a:buAutoNum type="arabicParenR"/>
            </a:pPr>
            <a:r>
              <a:rPr lang="en-US" sz="2200" dirty="0"/>
              <a:t>Simplify the model by reducing the number of layers or neurons. </a:t>
            </a:r>
          </a:p>
          <a:p>
            <a:pPr marL="457200" indent="-457200">
              <a:lnSpc>
                <a:spcPct val="100000"/>
              </a:lnSpc>
              <a:buAutoNum type="arabicParenR"/>
            </a:pPr>
            <a:r>
              <a:rPr lang="en-US" sz="2200" dirty="0"/>
              <a:t>Early stopping halts training when performance on a validation set starts to degrade.</a:t>
            </a:r>
            <a:endParaRPr lang="en-CA" sz="2200" dirty="0"/>
          </a:p>
        </p:txBody>
      </p:sp>
      <p:sp>
        <p:nvSpPr>
          <p:cNvPr id="2" name="Title 1">
            <a:extLst>
              <a:ext uri="{FF2B5EF4-FFF2-40B4-BE49-F238E27FC236}">
                <a16:creationId xmlns:a16="http://schemas.microsoft.com/office/drawing/2014/main" id="{5F5064BE-3073-4DA6-A7E9-87BFFADA0B7E}"/>
              </a:ext>
            </a:extLst>
          </p:cNvPr>
          <p:cNvSpPr>
            <a:spLocks noGrp="1"/>
          </p:cNvSpPr>
          <p:nvPr>
            <p:ph type="title"/>
          </p:nvPr>
        </p:nvSpPr>
        <p:spPr>
          <a:xfrm>
            <a:off x="609600" y="576274"/>
            <a:ext cx="9217571" cy="1001980"/>
          </a:xfrm>
        </p:spPr>
        <p:txBody>
          <a:bodyPr anchor="t">
            <a:normAutofit/>
          </a:bodyPr>
          <a:lstStyle/>
          <a:p>
            <a:r>
              <a:rPr lang="en-CA" dirty="0"/>
              <a:t>Strategies to Prevent Overfitting</a:t>
            </a:r>
          </a:p>
        </p:txBody>
      </p:sp>
    </p:spTree>
    <p:extLst>
      <p:ext uri="{BB962C8B-B14F-4D97-AF65-F5344CB8AC3E}">
        <p14:creationId xmlns:p14="http://schemas.microsoft.com/office/powerpoint/2010/main" val="1017137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76AFC-8CA0-3743-4757-A84B5FE6B08E}"/>
              </a:ext>
            </a:extLst>
          </p:cNvPr>
          <p:cNvSpPr>
            <a:spLocks noGrp="1"/>
          </p:cNvSpPr>
          <p:nvPr>
            <p:ph type="title"/>
          </p:nvPr>
        </p:nvSpPr>
        <p:spPr>
          <a:xfrm>
            <a:off x="756746" y="588195"/>
            <a:ext cx="9659006" cy="1362076"/>
          </a:xfrm>
        </p:spPr>
        <p:txBody>
          <a:bodyPr anchor="b">
            <a:normAutofit/>
          </a:bodyPr>
          <a:lstStyle/>
          <a:p>
            <a:pPr algn="ctr"/>
            <a:r>
              <a:rPr lang="en-US" sz="3300" dirty="0"/>
              <a:t>Hardware Resources for Deep Learning: CPUs vs GPUs vs TPUs</a:t>
            </a:r>
            <a:endParaRPr lang="en-CA" sz="3300" dirty="0"/>
          </a:p>
        </p:txBody>
      </p:sp>
      <p:sp>
        <p:nvSpPr>
          <p:cNvPr id="3" name="Text Placeholder 2">
            <a:extLst>
              <a:ext uri="{FF2B5EF4-FFF2-40B4-BE49-F238E27FC236}">
                <a16:creationId xmlns:a16="http://schemas.microsoft.com/office/drawing/2014/main" id="{1DD05C13-627E-9CA3-0703-9677F7243C91}"/>
              </a:ext>
            </a:extLst>
          </p:cNvPr>
          <p:cNvSpPr>
            <a:spLocks noGrp="1"/>
          </p:cNvSpPr>
          <p:nvPr>
            <p:ph type="body" idx="1"/>
          </p:nvPr>
        </p:nvSpPr>
        <p:spPr>
          <a:xfrm>
            <a:off x="599090" y="2517228"/>
            <a:ext cx="10583916" cy="4340772"/>
          </a:xfrm>
        </p:spPr>
        <p:txBody>
          <a:bodyPr anchor="t">
            <a:normAutofit/>
          </a:bodyPr>
          <a:lstStyle/>
          <a:p>
            <a:pPr>
              <a:lnSpc>
                <a:spcPct val="90000"/>
              </a:lnSpc>
            </a:pPr>
            <a:r>
              <a:rPr lang="en-US" sz="2400" dirty="0"/>
              <a:t>Deep learning, particularly CNNs, requires </a:t>
            </a:r>
            <a:r>
              <a:rPr lang="en-US" sz="2400" dirty="0">
                <a:solidFill>
                  <a:srgbClr val="FFC000"/>
                </a:solidFill>
              </a:rPr>
              <a:t>significant computational resources</a:t>
            </a:r>
            <a:r>
              <a:rPr lang="en-US" sz="2400" dirty="0"/>
              <a:t>. </a:t>
            </a:r>
          </a:p>
          <a:p>
            <a:pPr>
              <a:lnSpc>
                <a:spcPct val="90000"/>
              </a:lnSpc>
            </a:pPr>
            <a:r>
              <a:rPr lang="en-US" sz="2400" dirty="0"/>
              <a:t>CPUs, with fewer cores, are versatile but slower for this task. </a:t>
            </a:r>
          </a:p>
          <a:p>
            <a:pPr>
              <a:lnSpc>
                <a:spcPct val="90000"/>
              </a:lnSpc>
            </a:pPr>
            <a:r>
              <a:rPr lang="en-US" sz="2400" dirty="0"/>
              <a:t>GPUs, with thousands of cores, are ideal for the parallel processing needs of deep learning. </a:t>
            </a:r>
          </a:p>
          <a:p>
            <a:pPr>
              <a:lnSpc>
                <a:spcPct val="90000"/>
              </a:lnSpc>
            </a:pPr>
            <a:r>
              <a:rPr lang="en-US" sz="2400" dirty="0"/>
              <a:t>TPUs, designed specifically for neural network operations, provide even faster computations. Choice of hardware can significantly impact training time, cost, and scalability of deep learning models.</a:t>
            </a:r>
            <a:endParaRPr lang="en-CA" sz="2400" dirty="0"/>
          </a:p>
        </p:txBody>
      </p:sp>
    </p:spTree>
    <p:extLst>
      <p:ext uri="{BB962C8B-B14F-4D97-AF65-F5344CB8AC3E}">
        <p14:creationId xmlns:p14="http://schemas.microsoft.com/office/powerpoint/2010/main" val="4802670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5D65F-0D57-028E-FE40-BB407E173E83}"/>
              </a:ext>
            </a:extLst>
          </p:cNvPr>
          <p:cNvSpPr>
            <a:spLocks noGrp="1"/>
          </p:cNvSpPr>
          <p:nvPr>
            <p:ph type="title"/>
          </p:nvPr>
        </p:nvSpPr>
        <p:spPr>
          <a:xfrm>
            <a:off x="609601" y="576274"/>
            <a:ext cx="7106241" cy="1001980"/>
          </a:xfrm>
        </p:spPr>
        <p:txBody>
          <a:bodyPr anchor="t">
            <a:normAutofit/>
          </a:bodyPr>
          <a:lstStyle/>
          <a:p>
            <a:r>
              <a:rPr lang="en-US"/>
              <a:t>Optimizing CNNs for Efficient Resource Use</a:t>
            </a:r>
            <a:endParaRPr lang="en-CA"/>
          </a:p>
        </p:txBody>
      </p:sp>
      <p:sp>
        <p:nvSpPr>
          <p:cNvPr id="3" name="Text Placeholder 2">
            <a:extLst>
              <a:ext uri="{FF2B5EF4-FFF2-40B4-BE49-F238E27FC236}">
                <a16:creationId xmlns:a16="http://schemas.microsoft.com/office/drawing/2014/main" id="{AABFE918-EA4A-F9D2-0310-9BFE59BC604E}"/>
              </a:ext>
            </a:extLst>
          </p:cNvPr>
          <p:cNvSpPr>
            <a:spLocks noGrp="1"/>
          </p:cNvSpPr>
          <p:nvPr>
            <p:ph type="body" sz="quarter" idx="15"/>
          </p:nvPr>
        </p:nvSpPr>
        <p:spPr>
          <a:xfrm>
            <a:off x="609602" y="1803401"/>
            <a:ext cx="6288831" cy="3848100"/>
          </a:xfrm>
        </p:spPr>
        <p:txBody>
          <a:bodyPr>
            <a:normAutofit/>
          </a:bodyPr>
          <a:lstStyle/>
          <a:p>
            <a:r>
              <a:rPr lang="en-US" dirty="0"/>
              <a:t>Efficient resource use in CNNs involves techniques like </a:t>
            </a:r>
            <a:r>
              <a:rPr lang="en-US" dirty="0">
                <a:solidFill>
                  <a:srgbClr val="0070C0"/>
                </a:solidFill>
              </a:rPr>
              <a:t>pruning</a:t>
            </a:r>
            <a:r>
              <a:rPr lang="en-US" dirty="0"/>
              <a:t> (removing redundant neurons), </a:t>
            </a:r>
            <a:r>
              <a:rPr lang="en-US" dirty="0">
                <a:solidFill>
                  <a:srgbClr val="0070C0"/>
                </a:solidFill>
              </a:rPr>
              <a:t>quantization</a:t>
            </a:r>
            <a:r>
              <a:rPr lang="en-US" dirty="0"/>
              <a:t> (reducing the precision of the numbers used), and using efficient architectures like </a:t>
            </a:r>
            <a:r>
              <a:rPr lang="en-US" dirty="0" err="1">
                <a:solidFill>
                  <a:srgbClr val="0070C0"/>
                </a:solidFill>
              </a:rPr>
              <a:t>MobileNets</a:t>
            </a:r>
            <a:r>
              <a:rPr lang="en-US" dirty="0"/>
              <a:t>. These optimizations are crucial for deploying models in resource-constrained environments like mobile devices, ensuring a balance between performance and resource use.</a:t>
            </a:r>
            <a:endParaRPr lang="en-CA" dirty="0"/>
          </a:p>
        </p:txBody>
      </p:sp>
      <p:pic>
        <p:nvPicPr>
          <p:cNvPr id="7170" name="Picture 2" descr="nVidia Jetson AGX Orin Developer Kit : Amazon.ca: Electronics">
            <a:extLst>
              <a:ext uri="{FF2B5EF4-FFF2-40B4-BE49-F238E27FC236}">
                <a16:creationId xmlns:a16="http://schemas.microsoft.com/office/drawing/2014/main" id="{4753EC22-7161-D318-826C-D25A3ADE0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1694" y="2034074"/>
            <a:ext cx="3508147" cy="3374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972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F5D84-B7D1-34E2-AFF0-877373717800}"/>
              </a:ext>
            </a:extLst>
          </p:cNvPr>
          <p:cNvSpPr>
            <a:spLocks noGrp="1"/>
          </p:cNvSpPr>
          <p:nvPr>
            <p:ph type="title"/>
          </p:nvPr>
        </p:nvSpPr>
        <p:spPr>
          <a:xfrm>
            <a:off x="189187" y="472582"/>
            <a:ext cx="10731061" cy="1362076"/>
          </a:xfrm>
        </p:spPr>
        <p:txBody>
          <a:bodyPr anchor="b">
            <a:normAutofit/>
          </a:bodyPr>
          <a:lstStyle/>
          <a:p>
            <a:pPr algn="ctr"/>
            <a:r>
              <a:rPr lang="en-US" dirty="0"/>
              <a:t>Integrating CNNs with Other Deep Learning Techniques</a:t>
            </a:r>
            <a:endParaRPr lang="en-CA" dirty="0"/>
          </a:p>
        </p:txBody>
      </p:sp>
      <p:sp>
        <p:nvSpPr>
          <p:cNvPr id="3" name="Text Placeholder 2">
            <a:extLst>
              <a:ext uri="{FF2B5EF4-FFF2-40B4-BE49-F238E27FC236}">
                <a16:creationId xmlns:a16="http://schemas.microsoft.com/office/drawing/2014/main" id="{47385E97-5B47-945E-6EF2-D3563F0B8D66}"/>
              </a:ext>
            </a:extLst>
          </p:cNvPr>
          <p:cNvSpPr>
            <a:spLocks noGrp="1"/>
          </p:cNvSpPr>
          <p:nvPr>
            <p:ph type="body" idx="1"/>
          </p:nvPr>
        </p:nvSpPr>
        <p:spPr>
          <a:xfrm>
            <a:off x="609601" y="2249214"/>
            <a:ext cx="10583916" cy="3468413"/>
          </a:xfrm>
        </p:spPr>
        <p:txBody>
          <a:bodyPr anchor="t">
            <a:normAutofit/>
          </a:bodyPr>
          <a:lstStyle/>
          <a:p>
            <a:pPr>
              <a:lnSpc>
                <a:spcPct val="90000"/>
              </a:lnSpc>
            </a:pPr>
            <a:r>
              <a:rPr lang="en-CA" sz="2400" dirty="0"/>
              <a:t>Integrating CNNs with other deep learning techniques like Recurrent Neural Networks (</a:t>
            </a:r>
            <a:r>
              <a:rPr lang="en-CA" sz="2400" dirty="0">
                <a:solidFill>
                  <a:srgbClr val="FFC000"/>
                </a:solidFill>
              </a:rPr>
              <a:t>RNNs</a:t>
            </a:r>
            <a:r>
              <a:rPr lang="en-CA" sz="2400" dirty="0"/>
              <a:t>) for video classification or Natural Language Processing (</a:t>
            </a:r>
            <a:r>
              <a:rPr lang="en-CA" sz="2400" dirty="0">
                <a:solidFill>
                  <a:srgbClr val="FFC000"/>
                </a:solidFill>
              </a:rPr>
              <a:t>NLP</a:t>
            </a:r>
            <a:r>
              <a:rPr lang="en-CA" sz="2400" dirty="0"/>
              <a:t>) models for image captioning enhances their application scope. These integrations allow for multimodal learning, where CNNs process visual data while other models handle different data types like sequential data in videos or text in captions, leading to more comprehensive AI solutions.</a:t>
            </a:r>
          </a:p>
        </p:txBody>
      </p:sp>
    </p:spTree>
    <p:extLst>
      <p:ext uri="{BB962C8B-B14F-4D97-AF65-F5344CB8AC3E}">
        <p14:creationId xmlns:p14="http://schemas.microsoft.com/office/powerpoint/2010/main" val="33927572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D70E85-02FA-245B-DCD4-1FAF3B1F285B}"/>
              </a:ext>
            </a:extLst>
          </p:cNvPr>
          <p:cNvSpPr>
            <a:spLocks noGrp="1"/>
          </p:cNvSpPr>
          <p:nvPr>
            <p:ph type="body" sz="quarter" idx="15"/>
          </p:nvPr>
        </p:nvSpPr>
        <p:spPr>
          <a:xfrm>
            <a:off x="483413" y="1803401"/>
            <a:ext cx="6358821" cy="4198006"/>
          </a:xfrm>
        </p:spPr>
        <p:txBody>
          <a:bodyPr>
            <a:normAutofit/>
          </a:bodyPr>
          <a:lstStyle/>
          <a:p>
            <a:r>
              <a:rPr lang="en-US" sz="2200" dirty="0"/>
              <a:t>Common issues in CNN training include </a:t>
            </a:r>
            <a:r>
              <a:rPr lang="en-US" sz="2200" dirty="0">
                <a:solidFill>
                  <a:srgbClr val="0070C0"/>
                </a:solidFill>
              </a:rPr>
              <a:t>overfitting</a:t>
            </a:r>
            <a:r>
              <a:rPr lang="en-US" sz="2200" dirty="0"/>
              <a:t>, </a:t>
            </a:r>
            <a:r>
              <a:rPr lang="en-US" sz="2200" dirty="0">
                <a:solidFill>
                  <a:srgbClr val="0070C0"/>
                </a:solidFill>
              </a:rPr>
              <a:t>underfitting</a:t>
            </a:r>
            <a:r>
              <a:rPr lang="en-US" sz="2200" dirty="0"/>
              <a:t>, and </a:t>
            </a:r>
            <a:r>
              <a:rPr lang="en-US" sz="2200" dirty="0">
                <a:solidFill>
                  <a:srgbClr val="0070C0"/>
                </a:solidFill>
              </a:rPr>
              <a:t>convergence</a:t>
            </a:r>
            <a:r>
              <a:rPr lang="en-US" sz="2200" dirty="0"/>
              <a:t> problems. </a:t>
            </a:r>
          </a:p>
          <a:p>
            <a:r>
              <a:rPr lang="en-US" sz="2200" dirty="0"/>
              <a:t>Strategies to troubleshoot include </a:t>
            </a:r>
            <a:r>
              <a:rPr lang="en-US" sz="2200" dirty="0">
                <a:solidFill>
                  <a:srgbClr val="0070C0"/>
                </a:solidFill>
              </a:rPr>
              <a:t>adjusting learning rates, modifying network architectures, </a:t>
            </a:r>
            <a:r>
              <a:rPr lang="en-US" sz="2200" dirty="0"/>
              <a:t>and using techniques like </a:t>
            </a:r>
            <a:r>
              <a:rPr lang="en-US" sz="2200" dirty="0">
                <a:solidFill>
                  <a:srgbClr val="0070C0"/>
                </a:solidFill>
              </a:rPr>
              <a:t>batch normalization and dropout</a:t>
            </a:r>
            <a:r>
              <a:rPr lang="en-US" sz="2200" dirty="0"/>
              <a:t>. </a:t>
            </a:r>
          </a:p>
          <a:p>
            <a:r>
              <a:rPr lang="en-US" sz="2200" dirty="0"/>
              <a:t>Ensuring high-quality and diversified training data is also crucial, as is regular monitoring of performance metrics during training to identify and address issues early.</a:t>
            </a:r>
            <a:endParaRPr lang="en-CA" sz="2200" dirty="0"/>
          </a:p>
        </p:txBody>
      </p:sp>
      <p:sp>
        <p:nvSpPr>
          <p:cNvPr id="2" name="Title 1">
            <a:extLst>
              <a:ext uri="{FF2B5EF4-FFF2-40B4-BE49-F238E27FC236}">
                <a16:creationId xmlns:a16="http://schemas.microsoft.com/office/drawing/2014/main" id="{F2B8AB8A-C232-EEA5-A2E0-99F5414D5B93}"/>
              </a:ext>
            </a:extLst>
          </p:cNvPr>
          <p:cNvSpPr>
            <a:spLocks noGrp="1"/>
          </p:cNvSpPr>
          <p:nvPr>
            <p:ph type="title"/>
          </p:nvPr>
        </p:nvSpPr>
        <p:spPr>
          <a:xfrm>
            <a:off x="483411" y="576274"/>
            <a:ext cx="5612588" cy="1001980"/>
          </a:xfrm>
        </p:spPr>
        <p:txBody>
          <a:bodyPr anchor="t">
            <a:normAutofit/>
          </a:bodyPr>
          <a:lstStyle/>
          <a:p>
            <a:r>
              <a:rPr lang="en-US" sz="3300" dirty="0"/>
              <a:t>Troubleshooting Common Issues in CNN Training</a:t>
            </a:r>
            <a:endParaRPr lang="en-CA" sz="3300" dirty="0"/>
          </a:p>
        </p:txBody>
      </p:sp>
      <p:pic>
        <p:nvPicPr>
          <p:cNvPr id="8194" name="Picture 2" descr="Troubleshooting Vs. Debugging: The Difference and Best Practices - RevDeBug">
            <a:extLst>
              <a:ext uri="{FF2B5EF4-FFF2-40B4-BE49-F238E27FC236}">
                <a16:creationId xmlns:a16="http://schemas.microsoft.com/office/drawing/2014/main" id="{752557BE-E1F0-66F1-BDF9-F2D9929635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9534" y="2086423"/>
            <a:ext cx="4244097" cy="2685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8957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B7CDF92-1058-A7FC-0C2C-D121D5776B21}"/>
              </a:ext>
            </a:extLst>
          </p:cNvPr>
          <p:cNvSpPr>
            <a:spLocks noGrp="1"/>
          </p:cNvSpPr>
          <p:nvPr>
            <p:ph type="body" sz="quarter" idx="15"/>
          </p:nvPr>
        </p:nvSpPr>
        <p:spPr>
          <a:xfrm>
            <a:off x="609603" y="1803401"/>
            <a:ext cx="9846903" cy="3848100"/>
          </a:xfrm>
        </p:spPr>
        <p:txBody>
          <a:bodyPr>
            <a:normAutofit/>
          </a:bodyPr>
          <a:lstStyle/>
          <a:p>
            <a:r>
              <a:rPr lang="en-US" sz="2200" dirty="0"/>
              <a:t>Underfitting, where a model fails to capture the underlying trend of the data, can be addressed by increasing the model complexity (adding more layers/neurons), training for longer durations, or using more powerful and diverse feature extraction methods. Another approach is to revisit data preprocessing and augmentation techniques to ensure the model receives sufficient and varied information during training.</a:t>
            </a:r>
            <a:endParaRPr lang="en-CA" sz="2200" dirty="0"/>
          </a:p>
        </p:txBody>
      </p:sp>
      <p:sp>
        <p:nvSpPr>
          <p:cNvPr id="2" name="Title 1">
            <a:extLst>
              <a:ext uri="{FF2B5EF4-FFF2-40B4-BE49-F238E27FC236}">
                <a16:creationId xmlns:a16="http://schemas.microsoft.com/office/drawing/2014/main" id="{F3B52B11-522F-FBC9-03B1-FC6B7AF5D16D}"/>
              </a:ext>
            </a:extLst>
          </p:cNvPr>
          <p:cNvSpPr>
            <a:spLocks noGrp="1"/>
          </p:cNvSpPr>
          <p:nvPr>
            <p:ph type="title"/>
          </p:nvPr>
        </p:nvSpPr>
        <p:spPr>
          <a:xfrm>
            <a:off x="609601" y="576274"/>
            <a:ext cx="5612588" cy="1001980"/>
          </a:xfrm>
        </p:spPr>
        <p:txBody>
          <a:bodyPr anchor="t">
            <a:normAutofit/>
          </a:bodyPr>
          <a:lstStyle/>
          <a:p>
            <a:r>
              <a:rPr lang="en-CA"/>
              <a:t>Techniques to Address Underfitting</a:t>
            </a:r>
          </a:p>
        </p:txBody>
      </p:sp>
    </p:spTree>
    <p:extLst>
      <p:ext uri="{BB962C8B-B14F-4D97-AF65-F5344CB8AC3E}">
        <p14:creationId xmlns:p14="http://schemas.microsoft.com/office/powerpoint/2010/main" val="12602659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20EE2-0ECA-92B9-E637-4E2FE84CEB58}"/>
            </a:ext>
          </a:extLst>
        </p:cNvPr>
        <p:cNvGrpSpPr/>
        <p:nvPr/>
      </p:nvGrpSpPr>
      <p:grpSpPr>
        <a:xfrm>
          <a:off x="0" y="0"/>
          <a:ext cx="0" cy="0"/>
          <a:chOff x="0" y="0"/>
          <a:chExt cx="0" cy="0"/>
        </a:xfrm>
      </p:grpSpPr>
      <p:sp>
        <p:nvSpPr>
          <p:cNvPr id="8" name="Text 0">
            <a:extLst>
              <a:ext uri="{FF2B5EF4-FFF2-40B4-BE49-F238E27FC236}">
                <a16:creationId xmlns:a16="http://schemas.microsoft.com/office/drawing/2014/main" id="{7D64BF74-1064-F421-89FA-7C455830013A}"/>
              </a:ext>
            </a:extLst>
          </p:cNvPr>
          <p:cNvSpPr/>
          <p:nvPr/>
        </p:nvSpPr>
        <p:spPr>
          <a:xfrm>
            <a:off x="349194" y="540984"/>
            <a:ext cx="7816156" cy="590649"/>
          </a:xfrm>
          <a:prstGeom prst="rect">
            <a:avLst/>
          </a:prstGeom>
          <a:noFill/>
          <a:ln/>
        </p:spPr>
        <p:txBody>
          <a:bodyPr wrap="none" lIns="0" tIns="0" rIns="0" bIns="0" rtlCol="0" anchor="t"/>
          <a:lstStyle/>
          <a:p>
            <a:pPr algn="ctr">
              <a:lnSpc>
                <a:spcPts val="4625"/>
              </a:lnSpc>
            </a:pPr>
            <a:r>
              <a:rPr lang="en-US" sz="3708" b="1" kern="0" spc="-112">
                <a:solidFill>
                  <a:srgbClr val="000000"/>
                </a:solidFill>
                <a:latin typeface="Inter Bold" pitchFamily="34" charset="0"/>
                <a:ea typeface="Inter Bold" pitchFamily="34" charset="-122"/>
              </a:rPr>
              <a:t>CST8508_26W </a:t>
            </a:r>
            <a:r>
              <a:rPr lang="en-US" sz="3708" b="1" kern="0" spc="-112" dirty="0">
                <a:solidFill>
                  <a:srgbClr val="000000"/>
                </a:solidFill>
                <a:latin typeface="Inter Bold" pitchFamily="34" charset="0"/>
                <a:ea typeface="Inter Bold" pitchFamily="34" charset="-122"/>
              </a:rPr>
              <a:t>-  Midterm Test</a:t>
            </a:r>
            <a:endParaRPr lang="en-US" sz="3708" dirty="0"/>
          </a:p>
        </p:txBody>
      </p:sp>
      <p:sp>
        <p:nvSpPr>
          <p:cNvPr id="9" name="TextBox 8">
            <a:extLst>
              <a:ext uri="{FF2B5EF4-FFF2-40B4-BE49-F238E27FC236}">
                <a16:creationId xmlns:a16="http://schemas.microsoft.com/office/drawing/2014/main" id="{803BF32C-BFA4-C736-854F-1D4A3DF7D2CF}"/>
              </a:ext>
            </a:extLst>
          </p:cNvPr>
          <p:cNvSpPr txBox="1"/>
          <p:nvPr/>
        </p:nvSpPr>
        <p:spPr>
          <a:xfrm>
            <a:off x="704293" y="1215713"/>
            <a:ext cx="10468203" cy="7106048"/>
          </a:xfrm>
          <a:prstGeom prst="rect">
            <a:avLst/>
          </a:prstGeom>
          <a:noFill/>
        </p:spPr>
        <p:txBody>
          <a:bodyPr wrap="square">
            <a:spAutoFit/>
          </a:bodyPr>
          <a:lstStyle/>
          <a:p>
            <a:pPr marL="285739" indent="-285739">
              <a:lnSpc>
                <a:spcPct val="150000"/>
              </a:lnSpc>
              <a:buFont typeface="Arial" panose="020B0604020202020204" pitchFamily="34" charset="0"/>
              <a:buChar char="•"/>
            </a:pPr>
            <a:r>
              <a:rPr lang="en-US" sz="1667" b="1" kern="0" spc="-56" dirty="0">
                <a:latin typeface="+mj-lt"/>
                <a:ea typeface="Inter Bold" pitchFamily="34" charset="-122"/>
              </a:rPr>
              <a:t>Paper based exam on Feb 19 – 7.00pm – 8.00 pm</a:t>
            </a:r>
          </a:p>
          <a:p>
            <a:pPr marL="285739" indent="-285739">
              <a:lnSpc>
                <a:spcPct val="150000"/>
              </a:lnSpc>
              <a:buFont typeface="Arial" panose="020B0604020202020204" pitchFamily="34" charset="0"/>
              <a:buChar char="•"/>
            </a:pPr>
            <a:r>
              <a:rPr lang="en-US" sz="1667" b="1" kern="0" spc="-56" dirty="0">
                <a:latin typeface="+mj-lt"/>
                <a:ea typeface="Inter Bold" pitchFamily="34" charset="-122"/>
              </a:rPr>
              <a:t>Total Marks : 25</a:t>
            </a:r>
          </a:p>
          <a:p>
            <a:pPr marL="285739" indent="-285739">
              <a:lnSpc>
                <a:spcPct val="150000"/>
              </a:lnSpc>
              <a:buFont typeface="Arial" panose="020B0604020202020204" pitchFamily="34" charset="0"/>
              <a:buChar char="•"/>
            </a:pPr>
            <a:r>
              <a:rPr lang="en-US" sz="1667" b="1" kern="0" spc="-56" dirty="0">
                <a:latin typeface="+mj-lt"/>
                <a:ea typeface="Inter Bold" pitchFamily="34" charset="-122"/>
              </a:rPr>
              <a:t>Duration: 60 min</a:t>
            </a:r>
          </a:p>
          <a:p>
            <a:pPr marL="285739" indent="-285739">
              <a:lnSpc>
                <a:spcPct val="150000"/>
              </a:lnSpc>
              <a:buFont typeface="Arial" panose="020B0604020202020204" pitchFamily="34" charset="0"/>
              <a:buChar char="•"/>
            </a:pPr>
            <a:r>
              <a:rPr lang="en-US" sz="1667" b="1" kern="0" spc="-56" dirty="0">
                <a:latin typeface="+mj-lt"/>
                <a:ea typeface="Inter Bold" pitchFamily="34" charset="-122"/>
              </a:rPr>
              <a:t>Calculators allowed</a:t>
            </a:r>
          </a:p>
          <a:p>
            <a:pPr marL="285739" indent="-285739">
              <a:lnSpc>
                <a:spcPct val="150000"/>
              </a:lnSpc>
              <a:buFont typeface="Arial" panose="020B0604020202020204" pitchFamily="34" charset="0"/>
              <a:buChar char="•"/>
            </a:pPr>
            <a:r>
              <a:rPr lang="en-US" sz="1667" b="1" kern="0" spc="-56" dirty="0">
                <a:latin typeface="+mj-lt"/>
                <a:ea typeface="Inter Bold" pitchFamily="34" charset="-122"/>
              </a:rPr>
              <a:t>No other personal electronic devices allowed in the classroom during test</a:t>
            </a:r>
          </a:p>
          <a:p>
            <a:pPr marL="285739" indent="-285739">
              <a:lnSpc>
                <a:spcPct val="150000"/>
              </a:lnSpc>
              <a:buFont typeface="Arial" panose="020B0604020202020204" pitchFamily="34" charset="0"/>
              <a:buChar char="•"/>
            </a:pPr>
            <a:r>
              <a:rPr lang="en-US" sz="1667" b="1" kern="0" spc="-56" dirty="0">
                <a:latin typeface="+mj-lt"/>
                <a:ea typeface="Inter Bold" pitchFamily="34" charset="-122"/>
              </a:rPr>
              <a:t>Contributes to 15% of final grade</a:t>
            </a:r>
          </a:p>
          <a:p>
            <a:pPr marL="285739" indent="-285739">
              <a:lnSpc>
                <a:spcPct val="150000"/>
              </a:lnSpc>
              <a:buFont typeface="Arial" panose="020B0604020202020204" pitchFamily="34" charset="0"/>
              <a:buChar char="•"/>
            </a:pPr>
            <a:r>
              <a:rPr lang="en-US" sz="1667" b="1" kern="0" spc="-56" dirty="0">
                <a:latin typeface="+mj-lt"/>
                <a:ea typeface="Inter Bold" pitchFamily="34" charset="-122"/>
              </a:rPr>
              <a:t>Test Format </a:t>
            </a:r>
          </a:p>
          <a:p>
            <a:pPr marL="1067322" lvl="1" indent="-285739">
              <a:lnSpc>
                <a:spcPct val="150000"/>
              </a:lnSpc>
              <a:buFont typeface="Arial" panose="020B0604020202020204" pitchFamily="34" charset="0"/>
              <a:buChar char="•"/>
            </a:pPr>
            <a:r>
              <a:rPr lang="en-US" sz="1600" b="1" kern="0" spc="-56" dirty="0">
                <a:latin typeface="+mj-lt"/>
                <a:ea typeface="Inter Bold" pitchFamily="34" charset="-122"/>
              </a:rPr>
              <a:t>Multiple Choice Questions</a:t>
            </a:r>
          </a:p>
          <a:p>
            <a:pPr marL="1067322" lvl="1" indent="-285739">
              <a:lnSpc>
                <a:spcPct val="150000"/>
              </a:lnSpc>
              <a:buFont typeface="Arial" panose="020B0604020202020204" pitchFamily="34" charset="0"/>
              <a:buChar char="•"/>
            </a:pPr>
            <a:r>
              <a:rPr lang="en-US" sz="1600" b="1" kern="0" spc="-56" dirty="0">
                <a:latin typeface="+mj-lt"/>
                <a:ea typeface="Inter Bold" pitchFamily="34" charset="-122"/>
              </a:rPr>
              <a:t>Fill in the blanks Questions</a:t>
            </a:r>
          </a:p>
          <a:p>
            <a:pPr marL="1067322" lvl="1" indent="-285739">
              <a:lnSpc>
                <a:spcPct val="150000"/>
              </a:lnSpc>
              <a:buFont typeface="Arial" panose="020B0604020202020204" pitchFamily="34" charset="0"/>
              <a:buChar char="•"/>
            </a:pPr>
            <a:r>
              <a:rPr lang="en-US" sz="1600" b="1" kern="0" spc="-56" dirty="0">
                <a:latin typeface="+mj-lt"/>
                <a:ea typeface="Inter Bold" pitchFamily="34" charset="-122"/>
              </a:rPr>
              <a:t>Short answer Questions</a:t>
            </a:r>
          </a:p>
          <a:p>
            <a:pPr marL="1067322" lvl="1" indent="-285739">
              <a:lnSpc>
                <a:spcPct val="150000"/>
              </a:lnSpc>
              <a:buFont typeface="Arial" panose="020B0604020202020204" pitchFamily="34" charset="0"/>
              <a:buChar char="•"/>
            </a:pPr>
            <a:r>
              <a:rPr lang="en-US" sz="1600" b="1" kern="0" spc="-56" dirty="0">
                <a:latin typeface="+mj-lt"/>
                <a:ea typeface="Inter Bold" pitchFamily="34" charset="-122"/>
              </a:rPr>
              <a:t>Mathematical Questions</a:t>
            </a:r>
            <a:endParaRPr lang="en-CZ" sz="1600" b="1" dirty="0">
              <a:latin typeface="+mj-lt"/>
            </a:endParaRPr>
          </a:p>
          <a:p>
            <a:pPr marL="285739" indent="-285739">
              <a:buFont typeface="Arial" panose="020B0604020202020204" pitchFamily="34" charset="0"/>
              <a:buChar char="•"/>
            </a:pPr>
            <a:endParaRPr lang="en-CZ" sz="1800" dirty="0"/>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endParaRPr lang="en-US" sz="1667" b="1" kern="0" spc="-56" dirty="0">
              <a:solidFill>
                <a:srgbClr val="000000"/>
              </a:solidFill>
              <a:latin typeface="Inter Bold" pitchFamily="34" charset="0"/>
              <a:ea typeface="Inter Bold" pitchFamily="34" charset="-122"/>
            </a:endParaRPr>
          </a:p>
          <a:p>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pPr marL="285739" indent="-285739">
              <a:buFont typeface="Arial" panose="020B0604020202020204" pitchFamily="34" charset="0"/>
              <a:buChar char="•"/>
            </a:pPr>
            <a:endParaRPr lang="en-US" sz="1667" b="1" kern="0" spc="-56" dirty="0">
              <a:solidFill>
                <a:srgbClr val="000000"/>
              </a:solidFill>
              <a:latin typeface="Inter Bold" pitchFamily="34" charset="0"/>
              <a:ea typeface="Inter Bold" pitchFamily="34" charset="-122"/>
            </a:endParaRPr>
          </a:p>
          <a:p>
            <a:endParaRPr lang="en-US" sz="1667" b="1" kern="0" spc="-56" dirty="0">
              <a:solidFill>
                <a:srgbClr val="000000"/>
              </a:solidFill>
              <a:latin typeface="Inter Bold" pitchFamily="34" charset="0"/>
              <a:ea typeface="Inter Bold" pitchFamily="34" charset="-122"/>
            </a:endParaRPr>
          </a:p>
          <a:p>
            <a:endParaRPr lang="en-US" sz="1667" dirty="0"/>
          </a:p>
        </p:txBody>
      </p:sp>
    </p:spTree>
    <p:extLst>
      <p:ext uri="{BB962C8B-B14F-4D97-AF65-F5344CB8AC3E}">
        <p14:creationId xmlns:p14="http://schemas.microsoft.com/office/powerpoint/2010/main" val="2207322983"/>
      </p:ext>
    </p:extLst>
  </p:cSld>
  <p:clrMapOvr>
    <a:masterClrMapping/>
  </p:clrMapOvr>
</p:sld>
</file>

<file path=ppt/theme/theme1.xml><?xml version="1.0" encoding="utf-8"?>
<a:theme xmlns:a="http://schemas.openxmlformats.org/drawingml/2006/main" name="Office Theme">
  <a:themeElements>
    <a:clrScheme name="Algonquin College Colours">
      <a:dk1>
        <a:srgbClr val="423F3F"/>
      </a:dk1>
      <a:lt1>
        <a:sysClr val="window" lastClr="FFFFFF"/>
      </a:lt1>
      <a:dk2>
        <a:srgbClr val="00673E"/>
      </a:dk2>
      <a:lt2>
        <a:srgbClr val="FFFFFF"/>
      </a:lt2>
      <a:accent1>
        <a:srgbClr val="00673E"/>
      </a:accent1>
      <a:accent2>
        <a:srgbClr val="599A83"/>
      </a:accent2>
      <a:accent3>
        <a:srgbClr val="A6C8BC"/>
      </a:accent3>
      <a:accent4>
        <a:srgbClr val="408A70"/>
      </a:accent4>
      <a:accent5>
        <a:srgbClr val="423F3F"/>
      </a:accent5>
      <a:accent6>
        <a:srgbClr val="B4B2B5"/>
      </a:accent6>
      <a:hlink>
        <a:srgbClr val="43B02A"/>
      </a:hlink>
      <a:folHlink>
        <a:srgbClr val="7AC14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lesson-template-nov2017</Template>
  <TotalTime>9924</TotalTime>
  <Words>1717</Words>
  <Application>Microsoft Macintosh PowerPoint</Application>
  <PresentationFormat>Widescreen</PresentationFormat>
  <Paragraphs>236</Paragraphs>
  <Slides>32</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Andale Mono</vt:lpstr>
      <vt:lpstr>Aptos</vt:lpstr>
      <vt:lpstr>Arial</vt:lpstr>
      <vt:lpstr>Cambria Math</vt:lpstr>
      <vt:lpstr>Inter Bold</vt:lpstr>
      <vt:lpstr>Wingdings</vt:lpstr>
      <vt:lpstr>Office Theme</vt:lpstr>
      <vt:lpstr>Deep Learning for Image Classification </vt:lpstr>
      <vt:lpstr>PowerPoint Presentation</vt:lpstr>
      <vt:lpstr>INTRODUCTION</vt:lpstr>
      <vt:lpstr>Fundamentals of Image Classification with CNNs</vt:lpstr>
      <vt:lpstr>Dataset Preparation: Collection and Annotation</vt:lpstr>
      <vt:lpstr>Data Preprocessing Techniques for Image Data</vt:lpstr>
      <vt:lpstr>Discussion – Why do we split our data into train, validation, and testing sets?</vt:lpstr>
      <vt:lpstr>Data Augmentation Strategies in Image Classification</vt:lpstr>
      <vt:lpstr>Designing a CNN Architecture: Key Considerations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Optimizers: Types and Their Impact on Training</vt:lpstr>
      <vt:lpstr>Training a CNN: Steps and Best Practices</vt:lpstr>
      <vt:lpstr>Understanding Overfitting in Deep Learning</vt:lpstr>
      <vt:lpstr>Strategies to Prevent Overfitting</vt:lpstr>
      <vt:lpstr>Hardware Resources for Deep Learning: CPUs vs GPUs vs TPUs</vt:lpstr>
      <vt:lpstr>Optimizing CNNs for Efficient Resource Use</vt:lpstr>
      <vt:lpstr>Integrating CNNs with Other Deep Learning Techniques</vt:lpstr>
      <vt:lpstr>Troubleshooting Common Issues in CNN Training</vt:lpstr>
      <vt:lpstr>Techniques to Address Underfitting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Convolutional Neural Networks (CNNs)</dc:title>
  <dc:creator>Wassim El Ahmar</dc:creator>
  <cp:lastModifiedBy>Stephin Rachel Thomas</cp:lastModifiedBy>
  <cp:revision>187</cp:revision>
  <dcterms:created xsi:type="dcterms:W3CDTF">2024-01-01T00:03:22Z</dcterms:created>
  <dcterms:modified xsi:type="dcterms:W3CDTF">2026-02-12T03:29:19Z</dcterms:modified>
</cp:coreProperties>
</file>
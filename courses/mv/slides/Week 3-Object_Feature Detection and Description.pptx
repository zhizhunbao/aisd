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0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6" r:id="rId11"/>
    <p:sldId id="257" r:id="rId12"/>
    <p:sldId id="258" r:id="rId13"/>
    <p:sldId id="259" r:id="rId14"/>
    <p:sldId id="282" r:id="rId15"/>
    <p:sldId id="261" r:id="rId16"/>
    <p:sldId id="287" r:id="rId17"/>
    <p:sldId id="288" r:id="rId18"/>
    <p:sldId id="262" r:id="rId19"/>
    <p:sldId id="285" r:id="rId20"/>
    <p:sldId id="289" r:id="rId21"/>
    <p:sldId id="264" r:id="rId22"/>
    <p:sldId id="268" r:id="rId23"/>
    <p:sldId id="290" r:id="rId24"/>
    <p:sldId id="263" r:id="rId25"/>
    <p:sldId id="265" r:id="rId26"/>
    <p:sldId id="266" r:id="rId27"/>
    <p:sldId id="269" r:id="rId28"/>
    <p:sldId id="283" r:id="rId29"/>
  </p:sldIdLst>
  <p:sldSz cx="12192000" cy="6858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92"/>
    <p:restoredTop sz="94626"/>
  </p:normalViewPr>
  <p:slideViewPr>
    <p:cSldViewPr snapToGrid="0">
      <p:cViewPr varScale="1">
        <p:scale>
          <a:sx n="119" d="100"/>
          <a:sy n="119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7A1BC0-567F-49B2-8F49-43E7CC090F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145E63-3250-4D8C-B851-F94F97161E4E}">
      <dgm:prSet/>
      <dgm:spPr/>
      <dgm:t>
        <a:bodyPr/>
        <a:lstStyle/>
        <a:p>
          <a:r>
            <a:rPr lang="en-US" b="1" dirty="0"/>
            <a:t>Feature Matching: </a:t>
          </a:r>
          <a:r>
            <a:rPr lang="en-US" dirty="0"/>
            <a:t>involves identifying similar features (like edges, corners, textures) in different images. This is key for tasks where the correspondence between features in multiple images is crucial.</a:t>
          </a:r>
        </a:p>
        <a:p>
          <a:endParaRPr lang="en-US" dirty="0"/>
        </a:p>
        <a:p>
          <a:r>
            <a:rPr lang="en-US" dirty="0"/>
            <a:t>Compute distance between descriptors </a:t>
          </a:r>
          <a:r>
            <a:rPr lang="en-US" dirty="0" err="1"/>
            <a:t>eg</a:t>
          </a:r>
          <a:r>
            <a:rPr lang="en-US" dirty="0"/>
            <a:t>: Euclidian distance , Hamming distance</a:t>
          </a:r>
        </a:p>
        <a:p>
          <a:r>
            <a:rPr lang="en-US" dirty="0"/>
            <a:t>Find minimum distance – Brute force, Brute force KNN, FLANN –Fast Library for Approximate Nearest Neighbors  </a:t>
          </a:r>
        </a:p>
      </dgm:t>
    </dgm:pt>
    <dgm:pt modelId="{E61A690B-5758-4D45-BF3E-AD4A64D346C9}" type="parTrans" cxnId="{597B916C-78B9-4416-9F31-AB1A2AA5C60B}">
      <dgm:prSet/>
      <dgm:spPr/>
      <dgm:t>
        <a:bodyPr/>
        <a:lstStyle/>
        <a:p>
          <a:endParaRPr lang="en-US"/>
        </a:p>
      </dgm:t>
    </dgm:pt>
    <dgm:pt modelId="{303FD73D-2D28-41D9-93F3-CD539D646632}" type="sibTrans" cxnId="{597B916C-78B9-4416-9F31-AB1A2AA5C60B}">
      <dgm:prSet/>
      <dgm:spPr/>
      <dgm:t>
        <a:bodyPr/>
        <a:lstStyle/>
        <a:p>
          <a:endParaRPr lang="en-US"/>
        </a:p>
      </dgm:t>
    </dgm:pt>
    <dgm:pt modelId="{611CD4F6-3984-405A-9F09-6663AC963DAB}">
      <dgm:prSet/>
      <dgm:spPr/>
      <dgm:t>
        <a:bodyPr/>
        <a:lstStyle/>
        <a:p>
          <a:r>
            <a:rPr lang="en-US" b="1"/>
            <a:t>Brute-Force Matcher: </a:t>
          </a:r>
          <a:r>
            <a:rPr lang="en-US"/>
            <a:t>Compares each feature in one set with every feature in another set, looking for the best match based on a distance metric (like Euclidean distance)</a:t>
          </a:r>
        </a:p>
      </dgm:t>
    </dgm:pt>
    <dgm:pt modelId="{3E9B3A65-D662-4FAF-B36A-63D870B018D0}" type="parTrans" cxnId="{B4CF3015-4BD9-4BDC-893A-1AED8DC8D15D}">
      <dgm:prSet/>
      <dgm:spPr/>
      <dgm:t>
        <a:bodyPr/>
        <a:lstStyle/>
        <a:p>
          <a:endParaRPr lang="en-US"/>
        </a:p>
      </dgm:t>
    </dgm:pt>
    <dgm:pt modelId="{51ABA96C-CE48-4AD7-BE0E-258EC6696FA4}" type="sibTrans" cxnId="{B4CF3015-4BD9-4BDC-893A-1AED8DC8D15D}">
      <dgm:prSet/>
      <dgm:spPr/>
      <dgm:t>
        <a:bodyPr/>
        <a:lstStyle/>
        <a:p>
          <a:endParaRPr lang="en-US"/>
        </a:p>
      </dgm:t>
    </dgm:pt>
    <dgm:pt modelId="{F4BACD6B-ACF9-4954-8B5A-EB943775812A}">
      <dgm:prSet/>
      <dgm:spPr/>
      <dgm:t>
        <a:bodyPr/>
        <a:lstStyle/>
        <a:p>
          <a:r>
            <a:rPr lang="en-US" b="1" dirty="0"/>
            <a:t>Applications: </a:t>
          </a:r>
          <a:r>
            <a:rPr lang="en-US" dirty="0"/>
            <a:t>panoramic image stitching, motion tracking. object recognition, and 3D model building.</a:t>
          </a:r>
        </a:p>
      </dgm:t>
    </dgm:pt>
    <dgm:pt modelId="{99BAF2B9-8A67-4E29-B849-9EB7C30ABC47}" type="parTrans" cxnId="{FA79F588-14BF-49F7-8046-396BA37578AE}">
      <dgm:prSet/>
      <dgm:spPr/>
      <dgm:t>
        <a:bodyPr/>
        <a:lstStyle/>
        <a:p>
          <a:endParaRPr lang="en-US"/>
        </a:p>
      </dgm:t>
    </dgm:pt>
    <dgm:pt modelId="{9DBF471F-182C-41E8-9D4A-8CE2C27B977B}" type="sibTrans" cxnId="{FA79F588-14BF-49F7-8046-396BA37578AE}">
      <dgm:prSet/>
      <dgm:spPr/>
      <dgm:t>
        <a:bodyPr/>
        <a:lstStyle/>
        <a:p>
          <a:endParaRPr lang="en-US"/>
        </a:p>
      </dgm:t>
    </dgm:pt>
    <dgm:pt modelId="{2CEF987F-E5BB-455B-87A7-58C8FEEA23D3}" type="pres">
      <dgm:prSet presAssocID="{397A1BC0-567F-49B2-8F49-43E7CC090F01}" presName="linear" presStyleCnt="0">
        <dgm:presLayoutVars>
          <dgm:animLvl val="lvl"/>
          <dgm:resizeHandles val="exact"/>
        </dgm:presLayoutVars>
      </dgm:prSet>
      <dgm:spPr/>
    </dgm:pt>
    <dgm:pt modelId="{DDF93FF8-8827-4550-A0A7-9FDB09137D3A}" type="pres">
      <dgm:prSet presAssocID="{DC145E63-3250-4D8C-B851-F94F97161E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D4F079-4219-430C-A96F-8564FDDDCCDC}" type="pres">
      <dgm:prSet presAssocID="{303FD73D-2D28-41D9-93F3-CD539D646632}" presName="spacer" presStyleCnt="0"/>
      <dgm:spPr/>
    </dgm:pt>
    <dgm:pt modelId="{FB88497F-4C99-4D5E-8ED8-E73E524FAC64}" type="pres">
      <dgm:prSet presAssocID="{611CD4F6-3984-405A-9F09-6663AC963D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8F526B-77F9-4F3E-8462-BEAF3BBC4380}" type="pres">
      <dgm:prSet presAssocID="{51ABA96C-CE48-4AD7-BE0E-258EC6696FA4}" presName="spacer" presStyleCnt="0"/>
      <dgm:spPr/>
    </dgm:pt>
    <dgm:pt modelId="{B3710D27-6F21-4AD4-83EA-3E976DE78FAA}" type="pres">
      <dgm:prSet presAssocID="{F4BACD6B-ACF9-4954-8B5A-EB94377581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4CF3015-4BD9-4BDC-893A-1AED8DC8D15D}" srcId="{397A1BC0-567F-49B2-8F49-43E7CC090F01}" destId="{611CD4F6-3984-405A-9F09-6663AC963DAB}" srcOrd="1" destOrd="0" parTransId="{3E9B3A65-D662-4FAF-B36A-63D870B018D0}" sibTransId="{51ABA96C-CE48-4AD7-BE0E-258EC6696FA4}"/>
    <dgm:cxn modelId="{037D8C35-722B-4E36-8FCE-5A25CF66A5D8}" type="presOf" srcId="{611CD4F6-3984-405A-9F09-6663AC963DAB}" destId="{FB88497F-4C99-4D5E-8ED8-E73E524FAC64}" srcOrd="0" destOrd="0" presId="urn:microsoft.com/office/officeart/2005/8/layout/vList2"/>
    <dgm:cxn modelId="{597B916C-78B9-4416-9F31-AB1A2AA5C60B}" srcId="{397A1BC0-567F-49B2-8F49-43E7CC090F01}" destId="{DC145E63-3250-4D8C-B851-F94F97161E4E}" srcOrd="0" destOrd="0" parTransId="{E61A690B-5758-4D45-BF3E-AD4A64D346C9}" sibTransId="{303FD73D-2D28-41D9-93F3-CD539D646632}"/>
    <dgm:cxn modelId="{FA79F588-14BF-49F7-8046-396BA37578AE}" srcId="{397A1BC0-567F-49B2-8F49-43E7CC090F01}" destId="{F4BACD6B-ACF9-4954-8B5A-EB943775812A}" srcOrd="2" destOrd="0" parTransId="{99BAF2B9-8A67-4E29-B849-9EB7C30ABC47}" sibTransId="{9DBF471F-182C-41E8-9D4A-8CE2C27B977B}"/>
    <dgm:cxn modelId="{517D7299-04D6-4E8F-A3B9-C6B5FF35CF18}" type="presOf" srcId="{DC145E63-3250-4D8C-B851-F94F97161E4E}" destId="{DDF93FF8-8827-4550-A0A7-9FDB09137D3A}" srcOrd="0" destOrd="0" presId="urn:microsoft.com/office/officeart/2005/8/layout/vList2"/>
    <dgm:cxn modelId="{5C0008DF-D0A9-475A-9F78-9C63EDA8807D}" type="presOf" srcId="{F4BACD6B-ACF9-4954-8B5A-EB943775812A}" destId="{B3710D27-6F21-4AD4-83EA-3E976DE78FAA}" srcOrd="0" destOrd="0" presId="urn:microsoft.com/office/officeart/2005/8/layout/vList2"/>
    <dgm:cxn modelId="{380D0EEA-4577-495C-93FA-6B0474426FD9}" type="presOf" srcId="{397A1BC0-567F-49B2-8F49-43E7CC090F01}" destId="{2CEF987F-E5BB-455B-87A7-58C8FEEA23D3}" srcOrd="0" destOrd="0" presId="urn:microsoft.com/office/officeart/2005/8/layout/vList2"/>
    <dgm:cxn modelId="{095A0000-B4ED-4C05-8E27-02A5B36C12EE}" type="presParOf" srcId="{2CEF987F-E5BB-455B-87A7-58C8FEEA23D3}" destId="{DDF93FF8-8827-4550-A0A7-9FDB09137D3A}" srcOrd="0" destOrd="0" presId="urn:microsoft.com/office/officeart/2005/8/layout/vList2"/>
    <dgm:cxn modelId="{57205DE8-764C-40D0-ACD0-BD6DDEED74A8}" type="presParOf" srcId="{2CEF987F-E5BB-455B-87A7-58C8FEEA23D3}" destId="{4FD4F079-4219-430C-A96F-8564FDDDCCDC}" srcOrd="1" destOrd="0" presId="urn:microsoft.com/office/officeart/2005/8/layout/vList2"/>
    <dgm:cxn modelId="{B1EB413C-9BCB-416D-8491-8383DEE96ED5}" type="presParOf" srcId="{2CEF987F-E5BB-455B-87A7-58C8FEEA23D3}" destId="{FB88497F-4C99-4D5E-8ED8-E73E524FAC64}" srcOrd="2" destOrd="0" presId="urn:microsoft.com/office/officeart/2005/8/layout/vList2"/>
    <dgm:cxn modelId="{668B0D85-EFD3-4CDD-898D-FD81E55D824E}" type="presParOf" srcId="{2CEF987F-E5BB-455B-87A7-58C8FEEA23D3}" destId="{498F526B-77F9-4F3E-8462-BEAF3BBC4380}" srcOrd="3" destOrd="0" presId="urn:microsoft.com/office/officeart/2005/8/layout/vList2"/>
    <dgm:cxn modelId="{C4E1CFF0-9DB3-4AA9-B962-9D7D4FD97928}" type="presParOf" srcId="{2CEF987F-E5BB-455B-87A7-58C8FEEA23D3}" destId="{B3710D27-6F21-4AD4-83EA-3E976DE78F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93FF8-8827-4550-A0A7-9FDB09137D3A}">
      <dsp:nvSpPr>
        <dsp:cNvPr id="0" name=""/>
        <dsp:cNvSpPr/>
      </dsp:nvSpPr>
      <dsp:spPr>
        <a:xfrm>
          <a:off x="0" y="84764"/>
          <a:ext cx="10658535" cy="1375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Feature Matching: </a:t>
          </a:r>
          <a:r>
            <a:rPr lang="en-US" sz="1400" kern="1200" dirty="0"/>
            <a:t>involves identifying similar features (like edges, corners, textures) in different images. This is key for tasks where the correspondence between features in multiple images is crucial.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Compute distance between descriptors </a:t>
          </a:r>
          <a:r>
            <a:rPr lang="en-US" sz="1400" kern="1200" dirty="0" err="1"/>
            <a:t>eg</a:t>
          </a:r>
          <a:r>
            <a:rPr lang="en-US" sz="1400" kern="1200" dirty="0"/>
            <a:t>: Euclidian distance , Hamming distance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Find minimum distance – Brute force, Brute force KNN, FLANN –Fast Library for Approximate Nearest Neighbors  </a:t>
          </a:r>
        </a:p>
      </dsp:txBody>
      <dsp:txXfrm>
        <a:off x="67167" y="151931"/>
        <a:ext cx="10524201" cy="1241586"/>
      </dsp:txXfrm>
    </dsp:sp>
    <dsp:sp modelId="{FB88497F-4C99-4D5E-8ED8-E73E524FAC64}">
      <dsp:nvSpPr>
        <dsp:cNvPr id="0" name=""/>
        <dsp:cNvSpPr/>
      </dsp:nvSpPr>
      <dsp:spPr>
        <a:xfrm>
          <a:off x="0" y="1501004"/>
          <a:ext cx="10658535" cy="1375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Brute-Force Matcher: </a:t>
          </a:r>
          <a:r>
            <a:rPr lang="en-US" sz="1400" kern="1200"/>
            <a:t>Compares each feature in one set with every feature in another set, looking for the best match based on a distance metric (like Euclidean distance)</a:t>
          </a:r>
        </a:p>
      </dsp:txBody>
      <dsp:txXfrm>
        <a:off x="67167" y="1568171"/>
        <a:ext cx="10524201" cy="1241586"/>
      </dsp:txXfrm>
    </dsp:sp>
    <dsp:sp modelId="{B3710D27-6F21-4AD4-83EA-3E976DE78FAA}">
      <dsp:nvSpPr>
        <dsp:cNvPr id="0" name=""/>
        <dsp:cNvSpPr/>
      </dsp:nvSpPr>
      <dsp:spPr>
        <a:xfrm>
          <a:off x="0" y="2917244"/>
          <a:ext cx="10658535" cy="1375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Applications: </a:t>
          </a:r>
          <a:r>
            <a:rPr lang="en-US" sz="1400" kern="1200" dirty="0"/>
            <a:t>panoramic image stitching, motion tracking. object recognition, and 3D model building.</a:t>
          </a:r>
        </a:p>
      </dsp:txBody>
      <dsp:txXfrm>
        <a:off x="67167" y="2984411"/>
        <a:ext cx="10524201" cy="1241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1E571-38F8-6F4B-B2F2-8315387167D2}" type="datetimeFigureOut">
              <a:rPr lang="en-CZ" smtClean="0"/>
              <a:t>27.01.2026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90E57-BA82-3747-B832-D75E1705885C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59731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0E57-BA82-3747-B832-D75E1705885C}" type="slidenum">
              <a:rPr lang="en-CZ" smtClean="0"/>
              <a:t>18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18367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DEA9-3064-BBEF-BF3A-4135FFE2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8EE74-78BC-0EE7-1A9B-1410B3A24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5A5FE-C260-9B7A-991A-39C59ABEF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7EC45-8BEA-6E56-B45E-61D682E2C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0E57-BA82-3747-B832-D75E1705885C}" type="slidenum">
              <a:rPr lang="en-CZ" smtClean="0"/>
              <a:t>19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51528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AD2B-238B-58B9-A94A-826C233C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B71AE-229F-AF3F-9849-8EDF73FF1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F69FE-6247-6A3C-23BB-7AA2E9C4C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91A0A-5DDD-C9A7-90BB-EE052DF9F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0E57-BA82-3747-B832-D75E1705885C}" type="slidenum">
              <a:rPr lang="en-CZ" smtClean="0"/>
              <a:t>20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935148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0E57-BA82-3747-B832-D75E1705885C}" type="slidenum">
              <a:rPr lang="en-CZ" smtClean="0"/>
              <a:t>22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805544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6430-ACA0-E914-879B-0154B5DD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0F141-3BE1-D3F4-D3E0-6240DA5A2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F874C-8C90-62A0-49B9-798950AA7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A0F3-F4A9-0067-F303-5A522C9A9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0E57-BA82-3747-B832-D75E1705885C}" type="slidenum">
              <a:rPr lang="en-CZ" smtClean="0"/>
              <a:t>23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541284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1984"/>
            <a:ext cx="12192000" cy="130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2" y="1287430"/>
            <a:ext cx="7250674" cy="163551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2" y="3024545"/>
            <a:ext cx="9117331" cy="17526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600" baseline="0">
                <a:solidFill>
                  <a:schemeClr val="accent3"/>
                </a:solidFill>
              </a:defRPr>
            </a:lvl1pPr>
            <a:lvl2pPr marL="586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8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22239" y="5509909"/>
            <a:ext cx="5358682" cy="745331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12" y="619055"/>
            <a:ext cx="2542927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11984"/>
            <a:ext cx="12192000" cy="130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544637"/>
            <a:ext cx="7250676" cy="136207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6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3062821"/>
            <a:ext cx="7250676" cy="1500188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2550" baseline="0">
                <a:solidFill>
                  <a:srgbClr val="A6C8BC"/>
                </a:solidFill>
              </a:defRPr>
            </a:lvl1pPr>
            <a:lvl2pPr marL="586109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2pPr>
            <a:lvl3pPr marL="1172219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7583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444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305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166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02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6888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99" y="517457"/>
            <a:ext cx="723829" cy="5334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26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2501574" y="1803401"/>
            <a:ext cx="3474729" cy="3227685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6222189" y="2336800"/>
            <a:ext cx="3504744" cy="2160887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221598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21598" y="4498182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2132611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22300" y="1803797"/>
            <a:ext cx="1625307" cy="1509752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2488956" y="2336800"/>
            <a:ext cx="3504744" cy="17907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488365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2488365" y="4127500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6222271" y="1803797"/>
            <a:ext cx="1625307" cy="1509752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8088927" y="2336800"/>
            <a:ext cx="3504744" cy="17907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336" y="1803797"/>
            <a:ext cx="3504858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8088336" y="4127500"/>
            <a:ext cx="3504858" cy="532904"/>
          </a:xfrm>
        </p:spPr>
        <p:txBody>
          <a:bodyPr anchor="b"/>
          <a:lstStyle>
            <a:lvl1pPr>
              <a:defRPr sz="1575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369"/>
            <a:ext cx="12192000" cy="133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7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8710984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840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495299"/>
            <a:ext cx="8710984" cy="51562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559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5371319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70" y="1803401"/>
            <a:ext cx="5360131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4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5371319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70" y="2336799"/>
            <a:ext cx="5360131" cy="3314702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3" y="1803797"/>
            <a:ext cx="5371319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22270" y="1803797"/>
            <a:ext cx="536013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88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3504662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1803401"/>
            <a:ext cx="3482660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1803401"/>
            <a:ext cx="3504744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66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3504662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2336799"/>
            <a:ext cx="3482660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2336799"/>
            <a:ext cx="3504744" cy="3314701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1803797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635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3504662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1803401"/>
            <a:ext cx="3482660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1803401"/>
            <a:ext cx="3504744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3848101"/>
            <a:ext cx="3504662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3848101"/>
            <a:ext cx="3482660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3848101"/>
            <a:ext cx="3504744" cy="1806853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3995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800"/>
            <a:ext cx="3504662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355533" y="2336800"/>
            <a:ext cx="3482660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088847" y="2336800"/>
            <a:ext cx="3504744" cy="12734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4393805"/>
            <a:ext cx="3504662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4393805"/>
            <a:ext cx="3482660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088847" y="4393805"/>
            <a:ext cx="3504744" cy="1261149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4355533" y="1803797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1803797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609603" y="3860802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3" y="3860802"/>
            <a:ext cx="3482660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8088847" y="3860802"/>
            <a:ext cx="3504661" cy="533003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516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1803401"/>
            <a:ext cx="8710984" cy="3848100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3491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495299"/>
            <a:ext cx="8710984" cy="5156202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573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5371319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222269" y="2336799"/>
            <a:ext cx="5360131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2" y="1803797"/>
            <a:ext cx="5371318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6222268" y="1803797"/>
            <a:ext cx="5360131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8992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799"/>
            <a:ext cx="3504662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088848" y="2336799"/>
            <a:ext cx="3493552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03797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355535" y="2336799"/>
            <a:ext cx="3482658" cy="3314701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4" y="1803797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5372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609602" y="4393804"/>
            <a:ext cx="350466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8088848" y="4393804"/>
            <a:ext cx="349355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609603" y="3860802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8088847" y="3860802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4355535" y="4393804"/>
            <a:ext cx="3482658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4355534" y="3860802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2" y="2336800"/>
            <a:ext cx="350466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088848" y="2336800"/>
            <a:ext cx="3493552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1803797"/>
            <a:ext cx="3504661" cy="533003"/>
          </a:xfrm>
        </p:spPr>
        <p:txBody>
          <a:bodyPr/>
          <a:lstStyle>
            <a:lvl1pPr>
              <a:defRPr sz="1575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03797"/>
            <a:ext cx="3493552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355535" y="2336800"/>
            <a:ext cx="3482658" cy="1273454"/>
          </a:xfrm>
        </p:spPr>
        <p:txBody>
          <a:bodyPr/>
          <a:lstStyle>
            <a:lvl1pPr>
              <a:spcBef>
                <a:spcPts val="1278"/>
              </a:spcBef>
              <a:defRPr sz="1575" baseline="0"/>
            </a:lvl1pPr>
            <a:lvl2pPr>
              <a:defRPr sz="1575"/>
            </a:lvl2pPr>
            <a:lvl3pPr marL="1515073" indent="-342854">
              <a:buFont typeface="Arial"/>
              <a:buChar char="•"/>
              <a:defRPr sz="1575"/>
            </a:lvl3pPr>
            <a:lvl4pPr>
              <a:spcBef>
                <a:spcPts val="675"/>
              </a:spcBef>
              <a:defRPr sz="12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4355534" y="1803797"/>
            <a:ext cx="3482658" cy="533003"/>
          </a:xfrm>
        </p:spPr>
        <p:txBody>
          <a:bodyPr/>
          <a:lstStyle>
            <a:lvl1pPr>
              <a:defRPr sz="1575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684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2895600"/>
            <a:ext cx="3504662" cy="2759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2895600"/>
            <a:ext cx="3482660" cy="2759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2895600"/>
            <a:ext cx="3504744" cy="2759354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1856581"/>
            <a:ext cx="3504663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4355534" y="1856581"/>
            <a:ext cx="3482659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56581"/>
            <a:ext cx="3504744" cy="919747"/>
          </a:xfrm>
        </p:spPr>
        <p:txBody>
          <a:bodyPr anchor="b"/>
          <a:lstStyle>
            <a:lvl1pPr>
              <a:lnSpc>
                <a:spcPct val="80000"/>
              </a:lnSpc>
              <a:defRPr sz="8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9760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2776327"/>
            <a:ext cx="3504662" cy="2878627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2776327"/>
            <a:ext cx="3482660" cy="2878627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2776327"/>
            <a:ext cx="3504744" cy="2878627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1831182"/>
            <a:ext cx="3504663" cy="945146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4355534" y="1856581"/>
            <a:ext cx="3482659" cy="919747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8088847" y="1856581"/>
            <a:ext cx="3504744" cy="919747"/>
          </a:xfrm>
        </p:spPr>
        <p:txBody>
          <a:bodyPr anchor="t"/>
          <a:lstStyle>
            <a:lvl1pPr>
              <a:lnSpc>
                <a:spcPct val="80000"/>
              </a:lnSpc>
              <a:defRPr sz="5399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031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2" y="3403600"/>
            <a:ext cx="3504662" cy="2251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355533" y="3403600"/>
            <a:ext cx="3482660" cy="2251354"/>
          </a:xfrm>
        </p:spPr>
        <p:txBody>
          <a:bodyPr/>
          <a:lstStyle>
            <a:lvl1pPr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088847" y="3403600"/>
            <a:ext cx="3504744" cy="2251354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46048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880138" y="2175520"/>
            <a:ext cx="648524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/>
        </p:nvSpPr>
        <p:spPr>
          <a:xfrm>
            <a:off x="4292041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4626130" y="2175520"/>
            <a:ext cx="648523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/>
        </p:nvSpPr>
        <p:spPr>
          <a:xfrm>
            <a:off x="8025355" y="1841105"/>
            <a:ext cx="1316703" cy="13168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8359737" y="2175520"/>
            <a:ext cx="647937" cy="6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7629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2465067" y="622300"/>
            <a:ext cx="7261866" cy="5626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4152332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966" y="628650"/>
            <a:ext cx="10984069" cy="56007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2090307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1593878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65067" y="4921484"/>
            <a:ext cx="7261866" cy="291603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10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2090307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1593878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65067" y="4921484"/>
            <a:ext cx="7261866" cy="291603"/>
          </a:xfr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00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275"/>
            <a:ext cx="12190809" cy="313372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985406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488976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7152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275"/>
            <a:ext cx="12190809" cy="313372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465067" y="985406"/>
            <a:ext cx="7261866" cy="2619502"/>
          </a:xfrm>
        </p:spPr>
        <p:txBody>
          <a:bodyPr/>
          <a:lstStyle>
            <a:lvl1pPr algn="ctr">
              <a:lnSpc>
                <a:spcPct val="110000"/>
              </a:lnSpc>
              <a:defRPr sz="36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65067" y="488976"/>
            <a:ext cx="7261866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19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206" cy="3428553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235377" y="1914188"/>
            <a:ext cx="7721246" cy="3029625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8399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476178" y="2259471"/>
            <a:ext cx="7239644" cy="383034"/>
          </a:xfrm>
        </p:spPr>
        <p:txBody>
          <a:bodyPr anchor="ctr"/>
          <a:lstStyle>
            <a:lvl1pPr algn="ctr">
              <a:lnSpc>
                <a:spcPct val="100000"/>
              </a:lnSpc>
              <a:defRPr sz="1575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476178" y="4232939"/>
            <a:ext cx="7239644" cy="291603"/>
          </a:xfr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9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1803401"/>
            <a:ext cx="5612587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5612588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488876" y="4700460"/>
            <a:ext cx="3733314" cy="951040"/>
          </a:xfrm>
        </p:spPr>
        <p:txBody>
          <a:bodyPr anchor="b"/>
          <a:lstStyle>
            <a:lvl1pPr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7009488" y="639773"/>
            <a:ext cx="5182512" cy="50117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7009488" y="4057215"/>
            <a:ext cx="3771409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596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993702" y="1803401"/>
            <a:ext cx="5612587" cy="3848100"/>
          </a:xfrm>
        </p:spPr>
        <p:txBody>
          <a:bodyPr/>
          <a:lstStyle>
            <a:lvl1pPr>
              <a:spcBef>
                <a:spcPts val="1200"/>
              </a:spcBef>
              <a:defRPr baseline="0"/>
            </a:lvl1pPr>
            <a:lvl3pPr marL="1515073" indent="-342854">
              <a:buFont typeface="Arial"/>
              <a:buChar char="•"/>
              <a:defRPr/>
            </a:lvl3pPr>
            <a:lvl4pPr>
              <a:spcBef>
                <a:spcPts val="828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93700" y="576274"/>
            <a:ext cx="5612588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993700" y="4700460"/>
            <a:ext cx="3733314" cy="951040"/>
          </a:xfrm>
        </p:spPr>
        <p:txBody>
          <a:bodyPr anchor="b"/>
          <a:lstStyle>
            <a:lvl1pPr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639773"/>
            <a:ext cx="5182512" cy="50117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" y="4057215"/>
            <a:ext cx="3771409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2420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89" y="0"/>
            <a:ext cx="12191111" cy="6858000"/>
          </a:xfrm>
        </p:spPr>
        <p:txBody>
          <a:bodyPr/>
          <a:lstStyle>
            <a:lvl1pPr marL="0" indent="0">
              <a:buNone/>
              <a:defRPr sz="3000" baseline="0"/>
            </a:lvl1pPr>
            <a:lvl2pPr marL="586109" indent="0">
              <a:buNone/>
              <a:defRPr sz="3600"/>
            </a:lvl2pPr>
            <a:lvl3pPr marL="1172219" indent="0">
              <a:buNone/>
              <a:defRPr sz="3075"/>
            </a:lvl3pPr>
            <a:lvl4pPr marL="1758328" indent="0">
              <a:buNone/>
              <a:defRPr sz="2550"/>
            </a:lvl4pPr>
            <a:lvl5pPr marL="2344438" indent="0">
              <a:buNone/>
              <a:defRPr sz="2550"/>
            </a:lvl5pPr>
            <a:lvl6pPr marL="2930547" indent="0">
              <a:buNone/>
              <a:defRPr sz="2550"/>
            </a:lvl6pPr>
            <a:lvl7pPr marL="3516656" indent="0">
              <a:buNone/>
              <a:defRPr sz="2550"/>
            </a:lvl7pPr>
            <a:lvl8pPr marL="4102766" indent="0">
              <a:buNone/>
              <a:defRPr sz="2550"/>
            </a:lvl8pPr>
            <a:lvl9pPr marL="4688875" indent="0">
              <a:buNone/>
              <a:defRPr sz="255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4680866"/>
            <a:ext cx="5968223" cy="678593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1575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81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884"/>
            <a:ext cx="12192000" cy="1304320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249078" y="622301"/>
            <a:ext cx="5333402" cy="5022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622301"/>
            <a:ext cx="5358701" cy="5022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0" y="4064673"/>
            <a:ext cx="3504743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249079" y="4064673"/>
            <a:ext cx="3490554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186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645"/>
            <a:ext cx="12192000" cy="1304320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622301"/>
            <a:ext cx="8698367" cy="5022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22220" y="4064673"/>
            <a:ext cx="3504743" cy="702821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1575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049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5645"/>
            <a:ext cx="12192000" cy="1304320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22220" y="1803401"/>
            <a:ext cx="7093623" cy="38409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7334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8401"/>
            <a:ext cx="12190809" cy="614507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638" y="6446601"/>
            <a:ext cx="295973" cy="218107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49297" y="6373091"/>
            <a:ext cx="396810" cy="365126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76274"/>
            <a:ext cx="7106241" cy="1001980"/>
          </a:xfrm>
        </p:spPr>
        <p:txBody>
          <a:bodyPr anchor="t">
            <a:noAutofit/>
          </a:bodyPr>
          <a:lstStyle>
            <a:lvl1pPr>
              <a:defRPr sz="36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609540" y="1803798"/>
            <a:ext cx="7106147" cy="384095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827671" y="551258"/>
            <a:ext cx="1754730" cy="5100242"/>
          </a:xfrm>
        </p:spPr>
        <p:txBody>
          <a:bodyPr/>
          <a:lstStyle>
            <a:lvl1pPr>
              <a:spcBef>
                <a:spcPts val="1275"/>
              </a:spcBef>
              <a:defRPr sz="1575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32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1100" y="2338355"/>
            <a:ext cx="7769800" cy="195912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accent5"/>
                </a:solidFill>
              </a:defRPr>
            </a:lvl1pPr>
            <a:lvl2pPr marL="586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8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90464" y="1562096"/>
            <a:ext cx="7211074" cy="76355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490463" y="4513380"/>
            <a:ext cx="7211075" cy="346810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92" y="621411"/>
            <a:ext cx="476310" cy="350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369"/>
            <a:ext cx="12192000" cy="133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86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9152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656A-0169-5AE0-0DFB-0CBB7A52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3E071-A6C9-F64C-0393-E9E618383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46C2B-F9C7-48FF-5D6E-C962FA88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61F82-E7BD-4C17-A72B-D7B55F4533E4}" type="datetimeFigureOut">
              <a:rPr lang="en-CA" smtClean="0"/>
              <a:t>2026-01-27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39D8-CA35-8619-72CF-9BC33697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0C26E-7CD5-600B-56FF-237D3DB3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342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499889"/>
            <a:ext cx="10972800" cy="11003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972800" cy="39033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51"/>
            <a:ext cx="885052" cy="3651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575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71A78-24A1-4F03-90A0-6610DDFC8D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383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8" r:id="rId36"/>
  </p:sldLayoutIdLst>
  <p:txStyles>
    <p:titleStyle>
      <a:lvl1pPr algn="l" defTabSz="586109" rtl="0" eaLnBrk="1" latinLnBrk="0" hangingPunct="1">
        <a:lnSpc>
          <a:spcPct val="80000"/>
        </a:lnSpc>
        <a:spcBef>
          <a:spcPct val="0"/>
        </a:spcBef>
        <a:buNone/>
        <a:defRPr sz="5399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24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952428" indent="-366319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515073" indent="-342854" algn="l" defTabSz="586109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24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051383" indent="-293055" algn="l" defTabSz="586109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1575" kern="1200">
          <a:solidFill>
            <a:schemeClr val="accent4"/>
          </a:solidFill>
          <a:latin typeface="+mn-lt"/>
          <a:ea typeface="+mn-ea"/>
          <a:cs typeface="+mn-cs"/>
        </a:defRPr>
      </a:lvl4pPr>
      <a:lvl5pPr marL="2637492" indent="-293055" algn="l" defTabSz="586109" rtl="0" eaLnBrk="1" latinLnBrk="0" hangingPunct="1">
        <a:spcBef>
          <a:spcPct val="20000"/>
        </a:spcBef>
        <a:buFont typeface="Arial"/>
        <a:buChar char="»"/>
        <a:defRPr sz="2550" kern="1200">
          <a:solidFill>
            <a:schemeClr val="accent5"/>
          </a:solidFill>
          <a:latin typeface="+mn-lt"/>
          <a:ea typeface="+mn-ea"/>
          <a:cs typeface="+mn-cs"/>
        </a:defRPr>
      </a:lvl5pPr>
      <a:lvl6pPr marL="3223602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09711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395821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4981930" indent="-293055" algn="l" defTabSz="586109" rtl="0" eaLnBrk="1" latinLnBrk="0" hangingPunct="1">
        <a:spcBef>
          <a:spcPct val="20000"/>
        </a:spcBef>
        <a:buFont typeface="Arial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1pPr>
      <a:lvl2pPr marL="586109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2pPr>
      <a:lvl3pPr marL="1172219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758328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4pPr>
      <a:lvl5pPr marL="2344438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5pPr>
      <a:lvl6pPr marL="2930547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6pPr>
      <a:lvl7pPr marL="3516656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7pPr>
      <a:lvl8pPr marL="4102766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8pPr>
      <a:lvl9pPr marL="4688875" algn="l" defTabSz="586109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3.4/d3/dc0/group__imgproc__shape.html#ga17ed9f5d79ae97bd4c7cf18403e1689a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opencv.org/3.4/d6/d6e/group__imgproc__draw.html#ga746c0625f1781f1ffc9056259103edbc" TargetMode="Externa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6F4EC-C4EE-D2AF-6FD6-1BA1853809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5612587" cy="38481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Instructor: Stephin Rachel Thomas</a:t>
            </a:r>
          </a:p>
          <a:p>
            <a:r>
              <a:rPr lang="en-US" dirty="0"/>
              <a:t>29-01-2026</a:t>
            </a: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E5BC8-9232-E442-86CE-667C1E95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2" y="852614"/>
            <a:ext cx="6069788" cy="2576385"/>
          </a:xfrm>
        </p:spPr>
        <p:txBody>
          <a:bodyPr anchor="t">
            <a:normAutofit/>
          </a:bodyPr>
          <a:lstStyle/>
          <a:p>
            <a:br>
              <a:rPr lang="en-CA" dirty="0"/>
            </a:br>
            <a:r>
              <a:rPr lang="en-CA" dirty="0"/>
              <a:t>Object / Feature Detection and Description</a:t>
            </a:r>
          </a:p>
        </p:txBody>
      </p:sp>
      <p:pic>
        <p:nvPicPr>
          <p:cNvPr id="6" name="Picture 5" descr="A screen with a picture of a camera&#10;&#10;Description automatically generated">
            <a:extLst>
              <a:ext uri="{FF2B5EF4-FFF2-40B4-BE49-F238E27FC236}">
                <a16:creationId xmlns:a16="http://schemas.microsoft.com/office/drawing/2014/main" id="{BA18D287-D87F-E69D-68B3-1293E7A93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381" y="177800"/>
            <a:ext cx="5473701" cy="547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6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A869A-22E9-02DC-714B-B27C0F55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282E3C-423B-FB08-67D1-71702675DD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3412" y="896007"/>
            <a:ext cx="6401482" cy="5020699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Segmentation and Binary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Basic and Adaptive threshold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Introduction to Contours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Introduction to Feature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Basic concept of Feature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Image Gradient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Scale Invariant Feature Transform (SIFT)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Speeded Up Robust Features (SURF)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Advanced Feature Detection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Feature Descriptors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Feature Matching and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Machine Learning in Feature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Future trend in Feature Description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93104-DE4B-044A-5C2D-7A9A0BE8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3" y="358628"/>
            <a:ext cx="10394794" cy="689315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Today’s Topics</a:t>
            </a:r>
          </a:p>
        </p:txBody>
      </p:sp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C636116F-3C90-3546-EBE7-1AD59FB573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48" r="8630" b="3"/>
          <a:stretch/>
        </p:blipFill>
        <p:spPr>
          <a:xfrm>
            <a:off x="7067773" y="923136"/>
            <a:ext cx="4640813" cy="44878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762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75DC-5929-54EF-143A-1012FF1B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81A24E-1B81-1073-24F0-FD63A8650E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550" y="1047943"/>
            <a:ext cx="5980450" cy="506598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Segmentation – </a:t>
            </a:r>
            <a:r>
              <a:rPr lang="en-US" sz="1900" dirty="0">
                <a:solidFill>
                  <a:srgbClr val="7030A0"/>
                </a:solidFill>
              </a:rPr>
              <a:t>Extracts</a:t>
            </a:r>
            <a:r>
              <a:rPr lang="en-US" sz="1900" dirty="0"/>
              <a:t> objects from image for further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Output of segmentation is typically a </a:t>
            </a:r>
            <a:r>
              <a:rPr lang="en-US" sz="1900" dirty="0">
                <a:solidFill>
                  <a:srgbClr val="7030A0"/>
                </a:solidFill>
              </a:rPr>
              <a:t>binary image </a:t>
            </a:r>
            <a:r>
              <a:rPr lang="en-US" sz="1900" dirty="0"/>
              <a:t>–Image with values of zero and one(black and white)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1 indicates the </a:t>
            </a:r>
            <a:r>
              <a:rPr lang="en-US" sz="1900" dirty="0">
                <a:solidFill>
                  <a:srgbClr val="7030A0"/>
                </a:solidFill>
              </a:rPr>
              <a:t>piece of image we wanted to use </a:t>
            </a:r>
            <a:r>
              <a:rPr lang="en-US" sz="1900" dirty="0"/>
              <a:t>and 0 indicates everything else.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Binary image is key component of many image processing algorithms, and it acts as a </a:t>
            </a:r>
            <a:r>
              <a:rPr lang="en-US" sz="1900" dirty="0">
                <a:solidFill>
                  <a:srgbClr val="7030A0"/>
                </a:solidFill>
              </a:rPr>
              <a:t>mask for the area of the source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One of the typical way to get a binary image is to use </a:t>
            </a:r>
            <a:r>
              <a:rPr lang="en-US" sz="1900" dirty="0">
                <a:solidFill>
                  <a:srgbClr val="00B050"/>
                </a:solidFill>
              </a:rPr>
              <a:t>thresholding </a:t>
            </a:r>
            <a:r>
              <a:rPr lang="en-US" sz="1900" dirty="0"/>
              <a:t>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Thresholding is a type of </a:t>
            </a:r>
            <a:r>
              <a:rPr lang="en-US" sz="1900" dirty="0">
                <a:solidFill>
                  <a:srgbClr val="7030A0"/>
                </a:solidFill>
              </a:rPr>
              <a:t>segmentation</a:t>
            </a:r>
            <a:r>
              <a:rPr lang="en-US" sz="1900" dirty="0"/>
              <a:t> that looks at the values of the source image and perform a comparison against one </a:t>
            </a:r>
            <a:r>
              <a:rPr lang="en-US" sz="1900" dirty="0">
                <a:solidFill>
                  <a:srgbClr val="7030A0"/>
                </a:solidFill>
              </a:rPr>
              <a:t>central value </a:t>
            </a:r>
            <a:r>
              <a:rPr lang="en-US" sz="1900" dirty="0"/>
              <a:t>to decide whether a single pixel or group of pixels should have a value of zero or 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A5A45-80B8-DC19-D6FF-331BB4DC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3" y="358628"/>
            <a:ext cx="10394794" cy="689315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Segmentation and Binary Images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C1AEF-D6D5-14ED-99B9-6A9AE3882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50" y="1047943"/>
            <a:ext cx="5980450" cy="306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0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C78F-974F-8ED6-07B3-44545B2A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CB0254-2466-50D3-4922-610A75D18C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550" y="1047943"/>
            <a:ext cx="5980450" cy="50659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1C615-419A-3B17-313E-85DA645C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3" y="358628"/>
            <a:ext cx="10394794" cy="689315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Segmentation and Binary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2C25A-C846-BF49-85CB-6A0C4A4D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6" y="1313511"/>
            <a:ext cx="9116288" cy="394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8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245B3-EE69-85C3-BC6F-9B7CE7DB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755E-78E9-2236-75A0-8CB45968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846" y="3149082"/>
            <a:ext cx="4415330" cy="559836"/>
          </a:xfrm>
        </p:spPr>
        <p:txBody>
          <a:bodyPr anchor="b">
            <a:normAutofit/>
          </a:bodyPr>
          <a:lstStyle/>
          <a:p>
            <a:r>
              <a:rPr lang="en-US" dirty="0"/>
              <a:t>Hands on Exercise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475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E354-8AA0-331E-1551-9A833574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C78F3B-1754-31D0-35B1-1D12D21F14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5550" y="1047943"/>
            <a:ext cx="10176314" cy="50659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Binary thresholding</a:t>
            </a:r>
            <a:r>
              <a:rPr lang="en-US" dirty="0"/>
              <a:t> is not ideal for events such as </a:t>
            </a:r>
            <a:r>
              <a:rPr lang="en-US" dirty="0">
                <a:solidFill>
                  <a:srgbClr val="7030A0"/>
                </a:solidFill>
              </a:rPr>
              <a:t>uneven lighting</a:t>
            </a:r>
            <a:r>
              <a:rPr lang="en-US" dirty="0"/>
              <a:t>, adaptive thresholding is a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Instead of taking a simple global value as a threshold comparison, adaptive thresholding will use its </a:t>
            </a:r>
            <a:r>
              <a:rPr lang="en-US" dirty="0">
                <a:solidFill>
                  <a:srgbClr val="7030A0"/>
                </a:solidFill>
              </a:rPr>
              <a:t>local neighborhood </a:t>
            </a:r>
            <a:r>
              <a:rPr lang="en-US" dirty="0"/>
              <a:t>of the image to determine whether a relative threshold is met, thus </a:t>
            </a:r>
            <a:r>
              <a:rPr lang="en-US" dirty="0">
                <a:solidFill>
                  <a:srgbClr val="7030A0"/>
                </a:solidFill>
              </a:rPr>
              <a:t>counteract issues like uneven lighting.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calculates threshold value for each sub regions instead of the whole image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Adaptive methods - </a:t>
            </a:r>
            <a:r>
              <a:rPr lang="en-US" dirty="0" err="1">
                <a:solidFill>
                  <a:srgbClr val="7030A0"/>
                </a:solidFill>
              </a:rPr>
              <a:t>adaptive_mean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adaptive_gaussian</a:t>
            </a:r>
            <a:endParaRPr lang="en-US" dirty="0">
              <a:solidFill>
                <a:srgbClr val="7030A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F9AF4-1AC5-D436-6D19-3E00C57F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13" y="358628"/>
            <a:ext cx="10394794" cy="689315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Adaptive Thresholding</a:t>
            </a:r>
          </a:p>
        </p:txBody>
      </p:sp>
    </p:spTree>
    <p:extLst>
      <p:ext uri="{BB962C8B-B14F-4D97-AF65-F5344CB8AC3E}">
        <p14:creationId xmlns:p14="http://schemas.microsoft.com/office/powerpoint/2010/main" val="24367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C41B-BF6F-80A8-3E5B-F4102837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3038-5325-4478-4DC9-35EB4FF2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846" y="3149082"/>
            <a:ext cx="4415330" cy="559836"/>
          </a:xfrm>
        </p:spPr>
        <p:txBody>
          <a:bodyPr anchor="b">
            <a:normAutofit/>
          </a:bodyPr>
          <a:lstStyle/>
          <a:p>
            <a:r>
              <a:rPr lang="en-US" dirty="0"/>
              <a:t>Hands on Exercise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670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08AE-22BF-A746-CA96-E4984B13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19288-A794-2231-D9FE-BAE92C4C8D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5097" y="1218938"/>
            <a:ext cx="6956981" cy="490848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 contour is a </a:t>
            </a:r>
            <a:r>
              <a:rPr lang="en-CA" sz="2000" dirty="0">
                <a:solidFill>
                  <a:srgbClr val="0070C0"/>
                </a:solidFill>
              </a:rPr>
              <a:t>curve t</a:t>
            </a:r>
            <a:r>
              <a:rPr lang="en-CA" sz="2000" dirty="0"/>
              <a:t>hat joins a set of points enclosing an area having the </a:t>
            </a:r>
            <a:r>
              <a:rPr lang="en-CA" sz="2000" dirty="0">
                <a:solidFill>
                  <a:srgbClr val="0070C0"/>
                </a:solidFill>
              </a:rPr>
              <a:t>same color or intensity.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The area of uniform color or intensity forms the object that we are trying to detect and the curve enclosing this area is the contour representing the </a:t>
            </a:r>
            <a:r>
              <a:rPr lang="en-CA" sz="2000" dirty="0">
                <a:solidFill>
                  <a:srgbClr val="0070C0"/>
                </a:solidFill>
              </a:rPr>
              <a:t>shape</a:t>
            </a:r>
            <a:r>
              <a:rPr lang="en-CA" sz="2000" dirty="0"/>
              <a:t> of the object.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It works similar to edge detection but with the restriction that the edges detected must form a </a:t>
            </a:r>
            <a:r>
              <a:rPr lang="en-CA" sz="2000" dirty="0">
                <a:solidFill>
                  <a:srgbClr val="0070C0"/>
                </a:solidFill>
              </a:rPr>
              <a:t>closed path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Contours defines </a:t>
            </a:r>
            <a:r>
              <a:rPr lang="en-CA" sz="2000" dirty="0">
                <a:solidFill>
                  <a:srgbClr val="0070C0"/>
                </a:solidFill>
              </a:rPr>
              <a:t>boundaries</a:t>
            </a:r>
            <a:r>
              <a:rPr lang="en-CA" sz="2000" dirty="0"/>
              <a:t> of objects in an image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Useful for </a:t>
            </a:r>
            <a:r>
              <a:rPr lang="en-CA" sz="2000" dirty="0">
                <a:solidFill>
                  <a:srgbClr val="0070C0"/>
                </a:solidFill>
              </a:rPr>
              <a:t>shape analysis, object detection and recognition.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The output of segmentation (</a:t>
            </a:r>
            <a:r>
              <a:rPr lang="en-CA" sz="2000" dirty="0">
                <a:solidFill>
                  <a:srgbClr val="0070C0"/>
                </a:solidFill>
              </a:rPr>
              <a:t>binary image</a:t>
            </a:r>
            <a:r>
              <a:rPr lang="en-CA" sz="2000" dirty="0"/>
              <a:t>) is used as input for contour detection(</a:t>
            </a:r>
            <a:r>
              <a:rPr lang="en-CA" sz="2000" dirty="0">
                <a:solidFill>
                  <a:srgbClr val="0070C0"/>
                </a:solidFill>
              </a:rPr>
              <a:t>pre-processing</a:t>
            </a:r>
            <a:r>
              <a:rPr lang="en-CA" sz="2000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FCF28-C002-8799-80B8-D8979597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7818407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Introduction to Contours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4F47-8763-16C0-954D-79B256544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072" y="2109876"/>
            <a:ext cx="4788928" cy="192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20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EFCA-387E-14D1-AC95-FB06E207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3EDA2-8EE8-E399-32D5-BF6AC09745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3537" y="1218939"/>
            <a:ext cx="10661494" cy="3848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br>
              <a:rPr lang="en-CA" sz="1900" dirty="0"/>
            </a:br>
            <a:endParaRPr lang="en-CA" sz="1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49450-872D-F169-F877-4EB44678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7818407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Contour Object Detection</a:t>
            </a:r>
          </a:p>
        </p:txBody>
      </p:sp>
      <p:pic>
        <p:nvPicPr>
          <p:cNvPr id="8" name="Picture 7" descr="A close-up of a device&#10;&#10;Description automatically generated">
            <a:extLst>
              <a:ext uri="{FF2B5EF4-FFF2-40B4-BE49-F238E27FC236}">
                <a16:creationId xmlns:a16="http://schemas.microsoft.com/office/drawing/2014/main" id="{E2472B31-EA23-9DF4-9439-8641C79A1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201" y="1320668"/>
            <a:ext cx="4932879" cy="1800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DA7237-4A11-2044-5FAB-995E927943D2}"/>
              </a:ext>
            </a:extLst>
          </p:cNvPr>
          <p:cNvSpPr txBox="1"/>
          <p:nvPr/>
        </p:nvSpPr>
        <p:spPr>
          <a:xfrm>
            <a:off x="603537" y="3659184"/>
            <a:ext cx="1066149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hlinkClick r:id="rId3"/>
              </a:rPr>
              <a:t>Cv2.findContours()  </a:t>
            </a:r>
            <a:r>
              <a:rPr lang="en-CA" sz="1800" dirty="0"/>
              <a:t>- </a:t>
            </a:r>
            <a:r>
              <a:rPr lang="en-CA" sz="2000" dirty="0"/>
              <a:t>OpenCV built in function for finding contours in an image. </a:t>
            </a:r>
          </a:p>
          <a:p>
            <a:pPr>
              <a:lnSpc>
                <a:spcPct val="100000"/>
              </a:lnSpc>
            </a:pPr>
            <a:endParaRPr lang="en-CA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This method returns: </a:t>
            </a:r>
          </a:p>
          <a:p>
            <a:pPr>
              <a:lnSpc>
                <a:spcPct val="100000"/>
              </a:lnSpc>
            </a:pPr>
            <a:r>
              <a:rPr lang="en-CA" sz="2000" dirty="0"/>
              <a:t>	</a:t>
            </a:r>
            <a:r>
              <a:rPr lang="en-CA" sz="2000" dirty="0">
                <a:solidFill>
                  <a:srgbClr val="0070C0"/>
                </a:solidFill>
              </a:rPr>
              <a:t>Contours</a:t>
            </a:r>
            <a:r>
              <a:rPr lang="en-CA" sz="2000" dirty="0"/>
              <a:t> – A list of contours in the image. Each contour is a vector of boundary points</a:t>
            </a:r>
          </a:p>
          <a:p>
            <a:pPr>
              <a:lnSpc>
                <a:spcPct val="100000"/>
              </a:lnSpc>
            </a:pPr>
            <a:endParaRPr lang="en-CA" sz="2000" dirty="0"/>
          </a:p>
          <a:p>
            <a:pPr>
              <a:lnSpc>
                <a:spcPct val="100000"/>
              </a:lnSpc>
            </a:pPr>
            <a:r>
              <a:rPr lang="en-CA" sz="2000" dirty="0"/>
              <a:t>	</a:t>
            </a:r>
            <a:r>
              <a:rPr lang="en-CA" sz="2000" dirty="0">
                <a:solidFill>
                  <a:srgbClr val="0070C0"/>
                </a:solidFill>
              </a:rPr>
              <a:t>Hierarchy</a:t>
            </a:r>
            <a:r>
              <a:rPr lang="en-CA" sz="2000" dirty="0"/>
              <a:t> – optional output vector containing information about image topology 									(parent-child relationship)</a:t>
            </a:r>
          </a:p>
          <a:p>
            <a:pPr>
              <a:lnSpc>
                <a:spcPct val="100000"/>
              </a:lnSpc>
            </a:pPr>
            <a:endParaRPr lang="en-CA" sz="1600" dirty="0"/>
          </a:p>
          <a:p>
            <a:pPr>
              <a:lnSpc>
                <a:spcPct val="100000"/>
              </a:lnSpc>
            </a:pP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230951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A61EF-571B-423E-48BD-81E60822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F4185-0402-7AFA-ACF5-098642B64D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3537" y="1218939"/>
            <a:ext cx="10661494" cy="3848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br>
              <a:rPr lang="en-CA" sz="1900" dirty="0"/>
            </a:br>
            <a:endParaRPr lang="en-CA" sz="1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7C2E6-A644-4FE2-A3C9-AD401878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7818407" cy="1001980"/>
          </a:xfrm>
        </p:spPr>
        <p:txBody>
          <a:bodyPr anchor="t">
            <a:normAutofit/>
          </a:bodyPr>
          <a:lstStyle/>
          <a:p>
            <a:pPr algn="ctr"/>
            <a:r>
              <a:rPr lang="en-CA" dirty="0"/>
              <a:t>Contour Object Detection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7BDAE-F60D-954D-D7F1-E05DD8508D71}"/>
              </a:ext>
            </a:extLst>
          </p:cNvPr>
          <p:cNvSpPr txBox="1"/>
          <p:nvPr/>
        </p:nvSpPr>
        <p:spPr>
          <a:xfrm>
            <a:off x="95249" y="1327107"/>
            <a:ext cx="1148715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CA" sz="1800" dirty="0"/>
          </a:p>
          <a:p>
            <a:pPr>
              <a:lnSpc>
                <a:spcPct val="100000"/>
              </a:lnSpc>
            </a:pPr>
            <a:endParaRPr lang="en-CA" sz="1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hlinkClick r:id="rId2"/>
              </a:rPr>
              <a:t>Cv2.drawContours() </a:t>
            </a:r>
            <a:r>
              <a:rPr lang="en-CA" sz="1800" dirty="0"/>
              <a:t>- </a:t>
            </a:r>
            <a:r>
              <a:rPr lang="en-CA" sz="2400" dirty="0"/>
              <a:t>The function draws contour outlines in the image if </a:t>
            </a:r>
            <a:r>
              <a:rPr lang="en-CA" sz="2400" dirty="0">
                <a:solidFill>
                  <a:srgbClr val="0070C0"/>
                </a:solidFill>
              </a:rPr>
              <a:t>𝚝𝚑𝚒𝚌𝚔𝚗𝚎𝚜𝚜≥0 </a:t>
            </a:r>
            <a:r>
              <a:rPr lang="en-CA" sz="2400" dirty="0"/>
              <a:t>or fills the area bounded by the contours if </a:t>
            </a:r>
            <a:r>
              <a:rPr lang="en-CA" sz="2400" dirty="0">
                <a:solidFill>
                  <a:srgbClr val="0070C0"/>
                </a:solidFill>
              </a:rPr>
              <a:t>𝚝𝚑𝚒𝚌𝚔𝚗𝚎𝚜𝚜&lt;0 </a:t>
            </a:r>
          </a:p>
          <a:p>
            <a:pPr>
              <a:lnSpc>
                <a:spcPct val="100000"/>
              </a:lnSpc>
            </a:pPr>
            <a:endParaRPr lang="en-CA" sz="1800" dirty="0"/>
          </a:p>
        </p:txBody>
      </p:sp>
      <p:pic>
        <p:nvPicPr>
          <p:cNvPr id="12" name="Picture 11" descr="A tree with roots and a black and white image&#10;&#10;Description automatically generated">
            <a:extLst>
              <a:ext uri="{FF2B5EF4-FFF2-40B4-BE49-F238E27FC236}">
                <a16:creationId xmlns:a16="http://schemas.microsoft.com/office/drawing/2014/main" id="{38157A76-9F07-E7FE-3B4D-D9EFCCC37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932" y="3315899"/>
            <a:ext cx="7772400" cy="20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3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8EBD1-18DD-87DA-EC1F-AFB7BFA765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333948"/>
            <a:ext cx="6189230" cy="49477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Definition: </a:t>
            </a:r>
            <a:r>
              <a:rPr lang="en-US" sz="2000" dirty="0">
                <a:solidFill>
                  <a:srgbClr val="0070C0"/>
                </a:solidFill>
              </a:rPr>
              <a:t>It is the process of identifying and locating significant structures or patterns within an image.</a:t>
            </a: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000" dirty="0"/>
              <a:t>These features are crucial for understanding and interpreting visual information in tasks such as </a:t>
            </a:r>
            <a:r>
              <a:rPr lang="en-US" sz="2000" dirty="0">
                <a:solidFill>
                  <a:srgbClr val="7030A0"/>
                </a:solidFill>
              </a:rPr>
              <a:t>object recognition, motion tracking, and image classification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 feature is an </a:t>
            </a:r>
            <a:r>
              <a:rPr lang="en-US" sz="2000" dirty="0">
                <a:solidFill>
                  <a:srgbClr val="7030A0"/>
                </a:solidFill>
              </a:rPr>
              <a:t>interesting part </a:t>
            </a:r>
            <a:r>
              <a:rPr lang="en-US" sz="2000" dirty="0"/>
              <a:t>of an image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Examples: </a:t>
            </a:r>
            <a:r>
              <a:rPr lang="en-US" sz="2000" dirty="0">
                <a:solidFill>
                  <a:srgbClr val="7030A0"/>
                </a:solidFill>
              </a:rPr>
              <a:t>Edges</a:t>
            </a:r>
            <a:r>
              <a:rPr lang="en-US" sz="2000" dirty="0"/>
              <a:t> (sharp changes in intensity), </a:t>
            </a:r>
            <a:r>
              <a:rPr lang="en-US" sz="2000" dirty="0">
                <a:solidFill>
                  <a:srgbClr val="7030A0"/>
                </a:solidFill>
              </a:rPr>
              <a:t>Corners</a:t>
            </a:r>
            <a:r>
              <a:rPr lang="en-US" sz="2000" dirty="0"/>
              <a:t> (intersection of two edges), </a:t>
            </a:r>
            <a:r>
              <a:rPr lang="en-US" sz="2000" dirty="0">
                <a:solidFill>
                  <a:srgbClr val="7030A0"/>
                </a:solidFill>
              </a:rPr>
              <a:t>Blobs</a:t>
            </a:r>
            <a:r>
              <a:rPr lang="en-US" sz="2000" dirty="0"/>
              <a:t> (regions of similar texture or color), and </a:t>
            </a:r>
            <a:r>
              <a:rPr lang="en-US" sz="2000" dirty="0">
                <a:solidFill>
                  <a:srgbClr val="7030A0"/>
                </a:solidFill>
              </a:rPr>
              <a:t>Ridges</a:t>
            </a:r>
            <a:r>
              <a:rPr lang="en-US" sz="2000" dirty="0"/>
              <a:t> (lines of high intensity).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0EF42-6E99-E73F-8471-B2ED4DBB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8153399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Introduction to Feature Detection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FF066DB-52A7-FB3E-DF4A-DE65F4C56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453" y="1618805"/>
            <a:ext cx="4839088" cy="362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94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0A9EA-3600-5AF8-5246-5E1AA18548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183342"/>
            <a:ext cx="6675120" cy="48839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Feature detection has evolved significantly since the early days of computer vision.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Early techniques focused on </a:t>
            </a:r>
            <a:r>
              <a:rPr lang="en-US" sz="2000" dirty="0">
                <a:solidFill>
                  <a:srgbClr val="7030A0"/>
                </a:solidFill>
              </a:rPr>
              <a:t>simple edge detection</a:t>
            </a:r>
            <a:r>
              <a:rPr lang="en-US" sz="2000" dirty="0"/>
              <a:t>, while modern approaches leverage </a:t>
            </a:r>
            <a:r>
              <a:rPr lang="en-US" sz="2000" dirty="0">
                <a:solidFill>
                  <a:srgbClr val="7030A0"/>
                </a:solidFill>
              </a:rPr>
              <a:t>complex algorithms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7030A0"/>
                </a:solidFill>
              </a:rPr>
              <a:t>deep learning.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Applications span various domains including –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</a:rPr>
              <a:t>Autonomous vehicles </a:t>
            </a:r>
            <a:r>
              <a:rPr lang="en-US" sz="2000" dirty="0"/>
              <a:t>(for navigation and obstacle detection),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</a:rPr>
              <a:t>Medical imaging </a:t>
            </a:r>
            <a:r>
              <a:rPr lang="en-US" sz="2000" dirty="0"/>
              <a:t>(for disease diagnosis), 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</a:rPr>
              <a:t>Augmented reality </a:t>
            </a:r>
            <a:r>
              <a:rPr lang="en-US" sz="2000" dirty="0"/>
              <a:t>(for enhancing real-world environments with digital overlays).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18A9-26B9-BAAF-6D1D-70F9C4E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42" y="412344"/>
            <a:ext cx="8889402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Historical Context and Importance</a:t>
            </a:r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34FB93F2-DBEE-6D24-B170-48DA99276D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44" r="1" b="1"/>
          <a:stretch/>
        </p:blipFill>
        <p:spPr>
          <a:xfrm>
            <a:off x="7498080" y="1183342"/>
            <a:ext cx="4693920" cy="4539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536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3B60604-C9A6-74BC-2BE3-323BBFC46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02" b="-2"/>
          <a:stretch/>
        </p:blipFill>
        <p:spPr bwMode="auto">
          <a:xfrm>
            <a:off x="1706134" y="1263184"/>
            <a:ext cx="6631044" cy="359043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ED7266-F410-3B4B-5660-DED3958B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14910"/>
            <a:ext cx="10029824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Basic Concepts of Feature Detection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1F6E9-E594-6837-315D-0C7F2A14D7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107624"/>
            <a:ext cx="12209930" cy="100198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Understanding Image Gradients: </a:t>
            </a:r>
            <a:r>
              <a:rPr lang="en-US" sz="2400" dirty="0">
                <a:solidFill>
                  <a:schemeClr val="tx1"/>
                </a:solidFill>
              </a:rPr>
              <a:t>Gradients measure </a:t>
            </a:r>
            <a:r>
              <a:rPr lang="en-US" sz="2400" dirty="0">
                <a:solidFill>
                  <a:srgbClr val="7030A0"/>
                </a:solidFill>
              </a:rPr>
              <a:t>directional changes in the intensity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</a:rPr>
              <a:t>or color of an image and are fundamental in identifying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7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9742-FD51-4281-FE4B-48548FB0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B4E1-24DD-4AEE-0188-27EE467B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10029824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Image Gradient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73BF8-DDF0-C4BB-3EAB-BCAC17B5D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3471" y="1381703"/>
            <a:ext cx="8992951" cy="3676287"/>
          </a:xfrm>
        </p:spPr>
        <p:txBody>
          <a:bodyPr>
            <a:normAutofit/>
          </a:bodyPr>
          <a:lstStyle/>
          <a:p>
            <a:r>
              <a:rPr lang="en-US" sz="2000" dirty="0"/>
              <a:t> Measure of change in Image function F(</a:t>
            </a:r>
            <a:r>
              <a:rPr lang="en-US" sz="2000" dirty="0" err="1"/>
              <a:t>x,y</a:t>
            </a:r>
            <a:r>
              <a:rPr lang="en-US" sz="2000" dirty="0"/>
              <a:t>) in X or Y direction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B380F-2DB2-8894-1B0D-77B997FD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148" y="1832706"/>
            <a:ext cx="3889375" cy="1933490"/>
          </a:xfrm>
          <a:prstGeom prst="rect">
            <a:avLst/>
          </a:prstGeom>
        </p:spPr>
      </p:pic>
      <p:pic>
        <p:nvPicPr>
          <p:cNvPr id="10" name="Picture 9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E0A39B2-953E-5BFB-D8E7-FE77E61E1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1" y="2509556"/>
            <a:ext cx="6519506" cy="29667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A536B-C95C-6845-2273-F5A1FE0C8562}"/>
              </a:ext>
            </a:extLst>
          </p:cNvPr>
          <p:cNvSpPr txBox="1"/>
          <p:nvPr/>
        </p:nvSpPr>
        <p:spPr>
          <a:xfrm>
            <a:off x="7557073" y="4020648"/>
            <a:ext cx="398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600" dirty="0"/>
              <a:t>Change in color represents magnitude and the blue arrows represent the direction</a:t>
            </a:r>
          </a:p>
        </p:txBody>
      </p:sp>
    </p:spTree>
    <p:extLst>
      <p:ext uri="{BB962C8B-B14F-4D97-AF65-F5344CB8AC3E}">
        <p14:creationId xmlns:p14="http://schemas.microsoft.com/office/powerpoint/2010/main" val="228933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7337D-5DB9-A714-163D-868BA74764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1508" y="995563"/>
            <a:ext cx="6718851" cy="5028720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SIFT</a:t>
            </a:r>
            <a:r>
              <a:rPr lang="en-US" sz="2000" dirty="0"/>
              <a:t> identifies and describes local features in images. It's </a:t>
            </a:r>
            <a:r>
              <a:rPr lang="en-US" sz="2000" dirty="0">
                <a:solidFill>
                  <a:srgbClr val="002060"/>
                </a:solidFill>
              </a:rPr>
              <a:t>invariant</a:t>
            </a:r>
            <a:r>
              <a:rPr lang="en-US" sz="2000" dirty="0"/>
              <a:t> to </a:t>
            </a:r>
            <a:r>
              <a:rPr lang="en-US" sz="2000" dirty="0">
                <a:solidFill>
                  <a:srgbClr val="002060"/>
                </a:solidFill>
              </a:rPr>
              <a:t>scaling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002060"/>
                </a:solidFill>
              </a:rPr>
              <a:t>rotation</a:t>
            </a:r>
            <a:r>
              <a:rPr lang="en-US" sz="2000" dirty="0">
                <a:solidFill>
                  <a:schemeClr val="tx1"/>
                </a:solidFill>
              </a:rPr>
              <a:t>, and partially invariant to change in </a:t>
            </a:r>
            <a:r>
              <a:rPr lang="en-US" sz="2000" dirty="0">
                <a:solidFill>
                  <a:srgbClr val="002060"/>
                </a:solidFill>
              </a:rPr>
              <a:t>illumination and 3D camera viewpoint</a:t>
            </a:r>
            <a:r>
              <a:rPr lang="en-US" sz="2000" dirty="0"/>
              <a:t>. Detects </a:t>
            </a:r>
            <a:r>
              <a:rPr lang="en-US" sz="2000" dirty="0">
                <a:solidFill>
                  <a:srgbClr val="00B050"/>
                </a:solidFill>
              </a:rPr>
              <a:t>corners</a:t>
            </a:r>
            <a:r>
              <a:rPr lang="en-US" sz="2000" dirty="0"/>
              <a:t> ,</a:t>
            </a:r>
            <a:r>
              <a:rPr lang="en-US" sz="2000" dirty="0">
                <a:solidFill>
                  <a:srgbClr val="00B050"/>
                </a:solidFill>
              </a:rPr>
              <a:t>circles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blobs</a:t>
            </a:r>
            <a:r>
              <a:rPr lang="en-US" sz="2000" dirty="0"/>
              <a:t> etc.</a:t>
            </a:r>
          </a:p>
          <a:p>
            <a:r>
              <a:rPr lang="en-US" sz="2000" b="1" dirty="0" err="1">
                <a:solidFill>
                  <a:srgbClr val="7030A0"/>
                </a:solidFill>
              </a:rPr>
              <a:t>Keypoints</a:t>
            </a:r>
            <a:r>
              <a:rPr lang="en-US" sz="2000" dirty="0"/>
              <a:t> – Special points in an image that carry </a:t>
            </a:r>
            <a:r>
              <a:rPr lang="en-US" sz="2000" dirty="0">
                <a:solidFill>
                  <a:srgbClr val="002060"/>
                </a:solidFill>
              </a:rPr>
              <a:t>unique information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sz="2000" b="0" i="0" dirty="0">
                <a:solidFill>
                  <a:srgbClr val="424242"/>
                </a:solidFill>
                <a:effectLst/>
              </a:rPr>
              <a:t>The </a:t>
            </a:r>
            <a:r>
              <a:rPr lang="en-GB" sz="2000" b="1" i="0" dirty="0">
                <a:solidFill>
                  <a:srgbClr val="424242"/>
                </a:solidFill>
                <a:effectLst/>
              </a:rPr>
              <a:t>SIFT (Scale-Invariant Feature Transform)</a:t>
            </a:r>
            <a:r>
              <a:rPr lang="en-GB" sz="2000" b="0" i="0" dirty="0">
                <a:solidFill>
                  <a:srgbClr val="424242"/>
                </a:solidFill>
                <a:effectLst/>
              </a:rPr>
              <a:t> algorithm is a powerful method in computer vision for detecting and describing local features in images. Here's a breakdown of its main steps: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CZ" sz="2000" b="1" i="0" dirty="0">
                <a:solidFill>
                  <a:srgbClr val="424242"/>
                </a:solidFill>
                <a:effectLst/>
              </a:rPr>
              <a:t>1. </a:t>
            </a:r>
            <a:r>
              <a:rPr lang="en-GB" sz="2000" b="1" i="0" dirty="0">
                <a:solidFill>
                  <a:srgbClr val="424242"/>
                </a:solidFill>
                <a:effectLst/>
              </a:rPr>
              <a:t>Scale-space Extrema Detection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</a:rPr>
              <a:t>Detect potential </a:t>
            </a:r>
            <a:r>
              <a:rPr lang="en-GB" sz="2000" b="0" i="0" dirty="0" err="1">
                <a:solidFill>
                  <a:srgbClr val="424242"/>
                </a:solidFill>
                <a:effectLst/>
              </a:rPr>
              <a:t>keypoints</a:t>
            </a:r>
            <a:r>
              <a:rPr lang="en-GB" sz="2000" b="0" i="0" dirty="0">
                <a:solidFill>
                  <a:srgbClr val="424242"/>
                </a:solidFill>
                <a:effectLst/>
              </a:rPr>
              <a:t> by searching for local extrema (maxima/minima) in a series of </a:t>
            </a:r>
            <a:r>
              <a:rPr lang="en-GB" sz="2000" b="1" i="0" dirty="0">
                <a:solidFill>
                  <a:srgbClr val="424242"/>
                </a:solidFill>
                <a:effectLst/>
              </a:rPr>
              <a:t>Difference of Gaussian (</a:t>
            </a:r>
            <a:r>
              <a:rPr lang="en-GB" sz="2000" b="1" i="0" dirty="0" err="1">
                <a:solidFill>
                  <a:srgbClr val="424242"/>
                </a:solidFill>
                <a:effectLst/>
              </a:rPr>
              <a:t>DoG</a:t>
            </a:r>
            <a:r>
              <a:rPr lang="en-GB" sz="2000" b="1" i="0" dirty="0">
                <a:solidFill>
                  <a:srgbClr val="424242"/>
                </a:solidFill>
                <a:effectLst/>
              </a:rPr>
              <a:t>)</a:t>
            </a:r>
            <a:r>
              <a:rPr lang="en-GB" sz="2000" b="0" i="0" dirty="0">
                <a:solidFill>
                  <a:srgbClr val="424242"/>
                </a:solidFill>
                <a:effectLst/>
              </a:rPr>
              <a:t> images.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</a:rPr>
              <a:t>This is done across multiple scales (octaves) to ensure </a:t>
            </a:r>
            <a:r>
              <a:rPr lang="en-GB" sz="2000" b="1" i="0" dirty="0">
                <a:solidFill>
                  <a:srgbClr val="424242"/>
                </a:solidFill>
                <a:effectLst/>
              </a:rPr>
              <a:t>scale invariance</a:t>
            </a:r>
            <a:r>
              <a:rPr lang="en-GB" sz="2000" b="0" i="0" dirty="0">
                <a:solidFill>
                  <a:srgbClr val="424242"/>
                </a:solidFill>
                <a:effectLst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CA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195A1-A001-A8BC-5831-53A91926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32153"/>
            <a:ext cx="10503047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Scale-Invariant Feature Transform (SIFT)</a:t>
            </a:r>
          </a:p>
        </p:txBody>
      </p:sp>
      <p:pic>
        <p:nvPicPr>
          <p:cNvPr id="5" name="Picture 4" descr="A collage of movies and dvds&#10;&#10;Description automatically generated">
            <a:extLst>
              <a:ext uri="{FF2B5EF4-FFF2-40B4-BE49-F238E27FC236}">
                <a16:creationId xmlns:a16="http://schemas.microsoft.com/office/drawing/2014/main" id="{1B46CB4E-FEAA-AC9E-028D-5B46C081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451" y="1610651"/>
            <a:ext cx="4616463" cy="25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25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4323-0E1F-2B53-4D65-094410FD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4FD32-FD76-318D-695C-561D7543A0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367" y="1140311"/>
            <a:ext cx="6895652" cy="4948517"/>
          </a:xfrm>
        </p:spPr>
        <p:txBody>
          <a:bodyPr>
            <a:normAutofit/>
          </a:bodyPr>
          <a:lstStyle/>
          <a:p>
            <a:r>
              <a:rPr lang="en-CZ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2. </a:t>
            </a:r>
            <a:r>
              <a:rPr lang="en-GB" sz="2000" b="1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Localization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Refine the detected </a:t>
            </a:r>
            <a:r>
              <a:rPr lang="en-GB" sz="2000" b="0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keypoints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by: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Eliminating low-contrast points.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Removing points that lie along edges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This improves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stability and accuracy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GB" sz="2000" b="0" i="0" dirty="0">
              <a:solidFill>
                <a:srgbClr val="42424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Z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3. 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Orientation Assignment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Assign one or more orientations to each </a:t>
            </a:r>
            <a:r>
              <a:rPr lang="en-GB" sz="2000" b="0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based on the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 image gradient directions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This ensures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rotation invariance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CA" sz="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FB577-0ED3-0A15-4F72-9961757E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32153"/>
            <a:ext cx="9405767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Scale-Invariant Feature Transform (SIFT)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F837A-DFD3-46F6-10A4-058F5C62A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467" y="1373844"/>
            <a:ext cx="4664533" cy="320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54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4B74-CA69-82DB-B0BC-372EC04C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737AD-87EC-5C4A-94D4-BDC9B14A8B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4296" y="1234133"/>
            <a:ext cx="6993171" cy="4800907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Z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4. </a:t>
            </a:r>
            <a:r>
              <a:rPr lang="en-GB" sz="2000" b="1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Descriptor Generation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Around each </a:t>
            </a:r>
            <a:r>
              <a:rPr lang="en-GB" sz="2000" b="0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region is taken and divided into smaller blocks.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each block, a histogram of gradient orientations is computed.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These histograms are concatenated into a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128-dimensional feature vector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(descriptor).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GB" sz="2000" b="0" i="0" dirty="0">
              <a:solidFill>
                <a:srgbClr val="42424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CZ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Matching (Optional)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Descriptors from different images can be compared using distance metrics (like </a:t>
            </a:r>
            <a:r>
              <a:rPr lang="en-GB" sz="20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Euclidean distance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to find </a:t>
            </a:r>
            <a:r>
              <a:rPr lang="en-GB" sz="2000" b="1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matching </a:t>
            </a:r>
            <a:r>
              <a:rPr lang="en-GB" sz="2000" b="1" i="0" dirty="0" err="1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keypoints</a:t>
            </a:r>
            <a:r>
              <a:rPr lang="en-GB" sz="2000" b="0" i="0" dirty="0">
                <a:solidFill>
                  <a:srgbClr val="4242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CA" sz="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65EEF-47C7-46F9-835A-6690B27E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32153"/>
            <a:ext cx="9405767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Scale-Invariant Feature Transform (SIFT)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5E7337-963A-546D-49FE-B692E505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467" y="1373844"/>
            <a:ext cx="4664533" cy="320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51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51EE2-1057-4199-87C2-7B73C0B556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5612587" cy="3848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Introduction: SURF is a </a:t>
            </a:r>
            <a:r>
              <a:rPr lang="en-US" dirty="0">
                <a:solidFill>
                  <a:srgbClr val="7030A0"/>
                </a:solidFill>
              </a:rPr>
              <a:t>faster</a:t>
            </a:r>
            <a:r>
              <a:rPr lang="en-US" dirty="0"/>
              <a:t> alternative to SIFT, offering robustness to changes in </a:t>
            </a:r>
            <a:r>
              <a:rPr lang="en-US" dirty="0">
                <a:solidFill>
                  <a:srgbClr val="7030A0"/>
                </a:solidFill>
              </a:rPr>
              <a:t>scale, rotation, and illumination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Advantages: SURF is faster due to </a:t>
            </a:r>
            <a:r>
              <a:rPr lang="en-US" dirty="0">
                <a:solidFill>
                  <a:srgbClr val="7030A0"/>
                </a:solidFill>
              </a:rPr>
              <a:t>integral images </a:t>
            </a:r>
            <a:r>
              <a:rPr lang="en-US" dirty="0"/>
              <a:t>for image convolutions, uses fewer features while maintaining accuracy, and is more suitable for real-time applications.</a:t>
            </a: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18851-0223-95E7-BD53-4903619A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8932432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Speeded Up Robust Features (SURF)</a:t>
            </a:r>
            <a:endParaRPr lang="en-CA" dirty="0"/>
          </a:p>
        </p:txBody>
      </p:sp>
      <p:pic>
        <p:nvPicPr>
          <p:cNvPr id="4" name="Picture 6" descr="Introduction to SURF (Speeded-Up Robust Features) | by Deepanshu Tyagi |  Medium">
            <a:extLst>
              <a:ext uri="{FF2B5EF4-FFF2-40B4-BE49-F238E27FC236}">
                <a16:creationId xmlns:a16="http://schemas.microsoft.com/office/drawing/2014/main" id="{3B0E42D8-8747-FC35-2F14-A6EC6183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268" y="2372891"/>
            <a:ext cx="5238716" cy="211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55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D5BD-923D-10E4-CF74-CA7CDA50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8114D-96E8-8016-1C26-5D239AA729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336" y="1301676"/>
            <a:ext cx="6388570" cy="481942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b="1" i="0" dirty="0">
                <a:solidFill>
                  <a:srgbClr val="424242"/>
                </a:solidFill>
                <a:effectLst/>
              </a:rPr>
              <a:t> Interest Point Detection</a:t>
            </a:r>
            <a:r>
              <a:rPr lang="en-GB" b="0" i="0" dirty="0">
                <a:solidFill>
                  <a:srgbClr val="424242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424242"/>
                </a:solidFill>
                <a:effectLst/>
              </a:rPr>
              <a:t>Uses a </a:t>
            </a:r>
            <a:r>
              <a:rPr lang="en-GB" b="1" i="0" dirty="0">
                <a:solidFill>
                  <a:srgbClr val="7030A0"/>
                </a:solidFill>
                <a:effectLst/>
              </a:rPr>
              <a:t>Hessian matrix-based detector</a:t>
            </a:r>
            <a:r>
              <a:rPr lang="en-GB" b="0" i="0" dirty="0">
                <a:solidFill>
                  <a:srgbClr val="7030A0"/>
                </a:solidFill>
                <a:effectLst/>
              </a:rPr>
              <a:t> </a:t>
            </a:r>
            <a:r>
              <a:rPr lang="en-GB" b="0" i="0" dirty="0">
                <a:solidFill>
                  <a:srgbClr val="424242"/>
                </a:solidFill>
                <a:effectLst/>
              </a:rPr>
              <a:t>to find </a:t>
            </a:r>
            <a:r>
              <a:rPr lang="en-GB" b="0" i="0" dirty="0" err="1">
                <a:solidFill>
                  <a:srgbClr val="424242"/>
                </a:solidFill>
                <a:effectLst/>
              </a:rPr>
              <a:t>keypoints</a:t>
            </a:r>
            <a:r>
              <a:rPr lang="en-GB" b="0" i="0" dirty="0">
                <a:solidFill>
                  <a:srgbClr val="424242"/>
                </a:solidFill>
                <a:effectLst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424242"/>
                </a:solidFill>
                <a:effectLst/>
              </a:rPr>
              <a:t>Faster than SIFT due to use of </a:t>
            </a:r>
            <a:r>
              <a:rPr lang="en-GB" b="1" i="0" dirty="0">
                <a:solidFill>
                  <a:srgbClr val="424242"/>
                </a:solidFill>
                <a:effectLst/>
              </a:rPr>
              <a:t>integral images</a:t>
            </a:r>
            <a:r>
              <a:rPr lang="en-GB" b="0" i="0" dirty="0">
                <a:solidFill>
                  <a:srgbClr val="424242"/>
                </a:solidFill>
                <a:effectLst/>
              </a:rPr>
              <a:t> and </a:t>
            </a:r>
            <a:r>
              <a:rPr lang="en-GB" b="1" i="0" dirty="0">
                <a:solidFill>
                  <a:srgbClr val="424242"/>
                </a:solidFill>
                <a:effectLst/>
              </a:rPr>
              <a:t>box filters</a:t>
            </a:r>
            <a:r>
              <a:rPr lang="en-GB" b="0" i="0" dirty="0">
                <a:solidFill>
                  <a:srgbClr val="424242"/>
                </a:solidFill>
                <a:effectLst/>
              </a:rPr>
              <a:t>.</a:t>
            </a: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GB" b="0" i="0" dirty="0">
              <a:solidFill>
                <a:srgbClr val="424242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b="1" i="0" dirty="0">
                <a:solidFill>
                  <a:srgbClr val="424242"/>
                </a:solidFill>
                <a:effectLst/>
              </a:rPr>
              <a:t> Scale-space Representation</a:t>
            </a:r>
            <a:r>
              <a:rPr lang="en-GB" b="0" i="0" dirty="0">
                <a:solidFill>
                  <a:srgbClr val="424242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0" i="0" dirty="0">
                <a:solidFill>
                  <a:srgbClr val="424242"/>
                </a:solidFill>
                <a:effectLst/>
              </a:rPr>
              <a:t>Like SIFT, SURF detects features at </a:t>
            </a:r>
            <a:r>
              <a:rPr lang="en-GB" b="0" i="0" dirty="0">
                <a:solidFill>
                  <a:srgbClr val="7030A0"/>
                </a:solidFill>
                <a:effectLst/>
              </a:rPr>
              <a:t>multiple scales</a:t>
            </a:r>
            <a:r>
              <a:rPr lang="en-GB" b="0" i="0" dirty="0">
                <a:solidFill>
                  <a:srgbClr val="424242"/>
                </a:solidFill>
                <a:effectLst/>
              </a:rPr>
              <a:t>.</a:t>
            </a:r>
          </a:p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GB" b="0" i="0" dirty="0">
              <a:solidFill>
                <a:srgbClr val="424242"/>
              </a:solidFill>
              <a:effectLst/>
            </a:endParaRPr>
          </a:p>
          <a:p>
            <a:pPr>
              <a:lnSpc>
                <a:spcPct val="100000"/>
              </a:lnSpc>
            </a:pPr>
            <a:endParaRPr lang="en-CA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93D61-CA22-F5DE-43DC-CCB1C80E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9502587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Speeded Up Robust Features (SURF)</a:t>
            </a:r>
            <a:endParaRPr lang="en-CA" dirty="0"/>
          </a:p>
        </p:txBody>
      </p:sp>
      <p:pic>
        <p:nvPicPr>
          <p:cNvPr id="4" name="Picture 6" descr="Introduction to SURF (Speeded-Up Robust Features) | by Deepanshu Tyagi |  Medium">
            <a:extLst>
              <a:ext uri="{FF2B5EF4-FFF2-40B4-BE49-F238E27FC236}">
                <a16:creationId xmlns:a16="http://schemas.microsoft.com/office/drawing/2014/main" id="{9F7A9D14-BC04-2B7F-BA50-685D9DA1F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06" y="2477363"/>
            <a:ext cx="4720494" cy="190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896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F206-D7F6-CE69-620F-F730AB35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34820-CF50-B697-4979-5EC4BC1C3A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336" y="1301676"/>
            <a:ext cx="6388570" cy="4819426"/>
          </a:xfrm>
        </p:spPr>
        <p:txBody>
          <a:bodyPr>
            <a:normAutofit fontScale="92500" lnSpcReduction="10000"/>
          </a:bodyPr>
          <a:lstStyle/>
          <a:p>
            <a:pPr marL="457200" lvl="1" indent="0" algn="l">
              <a:spcBef>
                <a:spcPts val="300"/>
              </a:spcBef>
              <a:spcAft>
                <a:spcPts val="300"/>
              </a:spcAft>
              <a:buNone/>
            </a:pPr>
            <a:endParaRPr lang="en-GB" sz="2200" b="0" i="0" dirty="0">
              <a:solidFill>
                <a:srgbClr val="424242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lang="en-GB" sz="2200" b="1" i="0" dirty="0">
                <a:solidFill>
                  <a:srgbClr val="424242"/>
                </a:solidFill>
                <a:effectLst/>
              </a:rPr>
              <a:t>3.  Orientation Assignment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200" b="0" i="0" dirty="0">
                <a:solidFill>
                  <a:srgbClr val="424242"/>
                </a:solidFill>
                <a:effectLst/>
              </a:rPr>
              <a:t>Computes </a:t>
            </a:r>
            <a:r>
              <a:rPr lang="en-GB" sz="2200" b="0" i="0" dirty="0">
                <a:solidFill>
                  <a:srgbClr val="7030A0"/>
                </a:solidFill>
                <a:effectLst/>
              </a:rPr>
              <a:t>Haar wavelet responses in a circular region around the </a:t>
            </a:r>
            <a:r>
              <a:rPr lang="en-GB" sz="2200" b="0" i="0" dirty="0" err="1">
                <a:solidFill>
                  <a:srgbClr val="7030A0"/>
                </a:solidFill>
                <a:effectLst/>
              </a:rPr>
              <a:t>keypoint</a:t>
            </a:r>
            <a:r>
              <a:rPr lang="en-GB" sz="2200" b="0" i="0" dirty="0">
                <a:solidFill>
                  <a:srgbClr val="7030A0"/>
                </a:solidFill>
                <a:effectLst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200" b="0" i="0" dirty="0">
                <a:solidFill>
                  <a:srgbClr val="424242"/>
                </a:solidFill>
                <a:effectLst/>
              </a:rPr>
              <a:t>Assigns a </a:t>
            </a:r>
            <a:r>
              <a:rPr lang="en-GB" sz="2200" b="0" i="0" dirty="0">
                <a:solidFill>
                  <a:srgbClr val="7030A0"/>
                </a:solidFill>
                <a:effectLst/>
              </a:rPr>
              <a:t>dominant orientation 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for rotation invariance.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lang="en-GB" sz="2200" b="1" i="0" dirty="0">
                <a:solidFill>
                  <a:srgbClr val="424242"/>
                </a:solidFill>
                <a:effectLst/>
              </a:rPr>
              <a:t>4.  Descriptor Generation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200" b="0" i="0" dirty="0">
                <a:solidFill>
                  <a:srgbClr val="424242"/>
                </a:solidFill>
                <a:effectLst/>
              </a:rPr>
              <a:t>A square region around the </a:t>
            </a:r>
            <a:r>
              <a:rPr lang="en-GB" sz="2200" b="0" i="0" dirty="0" err="1">
                <a:solidFill>
                  <a:srgbClr val="424242"/>
                </a:solidFill>
                <a:effectLst/>
              </a:rPr>
              <a:t>keypoint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 is divided into </a:t>
            </a:r>
            <a:r>
              <a:rPr lang="en-GB" sz="2200" b="1" i="0" dirty="0">
                <a:solidFill>
                  <a:srgbClr val="7030A0"/>
                </a:solidFill>
                <a:effectLst/>
              </a:rPr>
              <a:t>4×4 subregions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200" b="0" i="0" dirty="0">
                <a:solidFill>
                  <a:srgbClr val="424242"/>
                </a:solidFill>
                <a:effectLst/>
              </a:rPr>
              <a:t>For each subregion, Haar wavelet responses in x and y directions are summed.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200" b="0" i="0" dirty="0">
                <a:solidFill>
                  <a:srgbClr val="424242"/>
                </a:solidFill>
                <a:effectLst/>
              </a:rPr>
              <a:t>This results in a </a:t>
            </a:r>
            <a:r>
              <a:rPr lang="en-GB" sz="2200" b="1" i="0" dirty="0">
                <a:solidFill>
                  <a:srgbClr val="7030A0"/>
                </a:solidFill>
                <a:effectLst/>
              </a:rPr>
              <a:t>64-dimensional descriptor</a:t>
            </a:r>
            <a:r>
              <a:rPr lang="en-GB" sz="2200" b="0" i="0" dirty="0">
                <a:solidFill>
                  <a:srgbClr val="424242"/>
                </a:solidFill>
                <a:effectLst/>
              </a:rPr>
              <a:t> (compared to SIFT’s 128).</a:t>
            </a:r>
          </a:p>
          <a:p>
            <a:pPr>
              <a:lnSpc>
                <a:spcPct val="100000"/>
              </a:lnSpc>
            </a:pPr>
            <a:endParaRPr lang="en-CA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FBA17-7443-321D-1D96-0E846701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274"/>
            <a:ext cx="9502587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Speeded Up Robust Features (SURF)</a:t>
            </a:r>
            <a:endParaRPr lang="en-CA" dirty="0"/>
          </a:p>
        </p:txBody>
      </p:sp>
      <p:pic>
        <p:nvPicPr>
          <p:cNvPr id="4" name="Picture 6" descr="Introduction to SURF (Speeded-Up Robust Features) | by Deepanshu Tyagi |  Medium">
            <a:extLst>
              <a:ext uri="{FF2B5EF4-FFF2-40B4-BE49-F238E27FC236}">
                <a16:creationId xmlns:a16="http://schemas.microsoft.com/office/drawing/2014/main" id="{759886BC-37AA-A53C-5D26-E3366FE36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06" y="2477363"/>
            <a:ext cx="4720494" cy="190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382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387C7-06CC-F3ED-6721-6687A8277A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6496047" cy="4378324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ORB is a fusion of </a:t>
            </a:r>
            <a:r>
              <a:rPr lang="en-US" sz="1600" dirty="0">
                <a:solidFill>
                  <a:srgbClr val="7030A0"/>
                </a:solidFill>
              </a:rPr>
              <a:t>FAST</a:t>
            </a:r>
            <a:r>
              <a:rPr lang="en-US" sz="1600" dirty="0"/>
              <a:t> </a:t>
            </a:r>
            <a:r>
              <a:rPr lang="en-US" sz="1600" dirty="0" err="1"/>
              <a:t>keypoint</a:t>
            </a:r>
            <a:r>
              <a:rPr lang="en-US" sz="1600" dirty="0"/>
              <a:t> detector and </a:t>
            </a:r>
            <a:r>
              <a:rPr lang="en-US" sz="1600" dirty="0">
                <a:solidFill>
                  <a:srgbClr val="7030A0"/>
                </a:solidFill>
              </a:rPr>
              <a:t>BRIEF</a:t>
            </a:r>
            <a:r>
              <a:rPr lang="en-US" sz="1600" dirty="0"/>
              <a:t> descriptor with many modifications to enhance performance.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FAST – </a:t>
            </a:r>
            <a:r>
              <a:rPr lang="en-US" sz="1600" dirty="0">
                <a:solidFill>
                  <a:srgbClr val="00B0F0"/>
                </a:solidFill>
              </a:rPr>
              <a:t>Features from Accelerated Segment Test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BRIEF – </a:t>
            </a:r>
            <a:r>
              <a:rPr lang="en-US" sz="1600" dirty="0">
                <a:solidFill>
                  <a:srgbClr val="00B0F0"/>
                </a:solidFill>
              </a:rPr>
              <a:t>Binary Robust Independent Elementary Features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ORB takes advantages of FAST corner detection technique to locate </a:t>
            </a:r>
            <a:r>
              <a:rPr lang="en-US" sz="1600" dirty="0" err="1"/>
              <a:t>keypoints</a:t>
            </a:r>
            <a:r>
              <a:rPr lang="en-US" sz="1600" dirty="0"/>
              <a:t> efficiently. Unlike traditional algorithms that use gradient information, FAST focuses on intensity changes making it robust and fast. Also, ORB employs BRIEF to generate binary descriptors for each </a:t>
            </a:r>
            <a:r>
              <a:rPr lang="en-US" sz="1600" dirty="0" err="1"/>
              <a:t>keypoint</a:t>
            </a:r>
            <a:r>
              <a:rPr lang="en-US" sz="1600" dirty="0"/>
              <a:t>, allowing for efficient matching.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B050"/>
                </a:solidFill>
              </a:rPr>
              <a:t>Cv2.ORB_create() </a:t>
            </a:r>
            <a:r>
              <a:rPr lang="en-US" sz="1600" dirty="0"/>
              <a:t>– OpenCV function for creating ORB detector with standard parameters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Deep Learning Approaches: The use of Convolutional Neural Networks (CNNs) for feature detection and description, surpassing traditional methods in accuracy and robustness.</a:t>
            </a:r>
            <a:endParaRPr lang="en-CA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80549-F9B1-E79F-9D44-A57E5271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9344024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Advanced Feature Detection Techniques</a:t>
            </a:r>
            <a:br>
              <a:rPr lang="en-CA" dirty="0"/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ORB</a:t>
            </a:r>
            <a:r>
              <a:rPr lang="en-US" sz="2000" dirty="0"/>
              <a:t> (Oriented FAST and </a:t>
            </a:r>
            <a:r>
              <a:rPr lang="en-US" sz="2000" dirty="0" err="1"/>
              <a:t>Roated</a:t>
            </a:r>
            <a:r>
              <a:rPr lang="en-US" sz="2000" dirty="0"/>
              <a:t> BRIEF)</a:t>
            </a:r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9DB99-0684-D77A-6C77-9BB6AD370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488" y="1318801"/>
            <a:ext cx="5182512" cy="3653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7461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2E3B4-62D6-03B6-1FDF-B6D3ACE6A8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6518" y="1108038"/>
            <a:ext cx="7024743" cy="46355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Definition: Descriptors provide a </a:t>
            </a:r>
            <a:r>
              <a:rPr lang="en-US" sz="2000" dirty="0">
                <a:solidFill>
                  <a:srgbClr val="0070C0"/>
                </a:solidFill>
              </a:rPr>
              <a:t>unique and robust </a:t>
            </a:r>
            <a:r>
              <a:rPr lang="en-US" sz="2000" dirty="0"/>
              <a:t>representation of the detected features, crucial for feature matching.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Histogram of Oriented Gradients (HOG) </a:t>
            </a:r>
            <a:r>
              <a:rPr lang="en-US" sz="2000" dirty="0"/>
              <a:t>is particularly effective for </a:t>
            </a:r>
            <a:r>
              <a:rPr lang="en-US" sz="2000" dirty="0">
                <a:solidFill>
                  <a:srgbClr val="0070C0"/>
                </a:solidFill>
              </a:rPr>
              <a:t>human detection </a:t>
            </a:r>
            <a:r>
              <a:rPr lang="en-US" sz="2000" dirty="0"/>
              <a:t>in computer vision.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Plots image pixel orientations and gradients on a histogram – simplifies the representation of image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It works by analyzing </a:t>
            </a:r>
            <a:r>
              <a:rPr lang="en-US" sz="2000" dirty="0">
                <a:solidFill>
                  <a:srgbClr val="0070C0"/>
                </a:solidFill>
              </a:rPr>
              <a:t>gradients and edge directions in localized portions of an image</a:t>
            </a:r>
            <a:r>
              <a:rPr lang="en-US" sz="2000" dirty="0"/>
              <a:t>, creating a unique representation of human shapes and postures. This makes HOG highly effective for applications like </a:t>
            </a:r>
            <a:r>
              <a:rPr lang="en-US" sz="2000" dirty="0">
                <a:solidFill>
                  <a:srgbClr val="0070C0"/>
                </a:solidFill>
              </a:rPr>
              <a:t>pedestrian detection </a:t>
            </a:r>
            <a:r>
              <a:rPr lang="en-US" sz="2000" dirty="0"/>
              <a:t>in autonomous vehicles and surveillance, as it can reliably identify humans even under varying conditions.</a:t>
            </a:r>
            <a:endParaRPr lang="en-CA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9F503-FD98-8AA7-2709-C1E8BD923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72381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Feature Descriptors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40500-46F2-6FF1-C9B9-B4BB751A4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162" y="1026788"/>
            <a:ext cx="3194236" cy="2598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B4BC0-E7CC-6A11-E7D3-EA55F1B30967}"/>
              </a:ext>
            </a:extLst>
          </p:cNvPr>
          <p:cNvSpPr txBox="1"/>
          <p:nvPr/>
        </p:nvSpPr>
        <p:spPr>
          <a:xfrm>
            <a:off x="7476930" y="3939180"/>
            <a:ext cx="4715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3C3C3C"/>
                </a:solidFill>
                <a:effectLst/>
                <a:latin typeface="Roboto" panose="02000000000000000000" pitchFamily="2" charset="0"/>
              </a:rPr>
              <a:t>Left : Absolute value of x-gradient. Right : Absolute value of y-gradient.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2662247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A5AA-0F2D-DF1A-E898-58352ABD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A468-71CE-19CB-A29D-8B41FC8E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72381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Feature Descriptors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B50F1-DEA8-5770-1248-5A4CBE879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336" y="1167209"/>
            <a:ext cx="8369109" cy="397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56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E83E-82CD-1902-9DDD-3E4F5787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9153524" cy="1001980"/>
          </a:xfrm>
        </p:spPr>
        <p:txBody>
          <a:bodyPr anchor="t">
            <a:normAutofit/>
          </a:bodyPr>
          <a:lstStyle/>
          <a:p>
            <a:r>
              <a:rPr lang="en-CA" dirty="0"/>
              <a:t>Feature Matching and Applications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7F82136-C109-B558-F78E-1F972872A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320872"/>
              </p:ext>
            </p:extLst>
          </p:nvPr>
        </p:nvGraphicFramePr>
        <p:xfrm>
          <a:off x="609539" y="1266825"/>
          <a:ext cx="10658535" cy="4377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3563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579B3-B93E-4844-B227-20994778EF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3" y="1803401"/>
            <a:ext cx="6010272" cy="3848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In the field of computer vision, machine learning algorithms significantly enhance feature detection by improving accuracy and efficiency. These algorithms learn from extensive data, refining the process of identifying image features. 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The techniques include: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1. </a:t>
            </a:r>
            <a:r>
              <a:rPr lang="en-US" sz="1700" dirty="0">
                <a:solidFill>
                  <a:srgbClr val="0070C0"/>
                </a:solidFill>
              </a:rPr>
              <a:t>Supervised learning</a:t>
            </a:r>
            <a:r>
              <a:rPr lang="en-US" sz="1700" dirty="0"/>
              <a:t>: uses labeled data for training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	</a:t>
            </a:r>
            <a:r>
              <a:rPr lang="en-US" sz="1700" dirty="0" err="1"/>
              <a:t>Eg</a:t>
            </a:r>
            <a:r>
              <a:rPr lang="en-US" sz="1700" dirty="0"/>
              <a:t>: Email Spam detection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2. </a:t>
            </a:r>
            <a:r>
              <a:rPr lang="en-US" sz="1700" dirty="0">
                <a:solidFill>
                  <a:srgbClr val="0070C0"/>
                </a:solidFill>
              </a:rPr>
              <a:t>Unsupervised learning:</a:t>
            </a:r>
            <a:r>
              <a:rPr lang="en-US" sz="1700" dirty="0"/>
              <a:t> for pattern discovery without labeled data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	</a:t>
            </a:r>
            <a:r>
              <a:rPr lang="en-US" sz="1700" dirty="0" err="1"/>
              <a:t>Eg</a:t>
            </a:r>
            <a:r>
              <a:rPr lang="en-US" sz="1700" dirty="0"/>
              <a:t>: Customer Segmentation based on purchasing behavior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3. </a:t>
            </a:r>
            <a:r>
              <a:rPr lang="en-US" sz="1700" dirty="0">
                <a:solidFill>
                  <a:srgbClr val="0070C0"/>
                </a:solidFill>
              </a:rPr>
              <a:t>Semi-supervised learning</a:t>
            </a:r>
            <a:r>
              <a:rPr lang="en-US" sz="1700" dirty="0"/>
              <a:t>: combines both approaches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	</a:t>
            </a:r>
            <a:r>
              <a:rPr lang="en-US" sz="1700" dirty="0" err="1"/>
              <a:t>Eg</a:t>
            </a:r>
            <a:r>
              <a:rPr lang="en-US" sz="1700" dirty="0"/>
              <a:t>: Google photos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CA" sz="1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09450-F6BE-4FA1-E076-0A87C4D05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Machine Learning in Feature Detection</a:t>
            </a:r>
            <a:endParaRPr lang="en-CA" dirty="0"/>
          </a:p>
        </p:txBody>
      </p:sp>
      <p:pic>
        <p:nvPicPr>
          <p:cNvPr id="4098" name="Picture 2" descr="What Is Deep Learning and How Will It Change Healthcare?">
            <a:extLst>
              <a:ext uri="{FF2B5EF4-FFF2-40B4-BE49-F238E27FC236}">
                <a16:creationId xmlns:a16="http://schemas.microsoft.com/office/drawing/2014/main" id="{D28D655D-EA30-7313-F4B4-8A07FB81F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" r="38289" b="-1"/>
          <a:stretch/>
        </p:blipFill>
        <p:spPr bwMode="auto">
          <a:xfrm>
            <a:off x="7009488" y="639773"/>
            <a:ext cx="5182512" cy="501172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74491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EB661-5FB8-ACBB-3788-0E3882714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3702" y="1803401"/>
            <a:ext cx="5612587" cy="3848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Real-time feature detection in computer vision faces significant challenges, particularly in balancing computational demands with the need for accuracy. In applications like </a:t>
            </a:r>
            <a:r>
              <a:rPr lang="en-US" sz="1700" dirty="0">
                <a:solidFill>
                  <a:srgbClr val="0070C0"/>
                </a:solidFill>
              </a:rPr>
              <a:t>video surveillance and autonomous driving</a:t>
            </a:r>
            <a:r>
              <a:rPr lang="en-US" sz="1700" dirty="0"/>
              <a:t>, where decisions must be made swiftly and accurately, these challenges are amplified.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Common remedies: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Algorithm optimizations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Use low-level programming languages (surely not python)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Utilizes hardware acceleration (GPUs and TPUs)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CA" sz="1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D82D4-B0BC-3B5D-0A93-BD73022F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00" y="576274"/>
            <a:ext cx="5612588" cy="1001980"/>
          </a:xfrm>
        </p:spPr>
        <p:txBody>
          <a:bodyPr anchor="t">
            <a:normAutofit/>
          </a:bodyPr>
          <a:lstStyle/>
          <a:p>
            <a:r>
              <a:rPr lang="en-CA"/>
              <a:t>Real-Time Feature Detection</a:t>
            </a:r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8535AA81-FEA5-CFA9-E2CD-D5AE873435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67" r="17965" b="-2"/>
          <a:stretch/>
        </p:blipFill>
        <p:spPr>
          <a:xfrm>
            <a:off x="20" y="639773"/>
            <a:ext cx="5182492" cy="50117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9615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D3A4-CB9D-E03A-0BB2-67A3A0BD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9072281" cy="1001980"/>
          </a:xfrm>
        </p:spPr>
        <p:txBody>
          <a:bodyPr anchor="t">
            <a:normAutofit/>
          </a:bodyPr>
          <a:lstStyle/>
          <a:p>
            <a:r>
              <a:rPr lang="en-US"/>
              <a:t>Future Trends in Feature Detection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6C781-EA0D-E75B-96F9-A4A024EA93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803401"/>
            <a:ext cx="11134529" cy="3848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Deep learning, with its advanced neural networks, is enhancing the capability to automatically and accurately detect features in images by learning complex patterns in large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approach is a departure from traditional methods that relied on handcrafted algorithms and is proving to be more effective in handling the nuances and variability in real-world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Enabling smarter feature detection systems that can adapt and improve over time, learning from new data and experiences</a:t>
            </a:r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671324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9FF5-D06F-0C56-EBD5-A3AD65FC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B447-FC73-578E-2BFD-45C01421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76274"/>
            <a:ext cx="7106241" cy="1001980"/>
          </a:xfrm>
        </p:spPr>
        <p:txBody>
          <a:bodyPr anchor="t">
            <a:normAutofit/>
          </a:bodyPr>
          <a:lstStyle/>
          <a:p>
            <a:r>
              <a:rPr lang="en-US" dirty="0"/>
              <a:t>Next Week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36C48-5C9C-BE02-AF3B-A9723658ED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1" y="1803401"/>
            <a:ext cx="11134529" cy="38481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Introduction to CNN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Architecture of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How CNN resolves common computer vision problems</a:t>
            </a:r>
          </a:p>
        </p:txBody>
      </p:sp>
    </p:spTree>
    <p:extLst>
      <p:ext uri="{BB962C8B-B14F-4D97-AF65-F5344CB8AC3E}">
        <p14:creationId xmlns:p14="http://schemas.microsoft.com/office/powerpoint/2010/main" val="31030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lesson-template-nov2017</Template>
  <TotalTime>5485</TotalTime>
  <Words>1813</Words>
  <Application>Microsoft Macintosh PowerPoint</Application>
  <PresentationFormat>Widescreen</PresentationFormat>
  <Paragraphs>180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Roboto</vt:lpstr>
      <vt:lpstr>Wingdings</vt:lpstr>
      <vt:lpstr>Office Theme</vt:lpstr>
      <vt:lpstr> Object / Feature Detection and Description</vt:lpstr>
      <vt:lpstr>Today’s Topics</vt:lpstr>
      <vt:lpstr>Segmentation and Binary Images</vt:lpstr>
      <vt:lpstr>Segmentation and Binary Images</vt:lpstr>
      <vt:lpstr>Hands on Exercise</vt:lpstr>
      <vt:lpstr>Adaptive Thresholding</vt:lpstr>
      <vt:lpstr>Hands on Exercise</vt:lpstr>
      <vt:lpstr>Introduction to Contours</vt:lpstr>
      <vt:lpstr>Contour Object Detection</vt:lpstr>
      <vt:lpstr>Contour Object Detection</vt:lpstr>
      <vt:lpstr>Introduction to Feature Detection</vt:lpstr>
      <vt:lpstr>Historical Context and Importance</vt:lpstr>
      <vt:lpstr>Basic Concepts of Feature Detection</vt:lpstr>
      <vt:lpstr>Image Gradient</vt:lpstr>
      <vt:lpstr>Scale-Invariant Feature Transform (SIFT)</vt:lpstr>
      <vt:lpstr>Scale-Invariant Feature Transform (SIFT)</vt:lpstr>
      <vt:lpstr>Scale-Invariant Feature Transform (SIFT)</vt:lpstr>
      <vt:lpstr>Speeded Up Robust Features (SURF)</vt:lpstr>
      <vt:lpstr>Speeded Up Robust Features (SURF)</vt:lpstr>
      <vt:lpstr>Speeded Up Robust Features (SURF)</vt:lpstr>
      <vt:lpstr>Advanced Feature Detection Techniques ORB (Oriented FAST and Roated BRIEF)</vt:lpstr>
      <vt:lpstr>Feature Descriptors</vt:lpstr>
      <vt:lpstr>Feature Descriptors</vt:lpstr>
      <vt:lpstr>Feature Matching and Applications</vt:lpstr>
      <vt:lpstr>Machine Learning in Feature Detection</vt:lpstr>
      <vt:lpstr>Real-Time Feature Detection</vt:lpstr>
      <vt:lpstr>Future Trends in Feature Detection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Detection and Description</dc:title>
  <dc:creator>Wassim El Ahmar</dc:creator>
  <cp:lastModifiedBy>Stephin Rachel Thomas</cp:lastModifiedBy>
  <cp:revision>127</cp:revision>
  <dcterms:created xsi:type="dcterms:W3CDTF">2023-12-22T22:49:54Z</dcterms:created>
  <dcterms:modified xsi:type="dcterms:W3CDTF">2026-01-29T20:09:15Z</dcterms:modified>
</cp:coreProperties>
</file>